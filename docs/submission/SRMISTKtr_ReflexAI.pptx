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cc15558194675" /><Relationship Type="http://schemas.openxmlformats.org/officeDocument/2006/relationships/extended-properties" Target="/docProps/app.xml" Id="Rbf6979e0a36d4b34" /><Relationship Type="http://schemas.openxmlformats.org/officeDocument/2006/relationships/officeDocument" Target="/ppt/presentation.xml" Id="R8515b1a58d914b7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4f53e62fb7142d0"/>
  </p:sldMasterIdLst>
  <p:notesMasterIdLst>
    <p:notesMasterId xmlns:r="http://schemas.openxmlformats.org/officeDocument/2006/relationships" r:id="R82eef334b6b84592"/>
  </p:notesMasterIdLst>
  <p:sldIdLst>
    <p:sldId xmlns:r="http://schemas.openxmlformats.org/officeDocument/2006/relationships" id="256" r:id="R2fd721d39e984682"/>
    <p:sldId xmlns:r="http://schemas.openxmlformats.org/officeDocument/2006/relationships" id="257" r:id="R048878e966d74583"/>
    <p:sldId xmlns:r="http://schemas.openxmlformats.org/officeDocument/2006/relationships" id="258" r:id="R113fba74a9ef4951"/>
    <p:sldId xmlns:r="http://schemas.openxmlformats.org/officeDocument/2006/relationships" id="259" r:id="Rf2a0e4c9d44a4826"/>
    <p:sldId xmlns:r="http://schemas.openxmlformats.org/officeDocument/2006/relationships" id="260" r:id="R001c59e4e1bc40b5"/>
    <p:sldId xmlns:r="http://schemas.openxmlformats.org/officeDocument/2006/relationships" id="261" r:id="Rd2804996dcd347af"/>
    <p:sldId xmlns:r="http://schemas.openxmlformats.org/officeDocument/2006/relationships" id="262" r:id="R0986e0080dab4a4f"/>
    <p:sldId xmlns:r="http://schemas.openxmlformats.org/officeDocument/2006/relationships" id="263" r:id="R3d81466585fa418c"/>
  </p:sldIdLst>
  <p:sldSz cx="9144000" cy="5143500"/>
  <p:notesSz cx="6858000" cy="9144000"/>
  <p:embeddedFontLst>
    <p:embeddedFont>
      <p:font typeface="Roboto Mono"/>
      <p:regular xmlns:r="http://schemas.openxmlformats.org/officeDocument/2006/relationships" r:id="R70abc3c37fc4448f"/>
      <p:bold xmlns:r="http://schemas.openxmlformats.org/officeDocument/2006/relationships" r:id="Re7681eac5da642db"/>
      <p:italic xmlns:r="http://schemas.openxmlformats.org/officeDocument/2006/relationships" r:id="R5c4f0ef36d294af0"/>
      <p:boldItalic xmlns:r="http://schemas.openxmlformats.org/officeDocument/2006/relationships" r:id="R4f35bbed6d254f7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0386597E-FE4E-4531-B0EC-C0168BBD9C87}">
  <a:tblStyle styleId="{0386597E-FE4E-4531-B0EC-C0168BBD9C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51fd23e434bc2" /><Relationship Type="http://schemas.openxmlformats.org/officeDocument/2006/relationships/slideMaster" Target="/ppt/slideMasters/slideMaster1.xml" Id="R54f53e62fb7142d0" /><Relationship Type="http://schemas.openxmlformats.org/officeDocument/2006/relationships/notesMaster" Target="/ppt/notesMasters/notesMaster1.xml" Id="R82eef334b6b84592" /><Relationship Type="http://schemas.openxmlformats.org/officeDocument/2006/relationships/presProps" Target="/ppt/presProps.xml" Id="Refdd17e9850249af" /><Relationship Type="http://schemas.openxmlformats.org/officeDocument/2006/relationships/tableStyles" Target="/ppt/tableStyles.xml" Id="Rc4c45bac6a044e1d" /><Relationship Type="http://schemas.openxmlformats.org/officeDocument/2006/relationships/font" Target="/ppt/fonts/font.dat" Id="R70abc3c37fc4448f" /><Relationship Type="http://schemas.openxmlformats.org/officeDocument/2006/relationships/font" Target="/ppt/fonts/font2.dat" Id="Re7681eac5da642db" /><Relationship Type="http://schemas.openxmlformats.org/officeDocument/2006/relationships/font" Target="/ppt/fonts/font3.dat" Id="R5c4f0ef36d294af0" /><Relationship Type="http://schemas.openxmlformats.org/officeDocument/2006/relationships/font" Target="/ppt/fonts/font4.dat" Id="R4f35bbed6d254f72" /><Relationship Type="http://schemas.openxmlformats.org/officeDocument/2006/relationships/slide" Target="/ppt/slides/slide1.xml" Id="R2fd721d39e984682" /><Relationship Type="http://schemas.openxmlformats.org/officeDocument/2006/relationships/slide" Target="/ppt/slides/slide2.xml" Id="R048878e966d74583" /><Relationship Type="http://schemas.openxmlformats.org/officeDocument/2006/relationships/slide" Target="/ppt/slides/slide3.xml" Id="R113fba74a9ef4951" /><Relationship Type="http://schemas.openxmlformats.org/officeDocument/2006/relationships/slide" Target="/ppt/slides/slide4.xml" Id="Rf2a0e4c9d44a4826" /><Relationship Type="http://schemas.openxmlformats.org/officeDocument/2006/relationships/slide" Target="/ppt/slides/slide5.xml" Id="R001c59e4e1bc40b5" /><Relationship Type="http://schemas.openxmlformats.org/officeDocument/2006/relationships/slide" Target="/ppt/slides/slide6.xml" Id="Rd2804996dcd347af" /><Relationship Type="http://schemas.openxmlformats.org/officeDocument/2006/relationships/slide" Target="/ppt/slides/slide7.xml" Id="R0986e0080dab4a4f" /><Relationship Type="http://schemas.openxmlformats.org/officeDocument/2006/relationships/slide" Target="/ppt/slides/slide8.xml" Id="R3d81466585fa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ab8613a7be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b114f9febe43f7" /><Relationship Type="http://schemas.openxmlformats.org/officeDocument/2006/relationships/notesMaster" Target="/ppt/notesMasters/notesMaster1.xml" Id="Ra8677d56eff8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02d5087ca4aa5" /><Relationship Type="http://schemas.openxmlformats.org/officeDocument/2006/relationships/notesMaster" Target="/ppt/notesMasters/notesMaster1.xml" Id="Ra5a338ab3606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d769cdcedb43d3" /><Relationship Type="http://schemas.openxmlformats.org/officeDocument/2006/relationships/notesMaster" Target="/ppt/notesMasters/notesMaster1.xml" Id="R28085a0cf825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3b6ab6ab34cc5" /><Relationship Type="http://schemas.openxmlformats.org/officeDocument/2006/relationships/notesMaster" Target="/ppt/notesMasters/notesMaster1.xml" Id="Rec0dfa6d5201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62a5986ed4716" /><Relationship Type="http://schemas.openxmlformats.org/officeDocument/2006/relationships/notesMaster" Target="/ppt/notesMasters/notesMaster1.xml" Id="R4e409809a0ca4f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13c43f0f1471d" /><Relationship Type="http://schemas.openxmlformats.org/officeDocument/2006/relationships/notesMaster" Target="/ppt/notesMasters/notesMaster1.xml" Id="R70be269310e64f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ce496e6134e9d" /><Relationship Type="http://schemas.openxmlformats.org/officeDocument/2006/relationships/notesMaster" Target="/ppt/notesMasters/notesMaster1.xml" Id="R90d8aa2b6f5d4b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ec304933e34ed6" /><Relationship Type="http://schemas.openxmlformats.org/officeDocument/2006/relationships/notesMaster" Target="/ppt/notesMasters/notesMaster1.xml" Id="Rc51f84d1767a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 metadata copied from the team-supplied SRMISTKtr_ReflexAI.pptx, modified 2026-09-29. Source: https://docs.google.com/presentation/d/18xPcva5_ZhwgMaCuTGuzG6NWwtpp6_dG/edit . Release: https://github.com/anshcantcode/thread-team-guide/releases/tag/PRISM_GENAI_HACKATHON_Y2026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Implementation: participant/agent.py and participant/authorization.py. Speech onset fences obsolete work in thread_agent/fdb3.py. An admitted write remains accounted for through success, error or unknown outcome. Illustration is not a new benchmark recording.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map: participant/agent.py, participant/authorization.py, participant/schema.py, thread_agent/fdb3.py, thread_agent/fdb3_client.py. The old raster diagram was replaced by native editable shapes to describe the measured FDB-v3 path accurately.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Screenshot: .thread-run/submission-20260930/clients/native-release-smoke-002.png, current minified release emulator navigation smoke. Actual tool/persistence evidence is in release client receipts and historical THREAD_Recorded_Demo.mp4. Kitchen uses PCM WebSocket transport with a LiveKit AgentSession and the shared controller. It is not an autonomous on-phone model. The four old Gemini screenshots were replaced with the current native client image.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Reproduction: docs/fdb3/REPRODUCE.md and config/fdb3-candidate.json. Pinned upstream3e799c45a045256f47d5f1c9cda90157e2d2ec9e; llama.cpp b10930. The root submission.yaml is legacy queue-kit metadata. Local Qwen judging is default; no hosted spending is authorized. Historical Windows runs used temperature0 and no explicit seed.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docs/submission/RESULTS.md and three-run-archive-audit.json. Run20260929T201004Z-010c0644 source8dd530f strict61/100, response77/100, joint59/100. Control20260929T123808Z-ff6e52b3 source771981a strict59; turbo20260929T144039Z-33e49402 strict64. Recognizer change affects both input recognition and output transcription for judging. Actual judgeQwen3.5-4B, requested aliasgpt-4o. qualification=false for all. Runtime source matches measured Windows path, but final source was not freshly evaluated for100.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Current-source test receipt: final-suite-receipt.json, 1891base and102SDK, zero failures/errors/skips, identical before/after runtime sources. Android tests:11JVM10device plus minified UI smoke. Check docs/submission/RESULTS.md and client receipt for exact sources and preserved failure attempts. Human review/signature is mandatory and has not been fabricated.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Release URL: https://github.com/anshcantcode/thread-team-guide/releases/tag/PRISM_GENAI_HACKATHON_Y2026 . Latest animated film SHA2565ffb13cbf23ec9f76df45a2f25b5cc0114973fd5a7056eb533ba305d079fe7e4. Recorded demo preserves original historical benchmark input/received speech and native extension capture. See docs/submission/media/README.md. Required human disclosure signature and organizer form submission remain separate actions.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b457470394c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d2c028eda4e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28b452c2646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5864a9a1645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d1cc78f8c44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5415c1e2641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e904b4dde47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d60de4d984e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fcc085a04407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29288a9a940f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6e293936a439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b496a3a6c4cd0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E7E13CD0-6FFC-40C6-8D4C-B716870A1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DF989EC7-585C-40DB-A29F-D662C6C87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0BCFC76E-EB6B-4CC8-8B83-D4A6DFADBE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12D62CA8-8023-4C8C-90A7-94A1059EA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3561BE74-31BC-40F1-8600-99B8646AAA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0F5C15B0-DE90-4DF8-87E8-9986269D99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20ACD5C9-2198-4B30-9223-E0F3688EF2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9"/>
            <a:ext cx="6858000" cy="124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46D2D68F-B213-44F7-9544-659C962FED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801472AE-936D-4E45-BEE2-C3D9CFF079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A4BE7BC1-8056-43E5-8716-A2CD2431F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C16FB3E5-7199-4F7A-93B1-C34F34E2B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3"/>
            <a:ext cx="7886700" cy="213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9020D750-EB4E-4129-84CE-3077FA612A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5AB94710-37FF-48B9-9290-7A32698A93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0F9D4B9A-865F-44BD-931F-2A195D97D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79A42DD0-ACFC-4276-9B5B-A69A244E55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1CEC723A-01A6-4343-A2B8-11B73A1FB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6F45DF6E-0CF5-45AC-9CCF-71C271F5F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21C4FFE7-0507-49DD-AF7D-8E9AE2EBD8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78150A30-DB22-4F93-9123-8D98A722E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CC9A050B-39A3-48A1-A4B0-5213ECA3FA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0F2D0E45-E961-4C35-B9A6-5903A34359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3917642B-38CB-4F1D-AB2D-BBF5DB4AE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4E77A7D9-6FAD-4D5C-8F31-989470BF8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200" cy="6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45DE0071-9CCF-4C57-A904-522860E10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200" cy="276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99C1DA61-628D-4A9D-A52C-969DB9CCBA3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400" cy="6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16256B30-C097-426D-B3A4-6181A448E65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400" cy="276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D5F66BCC-D349-4257-9C06-DB2A10218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A14243C3-3403-4AFF-A9BE-BC65A04780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FB9A9BAA-10FC-4616-ABA9-CB766FED65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23492172-9D82-44D7-AB10-34D8BA28D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6251226F-D71E-4342-AE09-FE25968612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11DC1022-F5B3-4E04-8416-78D504067A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FFD5B9F9-599E-45A6-BAA2-B47AC76F3F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F154571B-F663-4274-8AAD-3263D106EA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BD90B583-00D3-4754-95EF-F2FCC5F4A2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7591916C-4DC4-4C30-AB52-687CB5646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7A7E2B8D-1276-4F7F-ACF5-59C44E608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3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DD066E6F-A530-44BE-BD17-DFB348F3A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300" cy="3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BD64F3D8-741B-4119-9F25-2B5BDC24FD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300" cy="285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 xmlns:a="http://schemas.openxmlformats.org/drawingml/2006/main"/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677BA0C0-DA48-4E34-833E-97592C3C9E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8CA5EC49-1D46-4D6B-8FFB-39108ECF9F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BBA40D94-7C75-46DF-B884-F222091E89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E83E8933-E1D5-4CF1-9988-BE434DEBE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3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4E45AE73-00D5-40DE-816E-15D007C3BCB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300" cy="3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74FB6C72-EF05-4F1A-B1BD-E8471B7DF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300" cy="285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 xmlns:a="http://schemas.openxmlformats.org/drawingml/2006/main"/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FD7CD0D7-88BE-4FE9-9334-86B8E40915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CC544DAC-D68C-4D28-805A-BDAB5B3BF1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5476840B-F376-468D-9B75-9CFC93054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D09128DD-11C5-4854-A717-E7D5ABEC1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D48F5180-6EFB-46E3-B857-928C9DCA5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300" y="-942431"/>
            <a:ext cx="3263400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BE94CA88-0F2B-4D80-9507-8686C0CA9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6954BF97-199A-4117-B844-82619E0C73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0C343312-BD97-4A09-8669-877B15119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7CB23AAC-0EF5-47AE-9415-685EDB9C5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50" y="1467544"/>
            <a:ext cx="4359000" cy="19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0CEF7B4F-85DF-40DB-8BC7-FE0F99D11C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475" y="-447056"/>
            <a:ext cx="4359000" cy="58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100"/>
            </a:lvl1pPr>
            <a:lvl2pPr marL="914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2pPr>
            <a:lvl3pPr marL="1371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3pPr>
            <a:lvl4pPr marL="1828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4pPr>
            <a:lvl5pPr marL="22860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5pPr>
            <a:lvl6pPr marL="27432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 xmlns:a="http://schemas.openxmlformats.org/drawingml/2006/main"/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E15EF7A0-301C-4E87-88C2-22F5917C99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68A13242-92E1-4DD4-902E-DC0BB64753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F236D8E7-FA1E-4611-85EC-50364112A2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/>
            </a:lvl1pPr>
            <a:lvl2pPr marL="0" indent="0" algn="r">
              <a:spcBef>
                <a:spcPts val="0"/>
              </a:spcBef>
              <a:buNone/>
              <a:defRPr sz="900"/>
            </a:lvl2pPr>
            <a:lvl3pPr marL="0" indent="0" algn="r">
              <a:spcBef>
                <a:spcPts val="0"/>
              </a:spcBef>
              <a:buNone/>
              <a:defRPr sz="900"/>
            </a:lvl3pPr>
            <a:lvl4pPr marL="0" indent="0" algn="r">
              <a:spcBef>
                <a:spcPts val="0"/>
              </a:spcBef>
              <a:buNone/>
              <a:defRPr sz="900"/>
            </a:lvl4pPr>
            <a:lvl5pPr marL="0" indent="0" algn="r">
              <a:spcBef>
                <a:spcPts val="0"/>
              </a:spcBef>
              <a:buNone/>
              <a:defRPr sz="900"/>
            </a:lvl5pPr>
            <a:lvl6pPr marL="0" indent="0" algn="r">
              <a:spcBef>
                <a:spcPts val="0"/>
              </a:spcBef>
              <a:buNone/>
              <a:defRPr sz="900"/>
            </a:lvl6pPr>
            <a:lvl7pPr marL="0" indent="0" algn="r">
              <a:spcBef>
                <a:spcPts val="0"/>
              </a:spcBef>
              <a:buNone/>
              <a:defRPr sz="900"/>
            </a:lvl7pPr>
            <a:lvl8pPr marL="0" indent="0" algn="r">
              <a:spcBef>
                <a:spcPts val="0"/>
              </a:spcBef>
              <a:buNone/>
              <a:defRPr sz="900"/>
            </a:lvl8pPr>
            <a:lvl9pPr marL="0" indent="0" algn="r">
              <a:spcBef>
                <a:spcPts val="0"/>
              </a:spcBef>
              <a:buNone/>
              <a:defRPr sz="900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a00ede15c46b9" /><Relationship Type="http://schemas.openxmlformats.org/officeDocument/2006/relationships/slideLayout" Target="/ppt/slideLayouts/slideLayout1.xml" Id="Radfcde10c6294988" /><Relationship Type="http://schemas.openxmlformats.org/officeDocument/2006/relationships/slideLayout" Target="/ppt/slideLayouts/slideLayout2.xml" Id="R00b318630d324576" /><Relationship Type="http://schemas.openxmlformats.org/officeDocument/2006/relationships/slideLayout" Target="/ppt/slideLayouts/slideLayout3.xml" Id="R7cb41301eed049ca" /><Relationship Type="http://schemas.openxmlformats.org/officeDocument/2006/relationships/slideLayout" Target="/ppt/slideLayouts/slideLayout4.xml" Id="Ra4124b6e13624fb3" /><Relationship Type="http://schemas.openxmlformats.org/officeDocument/2006/relationships/slideLayout" Target="/ppt/slideLayouts/slideLayout5.xml" Id="R2e34dc0eb6894e7f" /><Relationship Type="http://schemas.openxmlformats.org/officeDocument/2006/relationships/slideLayout" Target="/ppt/slideLayouts/slideLayout6.xml" Id="Rf05fc98109d545cb" /><Relationship Type="http://schemas.openxmlformats.org/officeDocument/2006/relationships/slideLayout" Target="/ppt/slideLayouts/slideLayout7.xml" Id="Red7d485144e74256" /><Relationship Type="http://schemas.openxmlformats.org/officeDocument/2006/relationships/slideLayout" Target="/ppt/slideLayouts/slideLayout8.xml" Id="R4601cfc818684f3c" /><Relationship Type="http://schemas.openxmlformats.org/officeDocument/2006/relationships/slideLayout" Target="/ppt/slideLayouts/slideLayout9.xml" Id="R2bcc136bfc3342e6" /><Relationship Type="http://schemas.openxmlformats.org/officeDocument/2006/relationships/slideLayout" Target="/ppt/slideLayouts/slideLayout10.xml" Id="Rf0b7144e2ce54781" /><Relationship Type="http://schemas.openxmlformats.org/officeDocument/2006/relationships/slideLayout" Target="/ppt/slideLayouts/slideLayout11.xml" Id="Rb9b4b69e8b8749ba" /><Relationship Type="http://schemas.openxmlformats.org/officeDocument/2006/relationships/slideLayout" Target="/ppt/slideLayouts/slideLayout12.xml" Id="R8789fb6b865241e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BD9E8493-2F7E-4EFE-B95D-CA581E4709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 xmlns:a="http://schemas.openxmlformats.org/drawingml/2006/main"/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AC97D3D2-9644-4255-966B-910F81383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590EAAEA-6CE9-48C4-A466-1582A6088D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DE4F6838-F6D8-4827-8672-089B93D77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3D984E61-7A60-4E98-8A8A-C58BA2C2C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fcde10c6294988"/>
    <p:sldLayoutId xmlns:r="http://schemas.openxmlformats.org/officeDocument/2006/relationships" id="2147483650" r:id="R00b318630d324576"/>
    <p:sldLayoutId xmlns:r="http://schemas.openxmlformats.org/officeDocument/2006/relationships" id="2147483651" r:id="R7cb41301eed049ca"/>
    <p:sldLayoutId xmlns:r="http://schemas.openxmlformats.org/officeDocument/2006/relationships" id="2147483652" r:id="Ra4124b6e13624fb3"/>
    <p:sldLayoutId xmlns:r="http://schemas.openxmlformats.org/officeDocument/2006/relationships" id="2147483653" r:id="R2e34dc0eb6894e7f"/>
    <p:sldLayoutId xmlns:r="http://schemas.openxmlformats.org/officeDocument/2006/relationships" id="2147483654" r:id="Rf05fc98109d545cb"/>
    <p:sldLayoutId xmlns:r="http://schemas.openxmlformats.org/officeDocument/2006/relationships" id="2147483655" r:id="Red7d485144e74256"/>
    <p:sldLayoutId xmlns:r="http://schemas.openxmlformats.org/officeDocument/2006/relationships" id="2147483656" r:id="R4601cfc818684f3c"/>
    <p:sldLayoutId xmlns:r="http://schemas.openxmlformats.org/officeDocument/2006/relationships" id="2147483657" r:id="R2bcc136bfc3342e6"/>
    <p:sldLayoutId xmlns:r="http://schemas.openxmlformats.org/officeDocument/2006/relationships" id="2147483658" r:id="Rf0b7144e2ce54781"/>
    <p:sldLayoutId xmlns:r="http://schemas.openxmlformats.org/officeDocument/2006/relationships" id="2147483659" r:id="Rb9b4b69e8b8749ba"/>
    <p:sldLayoutId xmlns:r="http://schemas.openxmlformats.org/officeDocument/2006/relationships" id="2147483660" r:id="R8789fb6b865241e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aa1d09244a28" /><Relationship Type="http://schemas.openxmlformats.org/officeDocument/2006/relationships/image" Target="/ppt/media/image.png" Id="Rc33f8e4eb8ec4575" /><Relationship Type="http://schemas.openxmlformats.org/officeDocument/2006/relationships/notesSlide" Target="/ppt/notesSlides/notesSlide1.xml" Id="R2a4bc3ffeca749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4888d69ab4707" /><Relationship Type="http://schemas.openxmlformats.org/officeDocument/2006/relationships/notesSlide" Target="/ppt/notesSlides/notesSlide2.xml" Id="Ra059e646b6ef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5d47606dc9408e" /><Relationship Type="http://schemas.openxmlformats.org/officeDocument/2006/relationships/notesSlide" Target="/ppt/notesSlides/notesSlide3.xml" Id="R31366bf3d81c4f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f4d3440d24ef3" /><Relationship Type="http://schemas.openxmlformats.org/officeDocument/2006/relationships/image" Target="/ppt/media/image2.png" Id="R6462a93e4de642a0" /><Relationship Type="http://schemas.openxmlformats.org/officeDocument/2006/relationships/notesSlide" Target="/ppt/notesSlides/notesSlide4.xml" Id="Rc7065b66ac984f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20bd939794943" /><Relationship Type="http://schemas.openxmlformats.org/officeDocument/2006/relationships/notesSlide" Target="/ppt/notesSlides/notesSlide5.xml" Id="R963a8a6649754a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2d2a090694895" /><Relationship Type="http://schemas.openxmlformats.org/officeDocument/2006/relationships/notesSlide" Target="/ppt/notesSlides/notesSlide6.xml" Id="R3a4bf3aebd5943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a30f1fffc94614" /><Relationship Type="http://schemas.openxmlformats.org/officeDocument/2006/relationships/notesSlide" Target="/ppt/notesSlides/notesSlide7.xml" Id="R755f9a768bb0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45970ee24012" /><Relationship Type="http://schemas.openxmlformats.org/officeDocument/2006/relationships/notesSlide" Target="/ppt/notesSlides/notesSlide8.xml" Id="Reda6806eb9d741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78C94E6D-8AF6-42C5-B3D9-EDB02892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507492"/>
            <a:ext cx="1817400" cy="26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9D3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68575" rIns="68575" bIns="685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06DFE92F-B337-4FF7-A474-8CC1FC97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"/>
            <a:ext cx="1819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25"/>
              <a:buFont typeface="Arial"/>
              <a:buNone/>
              <a:defRPr sz="900" b="1">
                <a:solidFill>
                  <a:srgbClr val="6433D5"/>
                </a:solidFill>
                <a:latin typeface="Arial"/>
                <a:ea typeface="Arial"/>
                <a:cs typeface="Arial"/>
              </a:defRPr>
            </a:pPr>
            <a:r>
              <a:rPr sz="900" b="1" i="0" u="none" cap="none">
                <a:solidFill>
                  <a:srgbClr val="6433D5"/>
                </a:solidFill>
                <a:latin typeface="Arial"/>
                <a:ea typeface="Arial"/>
                <a:cs typeface="Arial"/>
              </a:rPr>
              <a:t>SAMSUNG PRISM</a:t>
            </a:r>
            <a:endParaRPr sz="8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BF710696-036C-4322-9C98-4147380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62025"/>
            <a:ext cx="4600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3750"/>
              <a:buFont typeface="Arial"/>
              <a:buNone/>
              <a:defRPr sz="4050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4050" b="1" i="0" u="none" cap="none">
                <a:solidFill>
                  <a:srgbClr val="F5F6F8"/>
                </a:solidFill>
                <a:latin typeface="Arial"/>
                <a:ea typeface="Arial"/>
                <a:cs typeface="Arial"/>
              </a:rPr>
              <a:t>THREAD</a:t>
            </a:r>
            <a:endParaRPr sz="3750" b="0" i="0" u="none" cap="none">
              <a:solidFill>
                <a:srgbClr val="F2F0E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8CF6F120-8A89-4975-BDCF-1E0D6B7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90675"/>
            <a:ext cx="460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3750"/>
              <a:buFont typeface="Arial"/>
              <a:buNone/>
              <a:defRPr sz="2850" b="1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2850" b="1" i="0" u="none" cap="none">
                <a:solidFill>
                  <a:srgbClr val="497CFF"/>
                </a:solidFill>
                <a:latin typeface="Arial"/>
                <a:ea typeface="Arial"/>
                <a:cs typeface="Arial"/>
              </a:rPr>
              <a:t>Go on.</a:t>
            </a:r>
            <a:endParaRPr sz="37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7A0A5EA9-D2D9-4780-8EA4-1E5632F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717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1875"/>
              <a:buFont typeface="Arial"/>
              <a:buNone/>
              <a:defRPr sz="1425" b="1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425" b="1" i="0" u="none" cap="none">
                <a:solidFill>
                  <a:srgbClr val="70D6ED"/>
                </a:solidFill>
                <a:latin typeface="Arial"/>
                <a:ea typeface="Arial"/>
                <a:cs typeface="Arial"/>
              </a:rPr>
              <a:t>Theme 05  ·  Interruptible Real-Time Agents</a:t>
            </a:r>
            <a:endParaRPr sz="1875" b="0" i="0" u="none" cap="none">
              <a:solidFill>
                <a:srgbClr val="4C7D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1B99861C-311F-45AF-82DE-C833AF07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4857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ReflexAi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SRM Institute of Science and Technology Kattankulathur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Nidhee Kunal Chandan   nc0399@srmist.edu.in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Ansh Golcha   ag6536@srmist.edu.in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Raiyan Kamal   Rk0288@srmist.edu.in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50"/>
              </a:spcAft>
              <a:defRPr sz="12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8"/>
                </a:solidFill>
                <a:latin typeface="Arial"/>
                <a:ea typeface="Arial"/>
                <a:cs typeface="Arial"/>
              </a:rPr>
              <a:t>Nargis Sultana   ns7824002@srmist.edu.in</a:t>
            </a:r>
          </a:p>
        </p:txBody>
      </p:sp>
      <p:pic>
        <p:nvPicPr>
          <p:cNvPr id="105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3f8e4eb8ec45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94376" y="788670"/>
            <a:ext cx="3429000" cy="342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3C9A7A-92CF-46E5-8F19-0271045A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Samsung PRISM 2026   /   THREAD 1.0.0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B92DB7-71E1-4F1E-8930-15FB429E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6999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7CF50E76-478B-424E-A909-1AA8644D5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76250"/>
            <a:ext cx="822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3300"/>
              <a:buFont typeface="Calibri"/>
              <a:buNone/>
              <a:defRPr sz="2775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Change direction. Keep the task.</a:t>
            </a:r>
            <a:endParaRPr sz="4200" b="1">
              <a:solidFill>
                <a:srgbClr val="4C7DFF"/>
              </a:solidFill>
            </a:endParaRPr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B245837F-2226-46E0-8B35-5D8E7C7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"/>
            <a:ext cx="7620000" cy="36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D6ED"/>
                </a:solidFill>
                <a:latin typeface="Arial"/>
                <a:ea typeface="Arial"/>
                <a:cs typeface="Arial"/>
              </a:rPr>
              <a:t>THE PROBLEM</a:t>
            </a:r>
            <a:endParaRPr sz="1200" b="1">
              <a:solidFill>
                <a:srgbClr val="00AEEF"/>
              </a:solidFill>
            </a:endParaRPr>
          </a:p>
        </p:txBody>
      </p:sp>
      <p:sp>
        <p:nvSp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A4136502-31BF-4977-B65C-966BEFB5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9675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ADB6C8"/>
                </a:solidFill>
                <a:latin typeface="Arial"/>
                <a:ea typeface="Arial"/>
                <a:cs typeface="Arial"/>
              </a:rPr>
              <a:t>“Add two. Actually, one.”</a:t>
            </a:r>
            <a:endParaRPr sz="2000" i="1">
              <a:solidFill>
                <a:srgbClr val="A7A5A0"/>
              </a:solidFill>
            </a:endParaRPr>
          </a:p>
        </p:txBody>
      </p:sp>
      <p:sp>
        <p:nvSpPr>
          <p:cNvPr id="104" name="Google Shape;104;p2">
            <a:extLst xmlns:a="http://schemas.openxmlformats.org/drawingml/2006/main">
              <a:ext uri="{FF2B5EF4-FFF2-40B4-BE49-F238E27FC236}">
                <a16:creationId xmlns:a16="http://schemas.microsoft.com/office/drawing/2014/main" id="{7C43ED0F-D37D-4A8D-A201-DE6CE525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38425"/>
            <a:ext cx="2333625" cy="5048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5818E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ACTIVE TASK</a:t>
            </a:r>
            <a:endParaRPr sz="1700" b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F5F6F8"/>
                </a:solidFill>
                <a:latin typeface="Arial"/>
                <a:ea typeface="Arial"/>
                <a:cs typeface="Arial"/>
              </a:rPr>
              <a:t>State and constraints</a:t>
            </a:r>
            <a:endParaRPr i="1"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CEA18058-6CD1-4C2C-AD2D-CD5D3EDC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333625" cy="504825"/>
          </a:xfrm>
          <a:prstGeom xmlns:a="http://schemas.openxmlformats.org/drawingml/2006/main" prst="roundRect">
            <a:avLst>
              <a:gd name="adj" fmla="val 23443"/>
            </a:avLst>
          </a:prstGeom>
          <a:solidFill xmlns:a="http://schemas.openxmlformats.org/drawingml/2006/main">
            <a:srgbClr val="45818E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CURRENT REVISION</a:t>
            </a:r>
            <a:endParaRPr sz="1700" b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F5F6F8"/>
                </a:solidFill>
                <a:latin typeface="Arial"/>
                <a:ea typeface="Arial"/>
                <a:cs typeface="Arial"/>
              </a:rPr>
              <a:t>Preserve relevant context</a:t>
            </a:r>
            <a:endParaRPr i="1"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34253D52-6CEA-48D6-8EE6-DB396A39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24350"/>
            <a:ext cx="2333625" cy="466725"/>
          </a:xfrm>
          <a:prstGeom xmlns:a="http://schemas.openxmlformats.org/drawingml/2006/main" prst="roundRect">
            <a:avLst>
              <a:gd name="adj" fmla="val 23443"/>
            </a:avLst>
          </a:prstGeom>
          <a:solidFill xmlns:a="http://schemas.openxmlformats.org/drawingml/2006/main">
            <a:srgbClr val="45818E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AUTHORIZED ACTION</a:t>
            </a:r>
            <a:endParaRPr sz="1700" b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F5F6F8"/>
                </a:solidFill>
                <a:latin typeface="Arial"/>
                <a:ea typeface="Arial"/>
                <a:cs typeface="Arial"/>
              </a:rPr>
              <a:t>Continue from current state</a:t>
            </a:r>
            <a:endParaRPr i="1"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62D4CBB8-90A5-4262-8663-6F40AA5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52600"/>
            <a:ext cx="2333625" cy="5048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5818E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USER REQUEST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4" name="Google Shape;108;p2"/>
          <p:cNvCxnSpPr>
            <a:stCxn xmlns:a="http://schemas.openxmlformats.org/drawingml/2006/main" id="107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4461625" y="2283825"/>
            <a:ext cx="0" cy="366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09;p2"/>
          <p:cNvCxnSpPr/>
          <p:nvPr/>
        </p:nvCxnSpPr>
        <p:spPr>
          <a:xfrm xmlns:a="http://schemas.openxmlformats.org/drawingml/2006/main">
            <a:off x="4461625" y="3170438"/>
            <a:ext cx="0" cy="366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10;p2"/>
          <p:cNvCxnSpPr/>
          <p:nvPr/>
        </p:nvCxnSpPr>
        <p:spPr>
          <a:xfrm xmlns:a="http://schemas.openxmlformats.org/drawingml/2006/main">
            <a:off x="4461605" y="4038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2">
            <a:extLst xmlns:a="http://schemas.openxmlformats.org/drawingml/2006/main">
              <a:ext uri="{FF2B5EF4-FFF2-40B4-BE49-F238E27FC236}">
                <a16:creationId xmlns:a16="http://schemas.microsoft.com/office/drawing/2014/main" id="{26204749-F41C-462F-80AC-8262CA4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50" y="3240561"/>
            <a:ext cx="247752" cy="199476"/>
          </a:xfrm>
          <a:prstGeom xmlns:a="http://schemas.openxmlformats.org/drawingml/2006/main" prst="lightningBol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2">
            <a:extLst xmlns:a="http://schemas.openxmlformats.org/drawingml/2006/main">
              <a:ext uri="{FF2B5EF4-FFF2-40B4-BE49-F238E27FC236}">
                <a16:creationId xmlns:a16="http://schemas.microsoft.com/office/drawing/2014/main" id="{76E7DE82-A843-41F7-96C9-9A99E1C4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D6ED"/>
                </a:solidFill>
                <a:latin typeface="Arial"/>
                <a:ea typeface="Arial"/>
                <a:cs typeface="Arial"/>
              </a:rPr>
              <a:t>CORRECTION</a:t>
            </a:r>
            <a:endParaRPr sz="1100" b="1">
              <a:solidFill>
                <a:srgbClr val="98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3193C46-0ADD-4E60-9BB3-3108EF4B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25336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An interruption changes what may run.</a:t>
            </a:r>
          </a:p>
          <a:p xmlns:a="http://schemas.openxmlformats.org/drawingml/2006/main">
            <a:pPr algn="l">
              <a:defRPr sz="15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Stopping the voice is only the first step.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5826E31-93C8-4902-A4B3-0053549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343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Already submitted?</a:t>
            </a:r>
          </a:p>
          <a:p xmlns:a="http://schemas.openxmlformats.org/drawingml/2006/main">
            <a:pPr algn="l">
              <a:defRPr sz="150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Track the real outcome.</a:t>
            </a:r>
          </a:p>
          <a:p xmlns:a="http://schemas.openxmlformats.org/drawingml/2006/main">
            <a:pPr algn="l">
              <a:defRPr sz="150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Do not invent rollback.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752EB16-DE8C-441D-8147-FED6563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Mechanism illustration; inspect actual tool receipts in the demo and run evidence.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2F5B1A-709E-47E7-A1F2-6E27824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0300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4">
            <a:extLst xmlns:a="http://schemas.openxmlformats.org/drawingml/2006/main">
              <a:ext uri="{FF2B5EF4-FFF2-40B4-BE49-F238E27FC236}">
                <a16:creationId xmlns:a16="http://schemas.microsoft.com/office/drawing/2014/main" id="{EEB12A3D-7697-4FE0-819E-6C877AD7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The model proposes. THREAD authorizes.</a:t>
            </a:r>
            <a:endParaRPr sz="3350" b="1">
              <a:solidFill>
                <a:schemeClr val="dk1"/>
              </a:solidFill>
            </a:endParaRPr>
          </a:p>
        </p:txBody>
      </p:sp>
      <p:sp>
        <p:nvSpPr>
          <p:cNvPr id="126" name="Google Shape;126;p4">
            <a:extLst xmlns:a="http://schemas.openxmlformats.org/drawingml/2006/main">
              <a:ext uri="{FF2B5EF4-FFF2-40B4-BE49-F238E27FC236}">
                <a16:creationId xmlns:a16="http://schemas.microsoft.com/office/drawing/2014/main" id="{4011BEEE-AB16-4CBC-8FD7-4DCCB6E6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9675"/>
            <a:ext cx="790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7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A correction revises the task.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7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The execution boundary checks the current revision before dispatch.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3735E1D-5026-4E81-92DA-DB2135C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914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6F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B871391-F5E4-4827-9E04-5788434F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790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Speech onset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6F60485-D863-4E24-9DB6-7C8B9B5F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98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97C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78F8C2E-BE70-4C7D-8C2C-9CE2D191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52650"/>
            <a:ext cx="1914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6F8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C5733B1-FD1B-47A2-AE73-FA4BAC6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1790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Qwen planner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Public tool schema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716D2CA-F399-4B2F-B6B3-A257C500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97C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14546B4-DEB6-4B91-9F2F-E74CBD2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1914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6F8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742B606-FDCE-4103-8011-63B0678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1790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Current revision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Clause permission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AB82B5E-3CFD-41B1-AE77-A3C20C4E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098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97C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DB8F046-25C4-48E4-A075-074C0DBB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52650"/>
            <a:ext cx="1914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5F6F8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C701E41-F6B5-4FB9-B125-3B3DE8DE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1790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Actual tool call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Durable receipt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674985D-4B5A-46D4-B920-836F6FA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0D6ED"/>
                </a:solidFill>
                <a:latin typeface="Arial"/>
                <a:ea typeface="Arial"/>
                <a:cs typeface="Arial"/>
              </a:rPr>
              <a:t>Late result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AABB76-07ED-4288-9044-C4673051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563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Reconcile the original operation.</a:t>
            </a:r>
          </a:p>
          <a:p xmlns:a="http://schemas.openxmlformats.org/drawingml/2006/main">
            <a:pPr algn="l">
              <a:defRPr sz="16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It cannot authorize new work.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C0B24EF-6A09-41FB-90A5-333A356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State revisions, admission fence, effect ledger and playback receipts are independently tested.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671450E-3EA0-4D36-A4D1-728BEE1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0336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77D5CFD5-C955-4EC4-A10D-EFF5364D1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00050"/>
            <a:ext cx="8286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3300"/>
              <a:buFont typeface="Calibri"/>
              <a:buNone/>
              <a:defRPr sz="2850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A real extension: Kitchen</a:t>
            </a:r>
            <a:endParaRPr sz="3300">
              <a:solidFill>
                <a:srgbClr val="070B1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2a93e4de642a0"/>
          <a:stretch xmlns:a="http://schemas.openxmlformats.org/drawingml/2006/main"/>
        </p:blipFill>
        <p:spPr>
          <a:xfrm xmlns:a="http://schemas.openxmlformats.org/drawingml/2006/main">
            <a:off x="6228159" y="1152525"/>
            <a:ext cx="1564481" cy="3476625"/>
          </a:xfrm>
          <a:prstGeom xmlns:a="http://schemas.openxmlformats.org/drawingml/2006/main" prst="rect">
            <a:avLst/>
          </a:prstGeom>
        </p:spPr>
      </p:pic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C68C400-8A2C-4B77-A76C-AD849223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D6ED"/>
                </a:solidFill>
                <a:latin typeface="Arial"/>
                <a:ea typeface="Arial"/>
                <a:cs typeface="Arial"/>
              </a:rPr>
              <a:t>“Add rinse lentils to my checklist.”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35DF154-C532-488A-BF75-E0F180F5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44196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The client performs the write.</a:t>
            </a:r>
          </a:p>
          <a:p xmlns:a="http://schemas.openxmlformats.org/drawingml/2006/main">
            <a:pPr algn="l">
              <a:defRPr sz="18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The receipt records what changed.</a:t>
            </a:r>
          </a:p>
          <a:p xmlns:a="http://schemas.openxmlformats.org/drawingml/2006/main">
            <a:pPr algn="l">
              <a:defRPr sz="18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The checklist survives reopening.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774867-26C1-451B-A637-BE318F02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461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Browser storage or native app storage.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Local host required. Android 12+.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Three device tools: read, add and update.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50A8B1-D566-4486-96C1-AB9A271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Current release UI capture. Spoken example is a tour input, not a guaranteed model result.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F2A1EF9-B49F-4CD4-BBF5-6FC35D0E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9555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6">
            <a:extLst xmlns:a="http://schemas.openxmlformats.org/drawingml/2006/main">
              <a:ext uri="{FF2B5EF4-FFF2-40B4-BE49-F238E27FC236}">
                <a16:creationId xmlns:a16="http://schemas.microsoft.com/office/drawing/2014/main" id="{DDE86786-690F-4425-85ED-398920816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09575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3300"/>
              <a:buFont typeface="Calibri"/>
              <a:buNone/>
              <a:defRPr sz="2775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Local runtime. Pinned reproduction.</a:t>
            </a:r>
            <a:endParaRPr sz="3750" b="1">
              <a:solidFill>
                <a:srgbClr val="704EA6"/>
              </a:solidFill>
            </a:endParaRPr>
          </a:p>
        </p:txBody>
      </p:sp>
      <p:sp>
        <p:nvSpPr>
          <p:cNvPr id="141" name="Google Shape;141;p6">
            <a:extLst xmlns:a="http://schemas.openxmlformats.org/drawingml/2006/main">
              <a:ext uri="{FF2B5EF4-FFF2-40B4-BE49-F238E27FC236}">
                <a16:creationId xmlns:a16="http://schemas.microsoft.com/office/drawing/2014/main" id="{87247C97-BCE2-4D12-A3FF-1336921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8115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LiveKit WebRTC carries benchmark audio.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Whisper small.en recognizes the request.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Qwen3.5-4B Q4_K_M proposes structured actions.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THREAD validates authority and accounts for tool outcomes.</a:t>
            </a:r>
            <a:endParaRPr sz="1600">
              <a:solidFill>
                <a:schemeClr val="lt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7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Local speech returns the result.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F707342-E6B5-4F62-9854-5996367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5F6F8"/>
                </a:solidFill>
                <a:latin typeface="Arial"/>
                <a:ea typeface="Arial"/>
                <a:cs typeface="Arial"/>
              </a:rPr>
              <a:t>bash scripts/reproduce_fdb3_linux.sh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6DF71EE-D600-4D99-B5FF-57291663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8220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Supply the released dataset, local LiveKit binary and declared GPU prerequisites.</a:t>
            </a:r>
          </a:p>
          <a:p xmlns:a="http://schemas.openxmlformats.org/drawingml/2006/main">
            <a:pPr algn="l">
              <a:defRPr sz="120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Model, data and dependency hashes are checked. Every failed case remains visible.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FC65BD3-4A4F-454A-A602-A90B493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Full clean Linux / NeMo / GPU evaluation is not yet qualified on organizer hardware.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0E7E6BC-D28C-448F-A71A-509F09D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7881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18CCF-75CD-4982-A239-D55EB58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Measured on all 100 recordings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237D1-D2BA-4AEC-997F-DDF2E76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497CFF"/>
                </a:solidFill>
                <a:latin typeface="Arial"/>
                <a:ea typeface="Arial"/>
                <a:cs typeface="Arial"/>
              </a:rPr>
              <a:t>61/100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637A-08B6-4C84-A256-F93F1EAA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Strict tool passes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EE6F0-584E-4648-A5BD-B4FAA600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47975"/>
            <a:ext cx="398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Selected small.en path</a:t>
            </a:r>
          </a:p>
          <a:p xmlns:a="http://schemas.openxmlformats.org/drawingml/2006/main">
            <a:pPr algn="l">
              <a:defRPr sz="157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Source 8dd530f</a:t>
            </a:r>
          </a:p>
          <a:p xmlns:a="http://schemas.openxmlformats.org/drawingml/2006/main">
            <a:pPr algn="l">
              <a:defRPr sz="157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100 evaluated · 0 infrastructure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9F8CE-F1B7-4B7E-B78F-35CDBC09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38275"/>
            <a:ext cx="3667125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5F6F8"/>
                </a:solidFill>
                <a:latin typeface="Arial"/>
                <a:ea typeface="Arial"/>
                <a:cs typeface="Arial"/>
              </a:rPr>
              <a:t>59 → 64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11F4F-A3D9-47E0-B017-3FE7EF96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3505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Separate recognizer experiment</a:t>
            </a:r>
          </a:p>
          <a:p xmlns:a="http://schemas.openxmlformats.org/drawingml/2006/main">
            <a:pPr algn="l">
              <a:defRPr sz="15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Same source 771981a</a:t>
            </a:r>
          </a:p>
          <a:p xmlns:a="http://schemas.openxmlformats.org/drawingml/2006/main">
            <a:pPr algn="l">
              <a:defRPr sz="15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small.en compared with large-v3-turbo</a:t>
            </a:r>
          </a:p>
          <a:p xmlns:a="http://schemas.openxmlformats.org/drawingml/2006/main">
            <a:pPr algn="l">
              <a:defRPr sz="150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One pair: seven gains, two losses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8D286-E589-457A-8648-044330DA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0D6ED"/>
                </a:solidFill>
                <a:latin typeface="Arial"/>
                <a:ea typeface="Arial"/>
                <a:cs typeface="Arial"/>
              </a:rPr>
              <a:t>Local Qwen diagnostic judge. Samsung determines the official score.</a:t>
            </a:r>
          </a:p>
          <a:p xmlns:a="http://schemas.openxmlformats.org/drawingml/2006/main">
            <a:pPr algn="l">
              <a:defRPr sz="1575" b="0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0D6ED"/>
                </a:solidFill>
                <a:latin typeface="Arial"/>
                <a:ea typeface="Arial"/>
                <a:cs typeface="Arial"/>
              </a:rPr>
              <a:t>These historical runs are not a fresh final-release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ECF3D-F9E0-4BBB-8AFA-185ED2B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All per-case records and original source/configuration identities are preserved.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50DAA-23CF-4F74-B1FE-4BB070F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470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A4E132E9-FD4B-45E6-8EBB-8816AD32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625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5F6F8"/>
                </a:solidFill>
                <a:latin typeface="Arial"/>
                <a:ea typeface="Arial"/>
                <a:cs typeface="Arial"/>
              </a:rPr>
              <a:t>What is verified. What comes next.</a:t>
            </a:r>
            <a:endParaRPr sz="3500" b="1">
              <a:solidFill>
                <a:srgbClr val="4C7DFF"/>
              </a:solidFill>
            </a:endParaRP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7BF7C82F-3C21-4ED7-AC14-3481197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Controller and SDK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1,891 base tests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102 SDK tests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Zero failures or skips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FB727EA2-B6A0-404E-A773-A72400D5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9650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Native release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11 JVM tests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10 emulator checks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Minified-release smoke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C8D3E559-B8CC-4B4C-9E2C-5B16D13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General repairs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Equivalent write defaults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Natural missing-argument questions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Independent regressions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1F3F643F-FE12-476B-8123-70A1B1AC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Model quality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Reduce recognition and planning errors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Repeat frozen full-data evaluation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177DDAFC-97E2-406E-9076-2546938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Target environment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Complete clean Linux / GPU run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Measure physical-device acoustics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B64D02B9-CE7A-4FB8-8883-3071A1C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000500" cy="1047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033"/>
          </a:solidFill>
          <a:ln xmlns:a="http://schemas.openxmlformats.org/drawingml/2006/main" w="9525">
            <a:solidFill>
              <a:srgbClr val="344E75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Submission limits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No official score yet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Signed human disclosure pending</a:t>
            </a:r>
            <a:endParaRPr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No 100/100 qualification claim</a:t>
            </a:r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C6799ED-61FA-4872-A6E6-30477CB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Component checks and emulator evidence have narrower scope than a full official benchmark.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1348D3E-359A-4760-92B2-949FAB7E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4561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12">
            <a:extLst xmlns:a="http://schemas.openxmlformats.org/drawingml/2006/main">
              <a:ext uri="{FF2B5EF4-FFF2-40B4-BE49-F238E27FC236}">
                <a16:creationId xmlns:a16="http://schemas.microsoft.com/office/drawing/2014/main" id="{926A8237-B0AC-4E4F-9E82-6FD1A1D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90575"/>
            <a:ext cx="7953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3450"/>
              <a:buFont typeface="Arial"/>
              <a:buNone/>
              <a:defRPr sz="5175" b="1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5175" b="1" i="0" u="none" cap="none">
                <a:solidFill>
                  <a:srgbClr val="F5F6F8"/>
                </a:solidFill>
                <a:latin typeface="Arial"/>
                <a:ea typeface="Arial"/>
                <a:cs typeface="Arial"/>
              </a:rPr>
              <a:t>Go on.</a:t>
            </a:r>
            <a:endParaRPr sz="345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12">
            <a:extLst xmlns:a="http://schemas.openxmlformats.org/drawingml/2006/main">
              <a:ext uri="{FF2B5EF4-FFF2-40B4-BE49-F238E27FC236}">
                <a16:creationId xmlns:a16="http://schemas.microsoft.com/office/drawing/2014/main" id="{9B04DE9B-11B0-4C9B-8C1B-E2304FA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62450"/>
            <a:ext cx="790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825"/>
              <a:buFont typeface="Calibri"/>
              <a:buNone/>
              <a:defRPr sz="127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275" b="0" i="0" u="none" cap="none">
                <a:solidFill>
                  <a:srgbClr val="ADB6C8"/>
                </a:solidFill>
                <a:latin typeface="Arial"/>
                <a:ea typeface="Arial"/>
                <a:cs typeface="Arial"/>
              </a:rPr>
              <a:t>ReflexAi  /  SRM Institute of Science and Technology Kattankulathur</a:t>
            </a:r>
            <a:endParaRPr sz="8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A7B49DD-7581-4282-A12F-89FF34A3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97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97CFF"/>
                </a:solidFill>
                <a:latin typeface="Arial"/>
                <a:ea typeface="Arial"/>
                <a:cs typeface="Arial"/>
              </a:rPr>
              <a:t>THREAD 1.0.0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67C2CA7-161F-4E3A-A428-06FD51F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792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6F8"/>
                </a:solidFill>
                <a:latin typeface="Arial"/>
                <a:ea typeface="Arial"/>
                <a:cs typeface="Arial"/>
              </a:rPr>
              <a:t>github.com/anshcantcode/thread-team-guide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3932678-3090-48CA-BD39-B5CC560A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792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D6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0D6ED"/>
                </a:solidFill>
                <a:latin typeface="Arial"/>
                <a:ea typeface="Arial"/>
                <a:cs typeface="Arial"/>
              </a:rPr>
              <a:t>Tag: PRISM_GENAI_HACKATHON_Y2026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544B56C-6B7E-454F-AD5A-8C900FE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787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README: install, tour, architecture and results.</a:t>
            </a:r>
          </a:p>
          <a:p xmlns:a="http://schemas.openxmlformats.org/drawingml/2006/main">
            <a:pPr algn="l">
              <a:defRPr sz="1350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Release: APK, browser, source, deck, film, recorded demo and evidence.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A5076EF-4F21-47A2-8756-7349A2F3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775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The animated launch film and historical recorded demo each disclose their source and scope.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B9F4695-84C7-452E-A122-E4DD6053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9650"/>
            <a:ext cx="314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DB6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DB6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78534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2026-09-30T03:39:15.8730000Z</dcterms:created>
  <dcterms:modified xsi:type="dcterms:W3CDTF">2026-09-30T03:39:15.8730000Z</dcterms:modified>
</coreProperties>
</file>