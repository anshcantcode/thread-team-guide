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09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THREAD as the ReflexAi team's Theme 05 project. The user can correct a request without discarding every valid constraint. The controller checks current authority before a tool can run and records the outcome of work already dispatched. Source: tag PRISM_GENAI_HACKATHON_Y2026 on main. The benchmark runtime was measured at development commit 4e88d4b in run 20261003T192003Z-cf861d7d on 4 October 2026; the tagged commit carries byte-identical runtime files (hashes in docs/fdb3/evidence/final-windows-20261004.json). Sphere artwork is cropped from the team-supplied THREAD-opus-film-3min-v3-1080p60.mp4 at 147 seconds, not generated proof of runtime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request, not a claimed benchmark recording. The technical problem is larger than cutting off audio: a tool may still be pending, a late result may arrive, or a write may already have reached the client. THREAD distinguishes pre-dispatch cancellation from reconciliation after admission. The intended benefit is preserving valid context while limiting outdated actions; this slide does not claim measured superiority over another assistant or universal safety.
SOURCES
https://github.com/anshcantcode/thread-team-guide/blob/f83e38968abd3d91b5b05795d99a36d73f0a0575/docs/ARCHITECTURE.md
https://github.com/anshcantcode/thread-team-guide/blob/f83e38968abd3d91b5b05795d99a36d73f0a0575/README.md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selected FDB-v3 path is cascaded and locally hosted: paced LiveKit WebRTC audio, faster-whisper small.en, Qwen3.5-4B Q4_K_M via llama.cpp, ParticipantAgent and the admission bridge, tool output, and local speech. ParticipantAgent owns state. Authorization is bound to clauses and revisions, not just whatever text appears in the conversation. Unknown writes are tracked and reconciled, not blindly retried. The benchmark dispatches official mock tools; Kitchen uses real client-owned checklist storage. Kitchen transport is PCM WebSocket with a LiveKit AgentSession, distinct from benchmark WebRTC. The separate original Gemini mode is not the measured local-model path. No on-device 4B execution is claimed.
SOURCES
https://github.com/anshcantcode/thread-team-guide/blob/f83e38968abd3d91b5b05795d99a36d73f0a0575/docs/ARCHITECTURE.md
https://github.com/anshcantcode/thread-team-guide/blob/f83e38968abd3d91b5b05795d99a36d73f0a0575/README.md
https://github.com/anshcantcode/thread-team-guide/blob/f83e38968abd3d91b5b05795d99a36d73f0a0575/docs/submission/RESULTS.md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image is cropped, without rewriting its content, from the team-supplied THREAD-product-evidence-review-v2-1080p60.mp4 at 135 seconds. It is a historical emulator capture explicitly identified as extension015, desktop/runtime fecb5c2, viewer 8e9324a. The source video states that it is a captured native view, separate from the benchmark, after reopening. The latest launch film also presents the withdrawn celery / retained spinach sequence with shortened waits and re-voiced replies. This screenshot is not claimed to show the final release, a physical phone, live microphone capture, or independent acoustic verification. Current release verification separately reports one native and one browser-module typed turn producing two real checklist writes and returned PCM. Kitchen implements read_checklist, add_checklist_item and set_checklist_item; clients own persistent storage and idempotent receipts.
SOURCES
https://github.com/anshcantcode/thread-team-guide/blob/f83e38968abd3d91b5b05795d99a36d73f0a0575/docs/ARCHITECTURE.md
https://github.com/anshcantcode/thread-team-guide/blob/f83e38968abd3d91b5b05795d99a36d73f0a0575/docs/submission/VERIFICATION.md
https://github.com/anshcantcode/thread-team-guide/blob/f83e38968abd3d91b5b05795d99a36d73f0a0575/docs/submission/media/README.md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 source 4e88d4b, run 20261003T192003Z-cf861d7d, 4 Oct 2026: strict 63/100, spoken answer correct 79/100, both 58/100, 100/100 evaluated, 0 infrastructure errors. By domain: ecommerce 19/29, finance 23/25, housing 8/26, travel 13/20. Windows 11, RTX 4050 Laptop 6 GB, paced local LiveKit WebRTC, faster-whisper small.en, Qwen3.5-4B Q4_K_M planner, seed 42, temperature 0. Judge: local Qwen3.5-4B (upstream alias gpt-4o requested); qualification=false; not Samsung's score. Earlier rows: 20260929T123808Z-ff6e52b3 (771981a) and 20260929T201004Z-010c0644 (8dd530f). A large-v3-turbo experiment on 771981a scored 64/73/59/0; it is not the selected default. Six housing recordings expect search_apartments(pets_allowed=True); neither official tool declaration lists pets_allowed, and the name appears only in the released answer key, so THREAD does not send it. Miss groups come from the per-case dossier: planner = wrong value, missed call, asked, premature plan, omitted argument (+1 unclassified); controller = proposed but held, superseded or blocked by a gate; form only = strict matching of the same value, e.g. 'the gym' vs 'Gym'. Evidence: docs/fdb3/evidence/final-windows-20261004.json and final-windows-20261004-failures.md.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engineering tests, not FDB-v3 passes. At 4e88d4b: 1,965 provider-free Python tests and 111 real installed-LiveKit-SDK tests passed (CPU only). The reproduction-guard count is carried over from the 30 September release and was not re-counted. The 3 October Linux one-command run (WSL Ubuntu 24.04, RTX 4050 6 GB, local Qwen judge) completed and evaluated all 100 recordings at 8ef5b59 with zero infrastructure errors and 61/100 strict. A clean Linux run of the final source 4e88d4b has not been done; its 63/100 is from Windows. The one-command reproduction still requires the declared prerequisites and the separately downloaded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orb strip is rendered by web/orb-strip.html with the apps' own web/orb.js (docs/images/orb-states.png); every state is driven by a real event: voice level, planner work, a held correction, a tool call, a barge-in, a failure. The Watch card is a real capture of the browser Watches strip on 3 Oct 2026 after a Google News check for 'Manchester City 115 charges'; a Watch re-checks every 2 hours and surfaces only new, attributed reports. Watches and Android app actions (open an app, search, draft) are CPU-tested; drafts are never sent without the user. The Android APK is installed on the owner's Galaxy S24 (SM-S921B) and the floating bubble was verified running. The planner runs on the paired PC; this is not on-device inference and not part of the FDB-v3 benchmark path. The limits from the 30 Sep version remain on slides 2 to 6: Kitchen is tethered, cancellation is not rollback, and the final source still needs a clean Linux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names and institutional email addresses are preserved from the supplied team presentation and current repository submission index. Links point to the public release, recorded demonstration and launch film. The original team-supplied film exists and should not be listed as pending. Film artwork / synthetic voices / re-voiced replies are disclosed; the separate recorded demo is historical and edited, not a continuous final-release acoustic test. Publishing a repository release does not submit the organizer form. The signed human disclosure and final organizer form should be confirmed by the team. This presentation refresh does not update GitHub release assets or their checksums automatically.
SOURCES
https://github.com/anshcantcode/thread-team-guide/blob/f83e38968abd3d91b5b05795d99a36d73f0a0575/docs/submission/README.md
https://github.com/anshcantcode/thread-team-guide/blob/f83e38968abd3d91b5b05795d99a36d73f0a0575/docs/submission/AI_DISCLOSURE.md
https://github.com/anshcantcode/thread-team-guide/blob/f83e38968abd3d91b5b05795d99a36d73f0a0575/docs/submission/media/README.md
https://github.com/anshcantcode/thread-team-guide/releases/tag/PRISM_GENAI_HACKATHON_Y2026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HREAD">
    <p:bg>
      <p:bgPr>
        <a:solidFill>
          <a:srgbClr val="080E1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github.com/anshcantcode/thread-team-guide/tree/PRISM_GENAI_HACKATHON_Y2026" TargetMode="External"/><Relationship Id="rId5" Type="http://schemas.openxmlformats.org/officeDocument/2006/relationships/hyperlink" Target="https://github.com/anshcantcode/thread-team-guide/tree/release/samsung-prism-2026"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anshcantcode/thread-team-guide/blob/f83e38968abd3d91b5b05795d99a36d73f0a0575/docs/ARCHITECTURE.m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github.com/anshcantcode/thread-team-guide/blob/f83e38968abd3d91b5b05795d99a36d73f0a0575/docs/ARCHITECTURE.md"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github.com/anshcantcode/thread-team-guide/blob/f83e38968abd3d91b5b05795d99a36d73f0a0575/docs/submission/media/README.md"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github.com/anshcantcode/thread-team-guide/blob/f83e38968abd3d91b5b05795d99a36d73f0a0575/docs/submission/RESULTS.m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github.com/anshcantcode/thread-team-guide/blob/f83e38968abd3d91b5b05795d99a36d73f0a0575/docs/submission/VERIFICATION.m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github.com/anshcantcode/thread-team-guide" TargetMode="External"/><Relationship Id="rId4" Type="http://schemas.openxmlformats.org/officeDocument/2006/relationships/hyperlink" Target="https://github.com/anshcantcode/thread-team-guide/blob/f83e38968abd3d91b5b05795d99a36d73f0a0575/docs/submission/RESULTS.md"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github.com/anshcantcode/thread-team-guide" TargetMode="External"/><Relationship Id="rId13" Type="http://schemas.openxmlformats.org/officeDocument/2006/relationships/hyperlink" Target="https://github.com/anshcantcode/thread-team-guide/blob/f83e38968abd3d91b5b05795d99a36d73f0a0575/docs/submission/AI_DISCLOSURE.md" TargetMode="External"/><Relationship Id="rId3" Type="http://schemas.openxmlformats.org/officeDocument/2006/relationships/image" Target="../media/image7.png"/><Relationship Id="rId7" Type="http://schemas.openxmlformats.org/officeDocument/2006/relationships/image" Target="../media/image8.png"/><Relationship Id="rId12" Type="http://schemas.openxmlformats.org/officeDocument/2006/relationships/hyperlink" Target="mailto:ns7824002@srmist.edu.i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github.com/anshcantcode/thread-team-guide/releases/download/PRISM_GENAI_HACKATHON_Y2026/THREAD_Launch_Film.mp4" TargetMode="External"/><Relationship Id="rId11" Type="http://schemas.openxmlformats.org/officeDocument/2006/relationships/hyperlink" Target="mailto:Rk0288@srmist.edu.in" TargetMode="External"/><Relationship Id="rId5" Type="http://schemas.openxmlformats.org/officeDocument/2006/relationships/hyperlink" Target="https://github.com/anshcantcode/thread-team-guide/releases/download/PRISM_GENAI_HACKATHON_Y2026/THREAD_Recorded_Demo.mp4" TargetMode="External"/><Relationship Id="rId10" Type="http://schemas.openxmlformats.org/officeDocument/2006/relationships/hyperlink" Target="mailto:ag6536@srmist.edu.in" TargetMode="External"/><Relationship Id="rId4" Type="http://schemas.openxmlformats.org/officeDocument/2006/relationships/hyperlink" Target="https://github.com/anshcantcode/thread-team-guide/releases/tag/PRISM_GENAI_HACKATHON_Y2026" TargetMode="External"/><Relationship Id="rId9" Type="http://schemas.openxmlformats.org/officeDocument/2006/relationships/hyperlink" Target="mailto:nc0399@srmist.edu.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thread_deck_work/assets/cover-bg.png"/>
          <p:cNvPicPr>
            <a:picLocks noChangeAspect="1"/>
          </p:cNvPicPr>
          <p:nvPr/>
        </p:nvPicPr>
        <p:blipFill>
          <a:blip r:embed="rId3"/>
          <a:stretch>
            <a:fillRect/>
          </a:stretch>
        </p:blipFill>
        <p:spPr>
          <a:xfrm>
            <a:off x="0" y="0"/>
            <a:ext cx="12192000" cy="6858000"/>
          </a:xfrm>
          <a:prstGeom prst="rect">
            <a:avLst/>
          </a:prstGeom>
        </p:spPr>
      </p:pic>
      <p:pic>
        <p:nvPicPr>
          <p:cNvPr id="3" name="Image 1" descr="/mnt/data/thread_deck_work/assets/sphere-crop.png"/>
          <p:cNvPicPr>
            <a:picLocks noChangeAspect="1"/>
          </p:cNvPicPr>
          <p:nvPr/>
        </p:nvPicPr>
        <p:blipFill>
          <a:blip r:embed="rId4"/>
          <a:stretch>
            <a:fillRect/>
          </a:stretch>
        </p:blipFill>
        <p:spPr>
          <a:xfrm>
            <a:off x="5989320" y="594360"/>
            <a:ext cx="6172200" cy="6172200"/>
          </a:xfrm>
          <a:prstGeom prst="rect">
            <a:avLst/>
          </a:prstGeom>
        </p:spPr>
      </p:pic>
      <p:sp>
        <p:nvSpPr>
          <p:cNvPr id="4" name="Text 0"/>
          <p:cNvSpPr/>
          <p:nvPr/>
        </p:nvSpPr>
        <p:spPr>
          <a:xfrm>
            <a:off x="658368" y="493776"/>
            <a:ext cx="9144000" cy="201168"/>
          </a:xfrm>
          <a:prstGeom prst="rect">
            <a:avLst/>
          </a:prstGeom>
          <a:noFill/>
          <a:ln/>
        </p:spPr>
        <p:txBody>
          <a:bodyPr wrap="square" lIns="0" tIns="0" rIns="0" bIns="0" rtlCol="0" anchor="ctr">
            <a:spAutoFit/>
          </a:bodyPr>
          <a:lstStyle/>
          <a:p>
            <a:pPr marL="0" indent="0">
              <a:buNone/>
            </a:pPr>
            <a:r>
              <a:rPr lang="en-US" sz="1050" b="1" kern="0" spc="140" dirty="0">
                <a:solidFill>
                  <a:srgbClr val="BAC8DD"/>
                </a:solidFill>
                <a:latin typeface="Inter" pitchFamily="34" charset="0"/>
                <a:ea typeface="Inter" pitchFamily="34" charset="-122"/>
                <a:cs typeface="Inter" pitchFamily="34" charset="-120"/>
              </a:rPr>
              <a:t>SAMSUNG PRISM · GENERATIVE AI HACKATHON</a:t>
            </a:r>
            <a:endParaRPr lang="en-US" sz="1050" dirty="0"/>
          </a:p>
        </p:txBody>
      </p:sp>
      <p:sp>
        <p:nvSpPr>
          <p:cNvPr id="5" name="Shape 1"/>
          <p:cNvSpPr/>
          <p:nvPr/>
        </p:nvSpPr>
        <p:spPr>
          <a:xfrm>
            <a:off x="658368" y="905256"/>
            <a:ext cx="4160520" cy="301752"/>
          </a:xfrm>
          <a:prstGeom prst="roundRect">
            <a:avLst>
              <a:gd name="adj" fmla="val 36364"/>
            </a:avLst>
          </a:prstGeom>
          <a:solidFill>
            <a:srgbClr val="10243E"/>
          </a:solidFill>
          <a:ln w="10160">
            <a:solidFill>
              <a:srgbClr val="10243E"/>
            </a:solidFill>
            <a:prstDash val="solid"/>
          </a:ln>
        </p:spPr>
      </p:sp>
      <p:sp>
        <p:nvSpPr>
          <p:cNvPr id="6" name="Text 2"/>
          <p:cNvSpPr/>
          <p:nvPr/>
        </p:nvSpPr>
        <p:spPr>
          <a:xfrm>
            <a:off x="777240" y="972007"/>
            <a:ext cx="3922776" cy="173736"/>
          </a:xfrm>
          <a:prstGeom prst="rect">
            <a:avLst/>
          </a:prstGeom>
          <a:noFill/>
          <a:ln/>
        </p:spPr>
        <p:txBody>
          <a:bodyPr wrap="square" lIns="0" tIns="0" rIns="0" bIns="0" rtlCol="0" anchor="ctr">
            <a:spAutoFit/>
          </a:bodyPr>
          <a:lstStyle/>
          <a:p>
            <a:pPr marL="0" indent="0">
              <a:buNone/>
            </a:pPr>
            <a:r>
              <a:rPr lang="en-US" sz="960" b="1" kern="0" spc="50" dirty="0">
                <a:solidFill>
                  <a:srgbClr val="87BFFF"/>
                </a:solidFill>
                <a:latin typeface="Inter" pitchFamily="34" charset="0"/>
                <a:ea typeface="Inter" pitchFamily="34" charset="-122"/>
                <a:cs typeface="Inter" pitchFamily="34" charset="-120"/>
              </a:rPr>
              <a:t>THEME 05 · INTERRUPTIBLE REAL-TIME AGENTS</a:t>
            </a:r>
            <a:endParaRPr lang="en-US" sz="960" dirty="0"/>
          </a:p>
        </p:txBody>
      </p:sp>
      <p:sp>
        <p:nvSpPr>
          <p:cNvPr id="7" name="Text 3"/>
          <p:cNvSpPr/>
          <p:nvPr/>
        </p:nvSpPr>
        <p:spPr>
          <a:xfrm>
            <a:off x="603504" y="1828800"/>
            <a:ext cx="6217920" cy="1078992"/>
          </a:xfrm>
          <a:prstGeom prst="rect">
            <a:avLst/>
          </a:prstGeom>
          <a:noFill/>
          <a:ln/>
        </p:spPr>
        <p:txBody>
          <a:bodyPr wrap="square" lIns="0" tIns="0" rIns="0" bIns="0" rtlCol="0" anchor="ctr">
            <a:spAutoFit/>
          </a:bodyPr>
          <a:lstStyle/>
          <a:p>
            <a:pPr marL="0" indent="0">
              <a:buNone/>
            </a:pPr>
            <a:r>
              <a:rPr lang="en-US" sz="7700" kern="0" spc="-140" dirty="0">
                <a:solidFill>
                  <a:srgbClr val="F1F6FF"/>
                </a:solidFill>
                <a:latin typeface="Inter Display" pitchFamily="34" charset="0"/>
                <a:ea typeface="Inter Display" pitchFamily="34" charset="-122"/>
                <a:cs typeface="Inter Display" pitchFamily="34" charset="-120"/>
              </a:rPr>
              <a:t>THREAD</a:t>
            </a:r>
            <a:endParaRPr lang="en-US" sz="7700" dirty="0"/>
          </a:p>
        </p:txBody>
      </p:sp>
      <p:sp>
        <p:nvSpPr>
          <p:cNvPr id="8" name="Text 4"/>
          <p:cNvSpPr/>
          <p:nvPr/>
        </p:nvSpPr>
        <p:spPr>
          <a:xfrm>
            <a:off x="676656" y="2999232"/>
            <a:ext cx="5120640" cy="621792"/>
          </a:xfrm>
          <a:prstGeom prst="rect">
            <a:avLst/>
          </a:prstGeom>
          <a:noFill/>
          <a:ln/>
        </p:spPr>
        <p:txBody>
          <a:bodyPr wrap="square" lIns="0" tIns="0" rIns="0" bIns="0" rtlCol="0" anchor="ctr">
            <a:spAutoFit/>
          </a:bodyPr>
          <a:lstStyle/>
          <a:p>
            <a:pPr marL="0" indent="0">
              <a:buNone/>
            </a:pPr>
            <a:r>
              <a:rPr lang="en-US" sz="3800" dirty="0">
                <a:solidFill>
                  <a:srgbClr val="87BFFF"/>
                </a:solidFill>
                <a:latin typeface="Inter Display" pitchFamily="34" charset="0"/>
                <a:ea typeface="Inter Display" pitchFamily="34" charset="-122"/>
                <a:cs typeface="Inter Display" pitchFamily="34" charset="-120"/>
              </a:rPr>
              <a:t>Go on.</a:t>
            </a:r>
            <a:endParaRPr lang="en-US" sz="3800" dirty="0"/>
          </a:p>
        </p:txBody>
      </p:sp>
      <p:sp>
        <p:nvSpPr>
          <p:cNvPr id="9" name="Text 5"/>
          <p:cNvSpPr/>
          <p:nvPr/>
        </p:nvSpPr>
        <p:spPr>
          <a:xfrm>
            <a:off x="694944" y="3941064"/>
            <a:ext cx="4983480" cy="832104"/>
          </a:xfrm>
          <a:prstGeom prst="rect">
            <a:avLst/>
          </a:prstGeom>
          <a:noFill/>
          <a:ln/>
        </p:spPr>
        <p:txBody>
          <a:bodyPr wrap="square" lIns="0" tIns="0" rIns="0" bIns="0" rtlCol="0" anchor="ctr">
            <a:spAutoFit/>
          </a:bodyPr>
          <a:lstStyle/>
          <a:p>
            <a:pPr marL="0" indent="0">
              <a:buNone/>
            </a:pPr>
            <a:r>
              <a:rPr lang="en-US" sz="2100" dirty="0">
                <a:solidFill>
                  <a:srgbClr val="BAC8DD"/>
                </a:solidFill>
                <a:latin typeface="Inter" pitchFamily="34" charset="0"/>
                <a:ea typeface="Inter" pitchFamily="34" charset="-122"/>
                <a:cs typeface="Inter" pitchFamily="34" charset="-120"/>
              </a:rPr>
              <a:t>A voice assistant you can interrupt</a:t>
            </a:r>
            <a:endParaRPr lang="en-US" sz="2100" dirty="0"/>
          </a:p>
          <a:p>
            <a:pPr marL="0" indent="0">
              <a:buNone/>
            </a:pPr>
            <a:r>
              <a:rPr lang="en-US" sz="2100" dirty="0">
                <a:solidFill>
                  <a:srgbClr val="BAC8DD"/>
                </a:solidFill>
                <a:latin typeface="Inter" pitchFamily="34" charset="0"/>
                <a:ea typeface="Inter" pitchFamily="34" charset="-122"/>
                <a:cs typeface="Inter" pitchFamily="34" charset="-120"/>
              </a:rPr>
              <a:t>and correct without losing the task.</a:t>
            </a:r>
            <a:endParaRPr lang="en-US" sz="2100" dirty="0"/>
          </a:p>
        </p:txBody>
      </p:sp>
      <p:sp>
        <p:nvSpPr>
          <p:cNvPr id="10" name="Shape 6"/>
          <p:cNvSpPr/>
          <p:nvPr/>
        </p:nvSpPr>
        <p:spPr>
          <a:xfrm>
            <a:off x="694944" y="5148072"/>
            <a:ext cx="3785616" cy="0"/>
          </a:xfrm>
          <a:prstGeom prst="line">
            <a:avLst/>
          </a:prstGeom>
          <a:noFill/>
          <a:ln w="12700">
            <a:solidFill>
              <a:srgbClr val="263750"/>
            </a:solidFill>
            <a:prstDash val="solid"/>
          </a:ln>
        </p:spPr>
      </p:sp>
      <p:sp>
        <p:nvSpPr>
          <p:cNvPr id="11" name="Text 7"/>
          <p:cNvSpPr/>
          <p:nvPr/>
        </p:nvSpPr>
        <p:spPr>
          <a:xfrm>
            <a:off x="694944" y="5376672"/>
            <a:ext cx="4572000" cy="283464"/>
          </a:xfrm>
          <a:prstGeom prst="rect">
            <a:avLst/>
          </a:prstGeom>
          <a:noFill/>
          <a:ln/>
        </p:spPr>
        <p:txBody>
          <a:bodyPr wrap="square" lIns="0" tIns="0" rIns="0" bIns="0" rtlCol="0" anchor="ctr">
            <a:spAutoFit/>
          </a:bodyPr>
          <a:lstStyle/>
          <a:p>
            <a:pPr marL="0" indent="0">
              <a:buNone/>
            </a:pPr>
            <a:r>
              <a:rPr lang="en-US" sz="1600" b="1" dirty="0">
                <a:solidFill>
                  <a:srgbClr val="F1F6FF"/>
                </a:solidFill>
                <a:latin typeface="Inter" pitchFamily="34" charset="0"/>
                <a:ea typeface="Inter" pitchFamily="34" charset="-122"/>
                <a:cs typeface="Inter" pitchFamily="34" charset="-120"/>
              </a:rPr>
              <a:t>ReflexAi</a:t>
            </a:r>
            <a:endParaRPr lang="en-US" sz="1600" dirty="0"/>
          </a:p>
        </p:txBody>
      </p:sp>
      <p:sp>
        <p:nvSpPr>
          <p:cNvPr id="12" name="Text 8"/>
          <p:cNvSpPr/>
          <p:nvPr/>
        </p:nvSpPr>
        <p:spPr>
          <a:xfrm>
            <a:off x="694944" y="5760720"/>
            <a:ext cx="5486400" cy="429768"/>
          </a:xfrm>
          <a:prstGeom prst="rect">
            <a:avLst/>
          </a:prstGeom>
          <a:noFill/>
          <a:ln/>
        </p:spPr>
        <p:txBody>
          <a:bodyPr wrap="square" lIns="0" tIns="0" rIns="0" bIns="0" rtlCol="0" anchor="ctr">
            <a:spAutoFit/>
          </a:bodyPr>
          <a:lstStyle/>
          <a:p>
            <a:pPr marL="0" indent="0">
              <a:buNone/>
            </a:pPr>
            <a:r>
              <a:rPr lang="en-US" sz="1250" dirty="0">
                <a:solidFill>
                  <a:srgbClr val="BAC8DD"/>
                </a:solidFill>
                <a:latin typeface="Inter" pitchFamily="34" charset="0"/>
                <a:ea typeface="Inter" pitchFamily="34" charset="-122"/>
                <a:cs typeface="Inter" pitchFamily="34" charset="-120"/>
              </a:rPr>
              <a:t>SRM Institute of Science and Technology</a:t>
            </a:r>
            <a:endParaRPr lang="en-US" sz="1250" dirty="0"/>
          </a:p>
          <a:p>
            <a:pPr marL="0" indent="0">
              <a:buNone/>
            </a:pPr>
            <a:r>
              <a:rPr lang="en-US" sz="1250" dirty="0">
                <a:solidFill>
                  <a:srgbClr val="BAC8DD"/>
                </a:solidFill>
                <a:latin typeface="Inter" pitchFamily="34" charset="0"/>
                <a:ea typeface="Inter" pitchFamily="34" charset="-122"/>
                <a:cs typeface="Inter" pitchFamily="34" charset="-120"/>
              </a:rPr>
              <a:t>Kattankulathur</a:t>
            </a:r>
            <a:endParaRPr lang="en-US" sz="1250" dirty="0"/>
          </a:p>
        </p:txBody>
      </p:sp>
      <p:sp>
        <p:nvSpPr>
          <p:cNvPr id="13" name="Text 9"/>
          <p:cNvSpPr/>
          <p:nvPr/>
        </p:nvSpPr>
        <p:spPr>
          <a:xfrm>
            <a:off x="10698480" y="502920"/>
            <a:ext cx="832104" cy="201168"/>
          </a:xfrm>
          <a:prstGeom prst="rect">
            <a:avLst/>
          </a:prstGeom>
          <a:noFill/>
          <a:ln/>
        </p:spPr>
        <p:txBody>
          <a:bodyPr wrap="square" lIns="0" tIns="0" rIns="0" bIns="0" rtlCol="0" anchor="ctr">
            <a:spAutoFit/>
          </a:bodyPr>
          <a:lstStyle/>
          <a:p>
            <a:pPr marL="0" indent="0" algn="r">
              <a:buNone/>
            </a:pPr>
            <a:r>
              <a:rPr lang="en-US" sz="1100" dirty="0">
                <a:solidFill>
                  <a:srgbClr val="91A2BB"/>
                </a:solidFill>
                <a:latin typeface="Inter" pitchFamily="34" charset="0"/>
                <a:ea typeface="Inter" pitchFamily="34" charset="-122"/>
                <a:cs typeface="Inter" pitchFamily="34" charset="-120"/>
              </a:rPr>
              <a:t>1.0.0</a:t>
            </a:r>
            <a:endParaRPr lang="en-US" sz="1100" dirty="0"/>
          </a:p>
        </p:txBody>
      </p:sp>
      <p:sp>
        <p:nvSpPr>
          <p:cNvPr id="14" name="Text 10">
            <a:hlinkClick r:id="rId5"/>
          </p:cNvPr>
          <p:cNvSpPr/>
          <p:nvPr/>
        </p:nvSpPr>
        <p:spPr>
          <a:xfrm>
            <a:off x="8375904" y="6322406"/>
            <a:ext cx="3145536" cy="138499"/>
          </a:xfrm>
          <a:prstGeom prst="rect">
            <a:avLst/>
          </a:prstGeom>
          <a:noFill/>
          <a:ln/>
        </p:spPr>
        <p:txBody>
          <a:bodyPr wrap="square" lIns="0" tIns="0" rIns="0" bIns="0" rtlCol="0" anchor="ctr">
            <a:spAutoFit/>
          </a:bodyPr>
          <a:lstStyle/>
          <a:p>
            <a:pPr marL="0" indent="0" algn="r">
              <a:buNone/>
            </a:pPr>
            <a:r>
              <a:rPr lang="en-US" sz="900" u="sng">
                <a:solidFill>
                  <a:srgbClr val="91A2BB"/>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SOURCE RELEASE  PRISM_GENAI_HACKATHON_Y2026</a:t>
            </a:r>
            <a:endParaRPr lang="en-US" sz="900" dirty="0">
              <a:solidFill>
                <a:srgbClr val="91A2B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thread_deck_work/assets/plain-bg.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21792" y="393192"/>
            <a:ext cx="1828800" cy="201168"/>
          </a:xfrm>
          <a:prstGeom prst="rect">
            <a:avLst/>
          </a:prstGeom>
          <a:noFill/>
          <a:ln/>
        </p:spPr>
        <p:txBody>
          <a:bodyPr wrap="square" lIns="0" tIns="0" rIns="0" bIns="0" rtlCol="0" anchor="ctr">
            <a:spAutoFit/>
          </a:bodyPr>
          <a:lstStyle/>
          <a:p>
            <a:pPr marL="0" indent="0">
              <a:buNone/>
            </a:pPr>
            <a:r>
              <a:rPr lang="en-US" sz="1100" b="1" kern="0" spc="130" dirty="0">
                <a:solidFill>
                  <a:srgbClr val="F1F6FF"/>
                </a:solidFill>
                <a:latin typeface="Inter" pitchFamily="34" charset="0"/>
                <a:ea typeface="Inter" pitchFamily="34" charset="-122"/>
                <a:cs typeface="Inter" pitchFamily="34" charset="-120"/>
              </a:rPr>
              <a:t>T H R E A D</a:t>
            </a:r>
            <a:endParaRPr lang="en-US" sz="1100" dirty="0"/>
          </a:p>
        </p:txBody>
      </p:sp>
      <p:sp>
        <p:nvSpPr>
          <p:cNvPr id="4" name="Text 1"/>
          <p:cNvSpPr/>
          <p:nvPr/>
        </p:nvSpPr>
        <p:spPr>
          <a:xfrm>
            <a:off x="6400800" y="411480"/>
            <a:ext cx="5148072" cy="182880"/>
          </a:xfrm>
          <a:prstGeom prst="rect">
            <a:avLst/>
          </a:prstGeom>
          <a:noFill/>
          <a:ln/>
        </p:spPr>
        <p:txBody>
          <a:bodyPr wrap="square" lIns="0" tIns="0" rIns="0" bIns="0" rtlCol="0" anchor="ctr">
            <a:spAutoFit/>
          </a:bodyPr>
          <a:lstStyle/>
          <a:p>
            <a:pPr marL="0" indent="0" algn="r">
              <a:buNone/>
            </a:pPr>
            <a:r>
              <a:rPr lang="en-US" sz="1000" kern="0" spc="150" dirty="0">
                <a:solidFill>
                  <a:srgbClr val="91A2BB"/>
                </a:solidFill>
                <a:latin typeface="Inter" pitchFamily="34" charset="0"/>
                <a:ea typeface="Inter" pitchFamily="34" charset="-122"/>
                <a:cs typeface="Inter" pitchFamily="34" charset="-120"/>
              </a:rPr>
              <a:t>PROBLEM / WHY INTERRUPTION IS HARD</a:t>
            </a:r>
            <a:endParaRPr lang="en-US" sz="1000" dirty="0"/>
          </a:p>
        </p:txBody>
      </p:sp>
      <p:sp>
        <p:nvSpPr>
          <p:cNvPr id="5" name="Shape 2"/>
          <p:cNvSpPr/>
          <p:nvPr/>
        </p:nvSpPr>
        <p:spPr>
          <a:xfrm>
            <a:off x="621792" y="6382512"/>
            <a:ext cx="10945368" cy="0"/>
          </a:xfrm>
          <a:prstGeom prst="line">
            <a:avLst/>
          </a:prstGeom>
          <a:noFill/>
          <a:ln w="8890">
            <a:solidFill>
              <a:srgbClr val="263750"/>
            </a:solidFill>
            <a:prstDash val="solid"/>
          </a:ln>
        </p:spPr>
      </p:sp>
      <p:sp>
        <p:nvSpPr>
          <p:cNvPr id="6" name="Shape 3"/>
          <p:cNvSpPr/>
          <p:nvPr/>
        </p:nvSpPr>
        <p:spPr>
          <a:xfrm>
            <a:off x="621792" y="6382512"/>
            <a:ext cx="192024" cy="0"/>
          </a:xfrm>
          <a:prstGeom prst="line">
            <a:avLst/>
          </a:prstGeom>
          <a:noFill/>
          <a:ln w="22860">
            <a:solidFill>
              <a:srgbClr val="87BFFF"/>
            </a:solidFill>
            <a:prstDash val="solid"/>
          </a:ln>
        </p:spPr>
      </p:sp>
      <p:sp>
        <p:nvSpPr>
          <p:cNvPr id="7" name="Shape 4"/>
          <p:cNvSpPr/>
          <p:nvPr/>
        </p:nvSpPr>
        <p:spPr>
          <a:xfrm>
            <a:off x="896112" y="6382512"/>
            <a:ext cx="192024" cy="0"/>
          </a:xfrm>
          <a:prstGeom prst="line">
            <a:avLst/>
          </a:prstGeom>
          <a:noFill/>
          <a:ln w="22860">
            <a:solidFill>
              <a:srgbClr val="87BFFF"/>
            </a:solidFill>
            <a:prstDash val="solid"/>
          </a:ln>
        </p:spPr>
      </p:sp>
      <p:sp>
        <p:nvSpPr>
          <p:cNvPr id="8" name="Text 5"/>
          <p:cNvSpPr/>
          <p:nvPr/>
        </p:nvSpPr>
        <p:spPr>
          <a:xfrm>
            <a:off x="621792" y="6519672"/>
            <a:ext cx="5303520" cy="128016"/>
          </a:xfrm>
          <a:prstGeom prst="rect">
            <a:avLst/>
          </a:prstGeom>
          <a:noFill/>
          <a:ln/>
        </p:spPr>
        <p:txBody>
          <a:bodyPr wrap="square" lIns="0" tIns="0" rIns="0" bIns="0" rtlCol="0" anchor="ctr">
            <a:spAutoFit/>
          </a:bodyPr>
          <a:lstStyle/>
          <a:p>
            <a:pPr marL="0" indent="0">
              <a:buNone/>
            </a:pPr>
            <a:r>
              <a:rPr lang="en-US" sz="850" kern="0" spc="70" dirty="0">
                <a:solidFill>
                  <a:srgbClr val="91A2BB"/>
                </a:solidFill>
                <a:latin typeface="Inter" pitchFamily="34" charset="0"/>
                <a:ea typeface="Inter" pitchFamily="34" charset="-122"/>
                <a:cs typeface="Inter" pitchFamily="34" charset="-120"/>
              </a:rPr>
              <a:t>REFLEXAI  /  SAMSUNG PRISM 2026</a:t>
            </a:r>
            <a:endParaRPr lang="en-US" sz="850" dirty="0"/>
          </a:p>
        </p:txBody>
      </p:sp>
      <p:sp>
        <p:nvSpPr>
          <p:cNvPr id="9" name="Text 6"/>
          <p:cNvSpPr/>
          <p:nvPr/>
        </p:nvSpPr>
        <p:spPr>
          <a:xfrm>
            <a:off x="10332720" y="6492240"/>
            <a:ext cx="1216152" cy="182880"/>
          </a:xfrm>
          <a:prstGeom prst="rect">
            <a:avLst/>
          </a:prstGeom>
          <a:noFill/>
          <a:ln/>
        </p:spPr>
        <p:txBody>
          <a:bodyPr wrap="square" lIns="0" tIns="0" rIns="0" bIns="0" rtlCol="0" anchor="ctr">
            <a:spAutoFit/>
          </a:bodyPr>
          <a:lstStyle/>
          <a:p>
            <a:pPr marL="0" indent="0" algn="r">
              <a:buNone/>
            </a:pPr>
            <a:r>
              <a:rPr lang="en-US" sz="1000" kern="0" spc="100" dirty="0">
                <a:solidFill>
                  <a:srgbClr val="91A2BB"/>
                </a:solidFill>
                <a:latin typeface="Inter" pitchFamily="34" charset="0"/>
                <a:ea typeface="Inter" pitchFamily="34" charset="-122"/>
                <a:cs typeface="Inter" pitchFamily="34" charset="-120"/>
              </a:rPr>
              <a:t>02 / 08</a:t>
            </a:r>
            <a:endParaRPr lang="en-US" sz="1000" dirty="0"/>
          </a:p>
        </p:txBody>
      </p:sp>
      <p:sp>
        <p:nvSpPr>
          <p:cNvPr id="10" name="Text 7"/>
          <p:cNvSpPr/>
          <p:nvPr/>
        </p:nvSpPr>
        <p:spPr>
          <a:xfrm>
            <a:off x="621792" y="914400"/>
            <a:ext cx="10972800" cy="1115568"/>
          </a:xfrm>
          <a:prstGeom prst="rect">
            <a:avLst/>
          </a:prstGeom>
          <a:noFill/>
          <a:ln/>
        </p:spPr>
        <p:txBody>
          <a:bodyPr wrap="square" lIns="0" tIns="0" rIns="0" bIns="0" rtlCol="0" anchor="ctr">
            <a:spAutoFit/>
          </a:bodyPr>
          <a:lstStyle/>
          <a:p>
            <a:pPr marL="0" indent="0">
              <a:buNone/>
            </a:pPr>
            <a:r>
              <a:rPr lang="en-US" sz="4200" dirty="0">
                <a:solidFill>
                  <a:srgbClr val="F1F6FF"/>
                </a:solidFill>
                <a:latin typeface="Inter Display" pitchFamily="34" charset="0"/>
                <a:ea typeface="Inter Display" pitchFamily="34" charset="-122"/>
                <a:cs typeface="Inter Display" pitchFamily="34" charset="-120"/>
              </a:rPr>
              <a:t>Stopping speech is not</a:t>
            </a:r>
            <a:endParaRPr lang="en-US" sz="4200" dirty="0"/>
          </a:p>
          <a:p>
            <a:pPr marL="0" indent="0">
              <a:buNone/>
            </a:pPr>
            <a:r>
              <a:rPr lang="en-US" sz="4200" dirty="0">
                <a:solidFill>
                  <a:srgbClr val="F1F6FF"/>
                </a:solidFill>
                <a:latin typeface="Inter Display" pitchFamily="34" charset="0"/>
                <a:ea typeface="Inter Display" pitchFamily="34" charset="-122"/>
                <a:cs typeface="Inter Display" pitchFamily="34" charset="-120"/>
              </a:rPr>
              <a:t>stopping an action.</a:t>
            </a:r>
            <a:endParaRPr lang="en-US" sz="4200" dirty="0"/>
          </a:p>
        </p:txBody>
      </p:sp>
      <p:sp>
        <p:nvSpPr>
          <p:cNvPr id="11" name="Text 8"/>
          <p:cNvSpPr/>
          <p:nvPr/>
        </p:nvSpPr>
        <p:spPr>
          <a:xfrm>
            <a:off x="667512" y="2450592"/>
            <a:ext cx="3657600" cy="201168"/>
          </a:xfrm>
          <a:prstGeom prst="rect">
            <a:avLst/>
          </a:prstGeom>
          <a:noFill/>
          <a:ln/>
        </p:spPr>
        <p:txBody>
          <a:bodyPr wrap="square" lIns="0" tIns="0" rIns="0" bIns="0" rtlCol="0" anchor="ctr">
            <a:spAutoFit/>
          </a:bodyPr>
          <a:lstStyle/>
          <a:p>
            <a:pPr marL="0" indent="0">
              <a:buNone/>
            </a:pPr>
            <a:r>
              <a:rPr lang="en-US" sz="1050" b="1" kern="0" spc="140" dirty="0">
                <a:solidFill>
                  <a:srgbClr val="87BFFF"/>
                </a:solidFill>
                <a:latin typeface="Inter" pitchFamily="34" charset="0"/>
                <a:ea typeface="Inter" pitchFamily="34" charset="-122"/>
                <a:cs typeface="Inter" pitchFamily="34" charset="-120"/>
              </a:rPr>
              <a:t>ILLUSTRATIVE REQUEST</a:t>
            </a:r>
            <a:endParaRPr lang="en-US" sz="1050" dirty="0"/>
          </a:p>
        </p:txBody>
      </p:sp>
      <p:sp>
        <p:nvSpPr>
          <p:cNvPr id="12" name="Text 9"/>
          <p:cNvSpPr/>
          <p:nvPr/>
        </p:nvSpPr>
        <p:spPr>
          <a:xfrm>
            <a:off x="658368" y="2816352"/>
            <a:ext cx="6766560" cy="594360"/>
          </a:xfrm>
          <a:prstGeom prst="rect">
            <a:avLst/>
          </a:prstGeom>
          <a:noFill/>
          <a:ln/>
        </p:spPr>
        <p:txBody>
          <a:bodyPr wrap="square" lIns="0" tIns="0" rIns="0" bIns="0" rtlCol="0" anchor="ctr">
            <a:spAutoFit/>
          </a:bodyPr>
          <a:lstStyle/>
          <a:p>
            <a:pPr marL="0" indent="0">
              <a:buNone/>
            </a:pPr>
            <a:r>
              <a:rPr lang="en-US" sz="3200" dirty="0">
                <a:solidFill>
                  <a:srgbClr val="F1F6FF"/>
                </a:solidFill>
                <a:latin typeface="Inter Display" pitchFamily="34" charset="0"/>
                <a:ea typeface="Inter Display" pitchFamily="34" charset="-122"/>
                <a:cs typeface="Inter Display" pitchFamily="34" charset="-120"/>
              </a:rPr>
              <a:t>“Add two. Actually, one.”</a:t>
            </a:r>
            <a:endParaRPr lang="en-US" sz="3200" dirty="0"/>
          </a:p>
        </p:txBody>
      </p:sp>
      <p:sp>
        <p:nvSpPr>
          <p:cNvPr id="13" name="Text 10"/>
          <p:cNvSpPr/>
          <p:nvPr/>
        </p:nvSpPr>
        <p:spPr>
          <a:xfrm>
            <a:off x="8705088" y="2587752"/>
            <a:ext cx="2286000" cy="201168"/>
          </a:xfrm>
          <a:prstGeom prst="rect">
            <a:avLst/>
          </a:prstGeom>
          <a:noFill/>
          <a:ln/>
        </p:spPr>
        <p:txBody>
          <a:bodyPr wrap="square" lIns="0" tIns="0" rIns="0" bIns="0" rtlCol="0" anchor="ctr">
            <a:spAutoFit/>
          </a:bodyPr>
          <a:lstStyle/>
          <a:p>
            <a:pPr marL="0" indent="0">
              <a:buNone/>
            </a:pPr>
            <a:r>
              <a:rPr lang="en-US" sz="1050" b="1" kern="0" spc="140" dirty="0">
                <a:solidFill>
                  <a:srgbClr val="91A2BB"/>
                </a:solidFill>
                <a:latin typeface="Inter" pitchFamily="34" charset="0"/>
                <a:ea typeface="Inter" pitchFamily="34" charset="-122"/>
                <a:cs typeface="Inter" pitchFamily="34" charset="-120"/>
              </a:rPr>
              <a:t>LATEST INTENT</a:t>
            </a:r>
            <a:endParaRPr lang="en-US" sz="1050" dirty="0"/>
          </a:p>
        </p:txBody>
      </p:sp>
      <p:sp>
        <p:nvSpPr>
          <p:cNvPr id="14" name="Text 11"/>
          <p:cNvSpPr/>
          <p:nvPr/>
        </p:nvSpPr>
        <p:spPr>
          <a:xfrm>
            <a:off x="9180576" y="2862072"/>
            <a:ext cx="1828800" cy="1042416"/>
          </a:xfrm>
          <a:prstGeom prst="rect">
            <a:avLst/>
          </a:prstGeom>
          <a:noFill/>
          <a:ln/>
        </p:spPr>
        <p:txBody>
          <a:bodyPr wrap="square" lIns="0" tIns="0" rIns="0" bIns="0" rtlCol="0" anchor="ctr">
            <a:spAutoFit/>
          </a:bodyPr>
          <a:lstStyle/>
          <a:p>
            <a:pPr marL="0" indent="0">
              <a:buNone/>
            </a:pPr>
            <a:r>
              <a:rPr lang="en-US" sz="7700" dirty="0">
                <a:solidFill>
                  <a:srgbClr val="87BFFF"/>
                </a:solidFill>
                <a:latin typeface="Inter Display" pitchFamily="34" charset="0"/>
                <a:ea typeface="Inter Display" pitchFamily="34" charset="-122"/>
                <a:cs typeface="Inter Display" pitchFamily="34" charset="-120"/>
              </a:rPr>
              <a:t>1</a:t>
            </a:r>
            <a:endParaRPr lang="en-US" sz="7700" dirty="0"/>
          </a:p>
        </p:txBody>
      </p:sp>
      <p:sp>
        <p:nvSpPr>
          <p:cNvPr id="15" name="Shape 12"/>
          <p:cNvSpPr/>
          <p:nvPr/>
        </p:nvSpPr>
        <p:spPr>
          <a:xfrm>
            <a:off x="704088" y="3858768"/>
            <a:ext cx="7379208" cy="0"/>
          </a:xfrm>
          <a:prstGeom prst="line">
            <a:avLst/>
          </a:prstGeom>
          <a:noFill/>
          <a:ln w="25400">
            <a:solidFill>
              <a:srgbClr val="263750"/>
            </a:solidFill>
            <a:prstDash val="solid"/>
          </a:ln>
        </p:spPr>
      </p:sp>
      <p:sp>
        <p:nvSpPr>
          <p:cNvPr id="16" name="Shape 13"/>
          <p:cNvSpPr/>
          <p:nvPr/>
        </p:nvSpPr>
        <p:spPr>
          <a:xfrm>
            <a:off x="708660" y="3808476"/>
            <a:ext cx="100584" cy="100584"/>
          </a:xfrm>
          <a:prstGeom prst="ellipse">
            <a:avLst/>
          </a:prstGeom>
          <a:solidFill>
            <a:srgbClr val="91A2BB"/>
          </a:solidFill>
          <a:ln w="12700">
            <a:solidFill>
              <a:srgbClr val="91A2BB"/>
            </a:solidFill>
            <a:prstDash val="solid"/>
          </a:ln>
        </p:spPr>
      </p:sp>
      <p:sp>
        <p:nvSpPr>
          <p:cNvPr id="17" name="Shape 14"/>
          <p:cNvSpPr/>
          <p:nvPr/>
        </p:nvSpPr>
        <p:spPr>
          <a:xfrm>
            <a:off x="3771900" y="3808476"/>
            <a:ext cx="100584" cy="100584"/>
          </a:xfrm>
          <a:prstGeom prst="ellipse">
            <a:avLst/>
          </a:prstGeom>
          <a:solidFill>
            <a:srgbClr val="87BFFF"/>
          </a:solidFill>
          <a:ln w="12700">
            <a:solidFill>
              <a:srgbClr val="87BFFF"/>
            </a:solidFill>
            <a:prstDash val="solid"/>
          </a:ln>
        </p:spPr>
      </p:sp>
      <p:sp>
        <p:nvSpPr>
          <p:cNvPr id="18" name="Shape 15"/>
          <p:cNvSpPr/>
          <p:nvPr/>
        </p:nvSpPr>
        <p:spPr>
          <a:xfrm>
            <a:off x="7978140" y="3799332"/>
            <a:ext cx="118872" cy="118872"/>
          </a:xfrm>
          <a:prstGeom prst="ellipse">
            <a:avLst/>
          </a:prstGeom>
          <a:solidFill>
            <a:srgbClr val="87BFFF"/>
          </a:solidFill>
          <a:ln w="12700">
            <a:solidFill>
              <a:srgbClr val="87BFFF"/>
            </a:solidFill>
            <a:prstDash val="solid"/>
          </a:ln>
        </p:spPr>
      </p:sp>
      <p:sp>
        <p:nvSpPr>
          <p:cNvPr id="19" name="Text 16"/>
          <p:cNvSpPr/>
          <p:nvPr/>
        </p:nvSpPr>
        <p:spPr>
          <a:xfrm>
            <a:off x="704088" y="4050792"/>
            <a:ext cx="2834640" cy="201168"/>
          </a:xfrm>
          <a:prstGeom prst="rect">
            <a:avLst/>
          </a:prstGeom>
          <a:noFill/>
          <a:ln/>
        </p:spPr>
        <p:txBody>
          <a:bodyPr wrap="square" lIns="0" tIns="0" rIns="0" bIns="0" rtlCol="0" anchor="ctr">
            <a:spAutoFit/>
          </a:bodyPr>
          <a:lstStyle/>
          <a:p>
            <a:pPr marL="0" indent="0">
              <a:buNone/>
            </a:pPr>
            <a:r>
              <a:rPr lang="en-US" sz="1100" kern="0" spc="80" dirty="0">
                <a:solidFill>
                  <a:srgbClr val="91A2BB"/>
                </a:solidFill>
                <a:latin typeface="Inter" pitchFamily="34" charset="0"/>
                <a:ea typeface="Inter" pitchFamily="34" charset="-122"/>
                <a:cs typeface="Inter" pitchFamily="34" charset="-120"/>
              </a:rPr>
              <a:t>PROPOSED: 2</a:t>
            </a:r>
            <a:endParaRPr lang="en-US" sz="1100" dirty="0"/>
          </a:p>
        </p:txBody>
      </p:sp>
      <p:sp>
        <p:nvSpPr>
          <p:cNvPr id="20" name="Text 17"/>
          <p:cNvSpPr/>
          <p:nvPr/>
        </p:nvSpPr>
        <p:spPr>
          <a:xfrm>
            <a:off x="3246120" y="4050792"/>
            <a:ext cx="3108960" cy="201168"/>
          </a:xfrm>
          <a:prstGeom prst="rect">
            <a:avLst/>
          </a:prstGeom>
          <a:noFill/>
          <a:ln/>
        </p:spPr>
        <p:txBody>
          <a:bodyPr wrap="square" lIns="0" tIns="0" rIns="0" bIns="0" rtlCol="0" anchor="ctr">
            <a:spAutoFit/>
          </a:bodyPr>
          <a:lstStyle/>
          <a:p>
            <a:pPr marL="0" indent="0">
              <a:buNone/>
            </a:pPr>
            <a:r>
              <a:rPr lang="en-US" sz="1100" kern="0" spc="80" dirty="0">
                <a:solidFill>
                  <a:srgbClr val="87BFFF"/>
                </a:solidFill>
                <a:latin typeface="Inter" pitchFamily="34" charset="0"/>
                <a:ea typeface="Inter" pitchFamily="34" charset="-122"/>
                <a:cs typeface="Inter" pitchFamily="34" charset="-120"/>
              </a:rPr>
              <a:t>CORRECTION ARRIVES</a:t>
            </a:r>
            <a:endParaRPr lang="en-US" sz="1100" dirty="0"/>
          </a:p>
        </p:txBody>
      </p:sp>
      <p:sp>
        <p:nvSpPr>
          <p:cNvPr id="21" name="Text 18"/>
          <p:cNvSpPr/>
          <p:nvPr/>
        </p:nvSpPr>
        <p:spPr>
          <a:xfrm>
            <a:off x="6711696" y="4050792"/>
            <a:ext cx="1920240" cy="201168"/>
          </a:xfrm>
          <a:prstGeom prst="rect">
            <a:avLst/>
          </a:prstGeom>
          <a:noFill/>
          <a:ln/>
        </p:spPr>
        <p:txBody>
          <a:bodyPr wrap="square" lIns="0" tIns="0" rIns="0" bIns="0" rtlCol="0" anchor="ctr">
            <a:spAutoFit/>
          </a:bodyPr>
          <a:lstStyle/>
          <a:p>
            <a:pPr marL="0" indent="0" algn="r">
              <a:buNone/>
            </a:pPr>
            <a:r>
              <a:rPr lang="en-US" sz="1100" kern="0" spc="80" dirty="0">
                <a:solidFill>
                  <a:srgbClr val="F1F6FF"/>
                </a:solidFill>
                <a:latin typeface="Inter" pitchFamily="34" charset="0"/>
                <a:ea typeface="Inter" pitchFamily="34" charset="-122"/>
                <a:cs typeface="Inter" pitchFamily="34" charset="-120"/>
              </a:rPr>
              <a:t>ADMIT: 1</a:t>
            </a:r>
            <a:endParaRPr lang="en-US" sz="1100" dirty="0"/>
          </a:p>
        </p:txBody>
      </p:sp>
      <p:sp>
        <p:nvSpPr>
          <p:cNvPr id="22" name="Shape 19"/>
          <p:cNvSpPr/>
          <p:nvPr/>
        </p:nvSpPr>
        <p:spPr>
          <a:xfrm>
            <a:off x="667512" y="4709160"/>
            <a:ext cx="3383280" cy="0"/>
          </a:xfrm>
          <a:prstGeom prst="line">
            <a:avLst/>
          </a:prstGeom>
          <a:noFill/>
          <a:ln w="12700">
            <a:solidFill>
              <a:srgbClr val="263750"/>
            </a:solidFill>
            <a:prstDash val="solid"/>
          </a:ln>
        </p:spPr>
      </p:sp>
      <p:sp>
        <p:nvSpPr>
          <p:cNvPr id="23" name="Text 20"/>
          <p:cNvSpPr/>
          <p:nvPr/>
        </p:nvSpPr>
        <p:spPr>
          <a:xfrm>
            <a:off x="667512" y="4965192"/>
            <a:ext cx="3419856" cy="329184"/>
          </a:xfrm>
          <a:prstGeom prst="rect">
            <a:avLst/>
          </a:prstGeom>
          <a:noFill/>
          <a:ln/>
        </p:spPr>
        <p:txBody>
          <a:bodyPr wrap="square" lIns="0" tIns="0" rIns="0" bIns="0" rtlCol="0" anchor="ctr">
            <a:spAutoFit/>
          </a:bodyPr>
          <a:lstStyle/>
          <a:p>
            <a:pPr marL="0" indent="0">
              <a:buNone/>
            </a:pPr>
            <a:r>
              <a:rPr lang="en-US" sz="1800" b="1" dirty="0">
                <a:solidFill>
                  <a:srgbClr val="F1F6FF"/>
                </a:solidFill>
                <a:latin typeface="Inter" pitchFamily="34" charset="0"/>
                <a:ea typeface="Inter" pitchFamily="34" charset="-122"/>
                <a:cs typeface="Inter" pitchFamily="34" charset="-120"/>
              </a:rPr>
              <a:t>Keep valid context</a:t>
            </a:r>
            <a:endParaRPr lang="en-US" sz="1800" dirty="0"/>
          </a:p>
        </p:txBody>
      </p:sp>
      <p:sp>
        <p:nvSpPr>
          <p:cNvPr id="24" name="Text 21"/>
          <p:cNvSpPr/>
          <p:nvPr/>
        </p:nvSpPr>
        <p:spPr>
          <a:xfrm>
            <a:off x="667512" y="5477256"/>
            <a:ext cx="3383280" cy="539496"/>
          </a:xfrm>
          <a:prstGeom prst="rect">
            <a:avLst/>
          </a:prstGeom>
          <a:noFill/>
          <a:ln/>
        </p:spPr>
        <p:txBody>
          <a:bodyPr wrap="square" lIns="0" tIns="0" rIns="0" bIns="0" rtlCol="0" anchor="ctr">
            <a:spAutoFit/>
          </a:bodyPr>
          <a:lstStyle/>
          <a:p>
            <a:pPr marL="0" indent="0">
              <a:buNone/>
            </a:pPr>
            <a:r>
              <a:rPr lang="en-US" sz="1400" dirty="0">
                <a:solidFill>
                  <a:srgbClr val="BAC8DD"/>
                </a:solidFill>
                <a:latin typeface="Inter" pitchFamily="34" charset="0"/>
                <a:ea typeface="Inter" pitchFamily="34" charset="-122"/>
                <a:cs typeface="Inter" pitchFamily="34" charset="-120"/>
              </a:rPr>
              <a:t>A correction does not require</a:t>
            </a:r>
            <a:endParaRPr lang="en-US" sz="1400" dirty="0"/>
          </a:p>
          <a:p>
            <a:pPr marL="0" indent="0">
              <a:buNone/>
            </a:pPr>
            <a:r>
              <a:rPr lang="en-US" sz="1400" dirty="0">
                <a:solidFill>
                  <a:srgbClr val="BAC8DD"/>
                </a:solidFill>
                <a:latin typeface="Inter" pitchFamily="34" charset="0"/>
                <a:ea typeface="Inter" pitchFamily="34" charset="-122"/>
                <a:cs typeface="Inter" pitchFamily="34" charset="-120"/>
              </a:rPr>
              <a:t>throwing away the whole task.</a:t>
            </a:r>
            <a:endParaRPr lang="en-US" sz="1400" dirty="0"/>
          </a:p>
        </p:txBody>
      </p:sp>
      <p:sp>
        <p:nvSpPr>
          <p:cNvPr id="25" name="Shape 22"/>
          <p:cNvSpPr/>
          <p:nvPr/>
        </p:nvSpPr>
        <p:spPr>
          <a:xfrm>
            <a:off x="4398264" y="4709160"/>
            <a:ext cx="3383280" cy="0"/>
          </a:xfrm>
          <a:prstGeom prst="line">
            <a:avLst/>
          </a:prstGeom>
          <a:noFill/>
          <a:ln w="12700">
            <a:solidFill>
              <a:srgbClr val="263750"/>
            </a:solidFill>
            <a:prstDash val="solid"/>
          </a:ln>
        </p:spPr>
      </p:sp>
      <p:sp>
        <p:nvSpPr>
          <p:cNvPr id="26" name="Text 23"/>
          <p:cNvSpPr/>
          <p:nvPr/>
        </p:nvSpPr>
        <p:spPr>
          <a:xfrm>
            <a:off x="4398264" y="4965192"/>
            <a:ext cx="3419856" cy="329184"/>
          </a:xfrm>
          <a:prstGeom prst="rect">
            <a:avLst/>
          </a:prstGeom>
          <a:noFill/>
          <a:ln/>
        </p:spPr>
        <p:txBody>
          <a:bodyPr wrap="square" lIns="0" tIns="0" rIns="0" bIns="0" rtlCol="0" anchor="ctr">
            <a:spAutoFit/>
          </a:bodyPr>
          <a:lstStyle/>
          <a:p>
            <a:pPr marL="0" indent="0">
              <a:buNone/>
            </a:pPr>
            <a:r>
              <a:rPr lang="en-US" sz="1800" b="1" dirty="0">
                <a:solidFill>
                  <a:srgbClr val="F1F6FF"/>
                </a:solidFill>
                <a:latin typeface="Inter" pitchFamily="34" charset="0"/>
                <a:ea typeface="Inter" pitchFamily="34" charset="-122"/>
                <a:cs typeface="Inter" pitchFamily="34" charset="-120"/>
              </a:rPr>
              <a:t>Reject stale work</a:t>
            </a:r>
            <a:endParaRPr lang="en-US" sz="1800" dirty="0"/>
          </a:p>
        </p:txBody>
      </p:sp>
      <p:sp>
        <p:nvSpPr>
          <p:cNvPr id="27" name="Text 24"/>
          <p:cNvSpPr/>
          <p:nvPr/>
        </p:nvSpPr>
        <p:spPr>
          <a:xfrm>
            <a:off x="4398264" y="5477256"/>
            <a:ext cx="3383280" cy="539496"/>
          </a:xfrm>
          <a:prstGeom prst="rect">
            <a:avLst/>
          </a:prstGeom>
          <a:noFill/>
          <a:ln/>
        </p:spPr>
        <p:txBody>
          <a:bodyPr wrap="square" lIns="0" tIns="0" rIns="0" bIns="0" rtlCol="0" anchor="ctr">
            <a:spAutoFit/>
          </a:bodyPr>
          <a:lstStyle/>
          <a:p>
            <a:pPr marL="0" indent="0">
              <a:buNone/>
            </a:pPr>
            <a:r>
              <a:rPr lang="en-US" sz="1400" dirty="0">
                <a:solidFill>
                  <a:srgbClr val="BAC8DD"/>
                </a:solidFill>
                <a:latin typeface="Inter" pitchFamily="34" charset="0"/>
                <a:ea typeface="Inter" pitchFamily="34" charset="-122"/>
                <a:cs typeface="Inter" pitchFamily="34" charset="-120"/>
              </a:rPr>
              <a:t>Old intent cannot authorize</a:t>
            </a:r>
            <a:endParaRPr lang="en-US" sz="1400" dirty="0"/>
          </a:p>
          <a:p>
            <a:pPr marL="0" indent="0">
              <a:buNone/>
            </a:pPr>
            <a:r>
              <a:rPr lang="en-US" sz="1400" dirty="0">
                <a:solidFill>
                  <a:srgbClr val="BAC8DD"/>
                </a:solidFill>
                <a:latin typeface="Inter" pitchFamily="34" charset="0"/>
                <a:ea typeface="Inter" pitchFamily="34" charset="-122"/>
                <a:cs typeface="Inter" pitchFamily="34" charset="-120"/>
              </a:rPr>
              <a:t>a new tool dispatch.</a:t>
            </a:r>
            <a:endParaRPr lang="en-US" sz="1400" dirty="0"/>
          </a:p>
        </p:txBody>
      </p:sp>
      <p:sp>
        <p:nvSpPr>
          <p:cNvPr id="28" name="Shape 25"/>
          <p:cNvSpPr/>
          <p:nvPr/>
        </p:nvSpPr>
        <p:spPr>
          <a:xfrm>
            <a:off x="8129016" y="4709160"/>
            <a:ext cx="3383280" cy="0"/>
          </a:xfrm>
          <a:prstGeom prst="line">
            <a:avLst/>
          </a:prstGeom>
          <a:noFill/>
          <a:ln w="12700">
            <a:solidFill>
              <a:srgbClr val="263750"/>
            </a:solidFill>
            <a:prstDash val="solid"/>
          </a:ln>
        </p:spPr>
      </p:sp>
      <p:sp>
        <p:nvSpPr>
          <p:cNvPr id="29" name="Text 26"/>
          <p:cNvSpPr/>
          <p:nvPr/>
        </p:nvSpPr>
        <p:spPr>
          <a:xfrm>
            <a:off x="8129016" y="4965192"/>
            <a:ext cx="3419856" cy="329184"/>
          </a:xfrm>
          <a:prstGeom prst="rect">
            <a:avLst/>
          </a:prstGeom>
          <a:noFill/>
          <a:ln/>
        </p:spPr>
        <p:txBody>
          <a:bodyPr wrap="square" lIns="0" tIns="0" rIns="0" bIns="0" rtlCol="0" anchor="ctr">
            <a:spAutoFit/>
          </a:bodyPr>
          <a:lstStyle/>
          <a:p>
            <a:pPr marL="0" indent="0">
              <a:buNone/>
            </a:pPr>
            <a:r>
              <a:rPr lang="en-US" sz="1800" b="1" dirty="0">
                <a:solidFill>
                  <a:srgbClr val="F1F6FF"/>
                </a:solidFill>
                <a:latin typeface="Inter" pitchFamily="34" charset="0"/>
                <a:ea typeface="Inter" pitchFamily="34" charset="-122"/>
                <a:cs typeface="Inter" pitchFamily="34" charset="-120"/>
              </a:rPr>
              <a:t>Account for effects</a:t>
            </a:r>
            <a:endParaRPr lang="en-US" sz="1800" dirty="0"/>
          </a:p>
        </p:txBody>
      </p:sp>
      <p:sp>
        <p:nvSpPr>
          <p:cNvPr id="30" name="Text 27"/>
          <p:cNvSpPr/>
          <p:nvPr/>
        </p:nvSpPr>
        <p:spPr>
          <a:xfrm>
            <a:off x="8129016" y="5477256"/>
            <a:ext cx="3383280" cy="539496"/>
          </a:xfrm>
          <a:prstGeom prst="rect">
            <a:avLst/>
          </a:prstGeom>
          <a:noFill/>
          <a:ln/>
        </p:spPr>
        <p:txBody>
          <a:bodyPr wrap="square" lIns="0" tIns="0" rIns="0" bIns="0" rtlCol="0" anchor="ctr">
            <a:spAutoFit/>
          </a:bodyPr>
          <a:lstStyle/>
          <a:p>
            <a:pPr marL="0" indent="0">
              <a:buNone/>
            </a:pPr>
            <a:r>
              <a:rPr lang="en-US" sz="1400" dirty="0">
                <a:solidFill>
                  <a:srgbClr val="BAC8DD"/>
                </a:solidFill>
                <a:latin typeface="Inter" pitchFamily="34" charset="0"/>
                <a:ea typeface="Inter" pitchFamily="34" charset="-122"/>
                <a:cs typeface="Inter" pitchFamily="34" charset="-120"/>
              </a:rPr>
              <a:t>An interruption cannot pretend</a:t>
            </a:r>
            <a:endParaRPr lang="en-US" sz="1400" dirty="0"/>
          </a:p>
          <a:p>
            <a:pPr marL="0" indent="0">
              <a:buNone/>
            </a:pPr>
            <a:r>
              <a:rPr lang="en-US" sz="1400" dirty="0">
                <a:solidFill>
                  <a:srgbClr val="BAC8DD"/>
                </a:solidFill>
                <a:latin typeface="Inter" pitchFamily="34" charset="0"/>
                <a:ea typeface="Inter" pitchFamily="34" charset="-122"/>
                <a:cs typeface="Inter" pitchFamily="34" charset="-120"/>
              </a:rPr>
              <a:t>an action already sent never happened.</a:t>
            </a:r>
            <a:endParaRPr lang="en-US" sz="1400" dirty="0"/>
          </a:p>
        </p:txBody>
      </p:sp>
      <p:sp>
        <p:nvSpPr>
          <p:cNvPr id="31" name="Text 28">
            <a:hlinkClick r:id="rId4"/>
          </p:cNvPr>
          <p:cNvSpPr/>
          <p:nvPr/>
        </p:nvSpPr>
        <p:spPr>
          <a:xfrm>
            <a:off x="6400800" y="6505956"/>
            <a:ext cx="3703320" cy="146304"/>
          </a:xfrm>
          <a:prstGeom prst="rect">
            <a:avLst/>
          </a:prstGeom>
          <a:noFill/>
          <a:ln/>
        </p:spPr>
        <p:txBody>
          <a:bodyPr wrap="square" lIns="0" tIns="0" rIns="0" bIns="0" rtlCol="0" anchor="ctr">
            <a:spAutoFit/>
          </a:bodyPr>
          <a:lstStyle/>
          <a:p>
            <a:pPr marL="0" indent="0" algn="r">
              <a:buNone/>
            </a:pPr>
            <a:r>
              <a:rPr lang="en-US" sz="820" u="sng" dirty="0">
                <a:solidFill>
                  <a:srgbClr val="91A2BB"/>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Architecture &amp; correction semantics</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thread_deck_work/assets/plain-bg.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21792" y="393192"/>
            <a:ext cx="1828800" cy="201168"/>
          </a:xfrm>
          <a:prstGeom prst="rect">
            <a:avLst/>
          </a:prstGeom>
          <a:noFill/>
          <a:ln/>
        </p:spPr>
        <p:txBody>
          <a:bodyPr wrap="square" lIns="0" tIns="0" rIns="0" bIns="0" rtlCol="0" anchor="ctr">
            <a:spAutoFit/>
          </a:bodyPr>
          <a:lstStyle/>
          <a:p>
            <a:pPr marL="0" indent="0">
              <a:buNone/>
            </a:pPr>
            <a:r>
              <a:rPr lang="en-US" sz="1100" b="1" kern="0" spc="130" dirty="0">
                <a:solidFill>
                  <a:srgbClr val="F1F6FF"/>
                </a:solidFill>
                <a:latin typeface="Inter" pitchFamily="34" charset="0"/>
                <a:ea typeface="Inter" pitchFamily="34" charset="-122"/>
                <a:cs typeface="Inter" pitchFamily="34" charset="-120"/>
              </a:rPr>
              <a:t>T H R E A D</a:t>
            </a:r>
            <a:endParaRPr lang="en-US" sz="1100" dirty="0"/>
          </a:p>
        </p:txBody>
      </p:sp>
      <p:sp>
        <p:nvSpPr>
          <p:cNvPr id="4" name="Text 1"/>
          <p:cNvSpPr/>
          <p:nvPr/>
        </p:nvSpPr>
        <p:spPr>
          <a:xfrm>
            <a:off x="6400800" y="411480"/>
            <a:ext cx="5148072" cy="182880"/>
          </a:xfrm>
          <a:prstGeom prst="rect">
            <a:avLst/>
          </a:prstGeom>
          <a:noFill/>
          <a:ln/>
        </p:spPr>
        <p:txBody>
          <a:bodyPr wrap="square" lIns="0" tIns="0" rIns="0" bIns="0" rtlCol="0" anchor="ctr">
            <a:spAutoFit/>
          </a:bodyPr>
          <a:lstStyle/>
          <a:p>
            <a:pPr marL="0" indent="0" algn="r">
              <a:buNone/>
            </a:pPr>
            <a:r>
              <a:rPr lang="en-US" sz="1000" kern="0" spc="150" dirty="0">
                <a:solidFill>
                  <a:srgbClr val="91A2BB"/>
                </a:solidFill>
                <a:latin typeface="Inter" pitchFamily="34" charset="0"/>
                <a:ea typeface="Inter" pitchFamily="34" charset="-122"/>
                <a:cs typeface="Inter" pitchFamily="34" charset="-120"/>
              </a:rPr>
              <a:t>ARCHITECTURE / SELECTED LOCAL-MODEL PATH</a:t>
            </a:r>
            <a:endParaRPr lang="en-US" sz="1000" dirty="0"/>
          </a:p>
        </p:txBody>
      </p:sp>
      <p:sp>
        <p:nvSpPr>
          <p:cNvPr id="5" name="Shape 2"/>
          <p:cNvSpPr/>
          <p:nvPr/>
        </p:nvSpPr>
        <p:spPr>
          <a:xfrm>
            <a:off x="621792" y="6382512"/>
            <a:ext cx="10945368" cy="0"/>
          </a:xfrm>
          <a:prstGeom prst="line">
            <a:avLst/>
          </a:prstGeom>
          <a:noFill/>
          <a:ln w="8890">
            <a:solidFill>
              <a:srgbClr val="263750"/>
            </a:solidFill>
            <a:prstDash val="solid"/>
          </a:ln>
        </p:spPr>
      </p:sp>
      <p:sp>
        <p:nvSpPr>
          <p:cNvPr id="6" name="Shape 3"/>
          <p:cNvSpPr/>
          <p:nvPr/>
        </p:nvSpPr>
        <p:spPr>
          <a:xfrm>
            <a:off x="621792" y="6382512"/>
            <a:ext cx="192024" cy="0"/>
          </a:xfrm>
          <a:prstGeom prst="line">
            <a:avLst/>
          </a:prstGeom>
          <a:noFill/>
          <a:ln w="22860">
            <a:solidFill>
              <a:srgbClr val="87BFFF"/>
            </a:solidFill>
            <a:prstDash val="solid"/>
          </a:ln>
        </p:spPr>
      </p:sp>
      <p:sp>
        <p:nvSpPr>
          <p:cNvPr id="7" name="Shape 4"/>
          <p:cNvSpPr/>
          <p:nvPr/>
        </p:nvSpPr>
        <p:spPr>
          <a:xfrm>
            <a:off x="896112" y="6382512"/>
            <a:ext cx="192024" cy="0"/>
          </a:xfrm>
          <a:prstGeom prst="line">
            <a:avLst/>
          </a:prstGeom>
          <a:noFill/>
          <a:ln w="22860">
            <a:solidFill>
              <a:srgbClr val="87BFFF"/>
            </a:solidFill>
            <a:prstDash val="solid"/>
          </a:ln>
        </p:spPr>
      </p:sp>
      <p:sp>
        <p:nvSpPr>
          <p:cNvPr id="8" name="Shape 5"/>
          <p:cNvSpPr/>
          <p:nvPr/>
        </p:nvSpPr>
        <p:spPr>
          <a:xfrm>
            <a:off x="1170432" y="6382512"/>
            <a:ext cx="192024" cy="0"/>
          </a:xfrm>
          <a:prstGeom prst="line">
            <a:avLst/>
          </a:prstGeom>
          <a:noFill/>
          <a:ln w="22860">
            <a:solidFill>
              <a:srgbClr val="87BFFF"/>
            </a:solidFill>
            <a:prstDash val="solid"/>
          </a:ln>
        </p:spPr>
      </p:sp>
      <p:sp>
        <p:nvSpPr>
          <p:cNvPr id="9" name="Text 6"/>
          <p:cNvSpPr/>
          <p:nvPr/>
        </p:nvSpPr>
        <p:spPr>
          <a:xfrm>
            <a:off x="621792" y="6519672"/>
            <a:ext cx="5303520" cy="128016"/>
          </a:xfrm>
          <a:prstGeom prst="rect">
            <a:avLst/>
          </a:prstGeom>
          <a:noFill/>
          <a:ln/>
        </p:spPr>
        <p:txBody>
          <a:bodyPr wrap="square" lIns="0" tIns="0" rIns="0" bIns="0" rtlCol="0" anchor="ctr">
            <a:spAutoFit/>
          </a:bodyPr>
          <a:lstStyle/>
          <a:p>
            <a:pPr marL="0" indent="0">
              <a:buNone/>
            </a:pPr>
            <a:r>
              <a:rPr lang="en-US" sz="850" kern="0" spc="70" dirty="0">
                <a:solidFill>
                  <a:srgbClr val="91A2BB"/>
                </a:solidFill>
                <a:latin typeface="Inter" pitchFamily="34" charset="0"/>
                <a:ea typeface="Inter" pitchFamily="34" charset="-122"/>
                <a:cs typeface="Inter" pitchFamily="34" charset="-120"/>
              </a:rPr>
              <a:t>REFLEXAI  /  SAMSUNG PRISM 2026</a:t>
            </a:r>
            <a:endParaRPr lang="en-US" sz="850" dirty="0"/>
          </a:p>
        </p:txBody>
      </p:sp>
      <p:sp>
        <p:nvSpPr>
          <p:cNvPr id="10" name="Text 7"/>
          <p:cNvSpPr/>
          <p:nvPr/>
        </p:nvSpPr>
        <p:spPr>
          <a:xfrm>
            <a:off x="10332720" y="6492240"/>
            <a:ext cx="1216152" cy="182880"/>
          </a:xfrm>
          <a:prstGeom prst="rect">
            <a:avLst/>
          </a:prstGeom>
          <a:noFill/>
          <a:ln/>
        </p:spPr>
        <p:txBody>
          <a:bodyPr wrap="square" lIns="0" tIns="0" rIns="0" bIns="0" rtlCol="0" anchor="ctr">
            <a:spAutoFit/>
          </a:bodyPr>
          <a:lstStyle/>
          <a:p>
            <a:pPr marL="0" indent="0" algn="r">
              <a:buNone/>
            </a:pPr>
            <a:r>
              <a:rPr lang="en-US" sz="1000" kern="0" spc="100" dirty="0">
                <a:solidFill>
                  <a:srgbClr val="91A2BB"/>
                </a:solidFill>
                <a:latin typeface="Inter" pitchFamily="34" charset="0"/>
                <a:ea typeface="Inter" pitchFamily="34" charset="-122"/>
                <a:cs typeface="Inter" pitchFamily="34" charset="-120"/>
              </a:rPr>
              <a:t>03 / 08</a:t>
            </a:r>
            <a:endParaRPr lang="en-US" sz="1000" dirty="0"/>
          </a:p>
        </p:txBody>
      </p:sp>
      <p:sp>
        <p:nvSpPr>
          <p:cNvPr id="11" name="Text 8"/>
          <p:cNvSpPr/>
          <p:nvPr/>
        </p:nvSpPr>
        <p:spPr>
          <a:xfrm>
            <a:off x="621792" y="914400"/>
            <a:ext cx="10972800" cy="1115568"/>
          </a:xfrm>
          <a:prstGeom prst="rect">
            <a:avLst/>
          </a:prstGeom>
          <a:noFill/>
          <a:ln/>
        </p:spPr>
        <p:txBody>
          <a:bodyPr wrap="square" lIns="0" tIns="0" rIns="0" bIns="0" rtlCol="0" anchor="ctr">
            <a:spAutoFit/>
          </a:bodyPr>
          <a:lstStyle/>
          <a:p>
            <a:pPr marL="0" indent="0">
              <a:buNone/>
            </a:pPr>
            <a:r>
              <a:rPr lang="en-US" sz="4100" dirty="0">
                <a:solidFill>
                  <a:srgbClr val="F1F6FF"/>
                </a:solidFill>
                <a:latin typeface="Inter Display" pitchFamily="34" charset="0"/>
                <a:ea typeface="Inter Display" pitchFamily="34" charset="-122"/>
                <a:cs typeface="Inter Display" pitchFamily="34" charset="-120"/>
              </a:rPr>
              <a:t>The planner proposes.</a:t>
            </a:r>
            <a:endParaRPr lang="en-US" sz="4100" dirty="0"/>
          </a:p>
          <a:p>
            <a:pPr marL="0" indent="0">
              <a:buNone/>
            </a:pPr>
            <a:r>
              <a:rPr lang="en-US" sz="4100" dirty="0">
                <a:solidFill>
                  <a:srgbClr val="F1F6FF"/>
                </a:solidFill>
                <a:latin typeface="Inter Display" pitchFamily="34" charset="0"/>
                <a:ea typeface="Inter Display" pitchFamily="34" charset="-122"/>
                <a:cs typeface="Inter Display" pitchFamily="34" charset="-120"/>
              </a:rPr>
              <a:t>The controller authorizes.</a:t>
            </a:r>
            <a:endParaRPr lang="en-US" sz="4100" dirty="0"/>
          </a:p>
        </p:txBody>
      </p:sp>
      <p:sp>
        <p:nvSpPr>
          <p:cNvPr id="12" name="Shape 9"/>
          <p:cNvSpPr/>
          <p:nvPr/>
        </p:nvSpPr>
        <p:spPr>
          <a:xfrm>
            <a:off x="667512" y="2944368"/>
            <a:ext cx="1847088" cy="1435608"/>
          </a:xfrm>
          <a:prstGeom prst="roundRect">
            <a:avLst>
              <a:gd name="adj" fmla="val 7643"/>
            </a:avLst>
          </a:prstGeom>
          <a:solidFill>
            <a:srgbClr val="0C192A"/>
          </a:solidFill>
          <a:ln w="10160">
            <a:solidFill>
              <a:srgbClr val="263750"/>
            </a:solidFill>
            <a:prstDash val="solid"/>
          </a:ln>
        </p:spPr>
      </p:sp>
      <p:sp>
        <p:nvSpPr>
          <p:cNvPr id="13" name="Text 10"/>
          <p:cNvSpPr/>
          <p:nvPr/>
        </p:nvSpPr>
        <p:spPr>
          <a:xfrm>
            <a:off x="822960" y="3081528"/>
            <a:ext cx="457200" cy="201168"/>
          </a:xfrm>
          <a:prstGeom prst="rect">
            <a:avLst/>
          </a:prstGeom>
          <a:noFill/>
          <a:ln/>
        </p:spPr>
        <p:txBody>
          <a:bodyPr wrap="square" lIns="0" tIns="0" rIns="0" bIns="0" rtlCol="0" anchor="ctr">
            <a:spAutoFit/>
          </a:bodyPr>
          <a:lstStyle/>
          <a:p>
            <a:pPr marL="0" indent="0">
              <a:buNone/>
            </a:pPr>
            <a:r>
              <a:rPr lang="en-US" sz="1050" b="1" kern="0" spc="140" dirty="0">
                <a:solidFill>
                  <a:srgbClr val="91A2BB"/>
                </a:solidFill>
                <a:latin typeface="Inter" pitchFamily="34" charset="0"/>
                <a:ea typeface="Inter" pitchFamily="34" charset="-122"/>
                <a:cs typeface="Inter" pitchFamily="34" charset="-120"/>
              </a:rPr>
              <a:t>01</a:t>
            </a:r>
            <a:endParaRPr lang="en-US" sz="1050" dirty="0"/>
          </a:p>
        </p:txBody>
      </p:sp>
      <p:sp>
        <p:nvSpPr>
          <p:cNvPr id="14" name="Text 11"/>
          <p:cNvSpPr/>
          <p:nvPr/>
        </p:nvSpPr>
        <p:spPr>
          <a:xfrm>
            <a:off x="822960" y="3465576"/>
            <a:ext cx="1572768" cy="320040"/>
          </a:xfrm>
          <a:prstGeom prst="rect">
            <a:avLst/>
          </a:prstGeom>
          <a:noFill/>
          <a:ln/>
        </p:spPr>
        <p:txBody>
          <a:bodyPr wrap="square" lIns="0" tIns="0" rIns="0" bIns="0" rtlCol="0" anchor="ctr">
            <a:spAutoFit/>
          </a:bodyPr>
          <a:lstStyle/>
          <a:p>
            <a:pPr marL="0" indent="0">
              <a:buNone/>
            </a:pPr>
            <a:r>
              <a:rPr lang="en-US" sz="1850" b="1" dirty="0">
                <a:solidFill>
                  <a:srgbClr val="F1F6FF"/>
                </a:solidFill>
                <a:latin typeface="Inter" pitchFamily="34" charset="0"/>
                <a:ea typeface="Inter" pitchFamily="34" charset="-122"/>
                <a:cs typeface="Inter" pitchFamily="34" charset="-120"/>
              </a:rPr>
              <a:t>Recognize</a:t>
            </a:r>
            <a:endParaRPr lang="en-US" sz="1850" dirty="0"/>
          </a:p>
        </p:txBody>
      </p:sp>
      <p:sp>
        <p:nvSpPr>
          <p:cNvPr id="15" name="Text 12"/>
          <p:cNvSpPr/>
          <p:nvPr/>
        </p:nvSpPr>
        <p:spPr>
          <a:xfrm>
            <a:off x="822960" y="3931920"/>
            <a:ext cx="1554480" cy="393192"/>
          </a:xfrm>
          <a:prstGeom prst="rect">
            <a:avLst/>
          </a:prstGeom>
          <a:noFill/>
          <a:ln/>
        </p:spPr>
        <p:txBody>
          <a:bodyPr wrap="square" lIns="0" tIns="0" rIns="0" bIns="0" rtlCol="0" anchor="ctr">
            <a:spAutoFit/>
          </a:bodyPr>
          <a:lstStyle/>
          <a:p>
            <a:pPr marL="0" indent="0">
              <a:buNone/>
            </a:pPr>
            <a:r>
              <a:rPr lang="en-US" sz="1170" dirty="0">
                <a:solidFill>
                  <a:srgbClr val="BAC8DD"/>
                </a:solidFill>
                <a:latin typeface="Inter" pitchFamily="34" charset="0"/>
                <a:ea typeface="Inter" pitchFamily="34" charset="-122"/>
                <a:cs typeface="Inter" pitchFamily="34" charset="-120"/>
              </a:rPr>
              <a:t>Whisper small.en</a:t>
            </a:r>
            <a:endParaRPr lang="en-US" sz="1170" dirty="0"/>
          </a:p>
        </p:txBody>
      </p:sp>
      <p:sp>
        <p:nvSpPr>
          <p:cNvPr id="16" name="Shape 13"/>
          <p:cNvSpPr/>
          <p:nvPr/>
        </p:nvSpPr>
        <p:spPr>
          <a:xfrm>
            <a:off x="2569464" y="3694176"/>
            <a:ext cx="274320" cy="0"/>
          </a:xfrm>
          <a:prstGeom prst="line">
            <a:avLst/>
          </a:prstGeom>
          <a:noFill/>
          <a:ln w="17780">
            <a:solidFill>
              <a:srgbClr val="87BFFF"/>
            </a:solidFill>
            <a:prstDash val="solid"/>
            <a:headEnd type="none"/>
            <a:tailEnd type="triangle"/>
          </a:ln>
        </p:spPr>
      </p:sp>
      <p:sp>
        <p:nvSpPr>
          <p:cNvPr id="17" name="Shape 14"/>
          <p:cNvSpPr/>
          <p:nvPr/>
        </p:nvSpPr>
        <p:spPr>
          <a:xfrm>
            <a:off x="2916936" y="2944368"/>
            <a:ext cx="1847088" cy="1435608"/>
          </a:xfrm>
          <a:prstGeom prst="roundRect">
            <a:avLst>
              <a:gd name="adj" fmla="val 7643"/>
            </a:avLst>
          </a:prstGeom>
          <a:solidFill>
            <a:srgbClr val="0C192A"/>
          </a:solidFill>
          <a:ln w="10160">
            <a:solidFill>
              <a:srgbClr val="263750"/>
            </a:solidFill>
            <a:prstDash val="solid"/>
          </a:ln>
        </p:spPr>
      </p:sp>
      <p:sp>
        <p:nvSpPr>
          <p:cNvPr id="18" name="Text 15"/>
          <p:cNvSpPr/>
          <p:nvPr/>
        </p:nvSpPr>
        <p:spPr>
          <a:xfrm>
            <a:off x="3072384" y="3081528"/>
            <a:ext cx="457200" cy="201168"/>
          </a:xfrm>
          <a:prstGeom prst="rect">
            <a:avLst/>
          </a:prstGeom>
          <a:noFill/>
          <a:ln/>
        </p:spPr>
        <p:txBody>
          <a:bodyPr wrap="square" lIns="0" tIns="0" rIns="0" bIns="0" rtlCol="0" anchor="ctr">
            <a:spAutoFit/>
          </a:bodyPr>
          <a:lstStyle/>
          <a:p>
            <a:pPr marL="0" indent="0">
              <a:buNone/>
            </a:pPr>
            <a:r>
              <a:rPr lang="en-US" sz="1050" b="1" kern="0" spc="140" dirty="0">
                <a:solidFill>
                  <a:srgbClr val="91A2BB"/>
                </a:solidFill>
                <a:latin typeface="Inter" pitchFamily="34" charset="0"/>
                <a:ea typeface="Inter" pitchFamily="34" charset="-122"/>
                <a:cs typeface="Inter" pitchFamily="34" charset="-120"/>
              </a:rPr>
              <a:t>02</a:t>
            </a:r>
            <a:endParaRPr lang="en-US" sz="1050" dirty="0"/>
          </a:p>
        </p:txBody>
      </p:sp>
      <p:sp>
        <p:nvSpPr>
          <p:cNvPr id="19" name="Text 16"/>
          <p:cNvSpPr/>
          <p:nvPr/>
        </p:nvSpPr>
        <p:spPr>
          <a:xfrm>
            <a:off x="3072384" y="3465576"/>
            <a:ext cx="1572768" cy="320040"/>
          </a:xfrm>
          <a:prstGeom prst="rect">
            <a:avLst/>
          </a:prstGeom>
          <a:noFill/>
          <a:ln/>
        </p:spPr>
        <p:txBody>
          <a:bodyPr wrap="square" lIns="0" tIns="0" rIns="0" bIns="0" rtlCol="0" anchor="ctr">
            <a:spAutoFit/>
          </a:bodyPr>
          <a:lstStyle/>
          <a:p>
            <a:pPr marL="0" indent="0">
              <a:buNone/>
            </a:pPr>
            <a:r>
              <a:rPr lang="en-US" sz="1850" b="1" dirty="0">
                <a:solidFill>
                  <a:srgbClr val="F1F6FF"/>
                </a:solidFill>
                <a:latin typeface="Inter" pitchFamily="34" charset="0"/>
                <a:ea typeface="Inter" pitchFamily="34" charset="-122"/>
                <a:cs typeface="Inter" pitchFamily="34" charset="-120"/>
              </a:rPr>
              <a:t>Propose</a:t>
            </a:r>
            <a:endParaRPr lang="en-US" sz="1850" dirty="0"/>
          </a:p>
        </p:txBody>
      </p:sp>
      <p:sp>
        <p:nvSpPr>
          <p:cNvPr id="20" name="Text 17"/>
          <p:cNvSpPr/>
          <p:nvPr/>
        </p:nvSpPr>
        <p:spPr>
          <a:xfrm>
            <a:off x="3072384" y="3931920"/>
            <a:ext cx="1554480" cy="393192"/>
          </a:xfrm>
          <a:prstGeom prst="rect">
            <a:avLst/>
          </a:prstGeom>
          <a:noFill/>
          <a:ln/>
        </p:spPr>
        <p:txBody>
          <a:bodyPr wrap="square" lIns="0" tIns="0" rIns="0" bIns="0" rtlCol="0" anchor="ctr">
            <a:spAutoFit/>
          </a:bodyPr>
          <a:lstStyle/>
          <a:p>
            <a:pPr marL="0" indent="0">
              <a:buNone/>
            </a:pPr>
            <a:r>
              <a:rPr lang="en-US" sz="1170" dirty="0">
                <a:solidFill>
                  <a:srgbClr val="BAC8DD"/>
                </a:solidFill>
                <a:latin typeface="Inter" pitchFamily="34" charset="0"/>
                <a:ea typeface="Inter" pitchFamily="34" charset="-122"/>
                <a:cs typeface="Inter" pitchFamily="34" charset="-120"/>
              </a:rPr>
              <a:t>Qwen3.5-4B</a:t>
            </a:r>
            <a:endParaRPr lang="en-US" sz="1170" dirty="0"/>
          </a:p>
          <a:p>
            <a:pPr marL="0" indent="0">
              <a:buNone/>
            </a:pPr>
            <a:r>
              <a:rPr lang="en-US" sz="1170" dirty="0">
                <a:solidFill>
                  <a:srgbClr val="BAC8DD"/>
                </a:solidFill>
                <a:latin typeface="Inter" pitchFamily="34" charset="0"/>
                <a:ea typeface="Inter" pitchFamily="34" charset="-122"/>
                <a:cs typeface="Inter" pitchFamily="34" charset="-120"/>
              </a:rPr>
              <a:t>Q4_K_M</a:t>
            </a:r>
            <a:endParaRPr lang="en-US" sz="1170" dirty="0"/>
          </a:p>
        </p:txBody>
      </p:sp>
      <p:sp>
        <p:nvSpPr>
          <p:cNvPr id="21" name="Shape 18"/>
          <p:cNvSpPr/>
          <p:nvPr/>
        </p:nvSpPr>
        <p:spPr>
          <a:xfrm>
            <a:off x="4818888" y="3694176"/>
            <a:ext cx="274320" cy="0"/>
          </a:xfrm>
          <a:prstGeom prst="line">
            <a:avLst/>
          </a:prstGeom>
          <a:noFill/>
          <a:ln w="17780">
            <a:solidFill>
              <a:srgbClr val="87BFFF"/>
            </a:solidFill>
            <a:prstDash val="solid"/>
            <a:headEnd type="none"/>
            <a:tailEnd type="triangle"/>
          </a:ln>
        </p:spPr>
      </p:sp>
      <p:sp>
        <p:nvSpPr>
          <p:cNvPr id="22" name="Shape 19"/>
          <p:cNvSpPr/>
          <p:nvPr/>
        </p:nvSpPr>
        <p:spPr>
          <a:xfrm>
            <a:off x="5166360" y="2944368"/>
            <a:ext cx="1847088" cy="1435608"/>
          </a:xfrm>
          <a:prstGeom prst="roundRect">
            <a:avLst>
              <a:gd name="adj" fmla="val 7643"/>
            </a:avLst>
          </a:prstGeom>
          <a:solidFill>
            <a:srgbClr val="122944"/>
          </a:solidFill>
          <a:ln w="10160">
            <a:solidFill>
              <a:srgbClr val="5B8FCA"/>
            </a:solidFill>
            <a:prstDash val="solid"/>
          </a:ln>
        </p:spPr>
      </p:sp>
      <p:sp>
        <p:nvSpPr>
          <p:cNvPr id="23" name="Text 20"/>
          <p:cNvSpPr/>
          <p:nvPr/>
        </p:nvSpPr>
        <p:spPr>
          <a:xfrm>
            <a:off x="5321808" y="3081528"/>
            <a:ext cx="457200" cy="201168"/>
          </a:xfrm>
          <a:prstGeom prst="rect">
            <a:avLst/>
          </a:prstGeom>
          <a:noFill/>
          <a:ln/>
        </p:spPr>
        <p:txBody>
          <a:bodyPr wrap="square" lIns="0" tIns="0" rIns="0" bIns="0" rtlCol="0" anchor="ctr">
            <a:spAutoFit/>
          </a:bodyPr>
          <a:lstStyle/>
          <a:p>
            <a:pPr marL="0" indent="0">
              <a:buNone/>
            </a:pPr>
            <a:r>
              <a:rPr lang="en-US" sz="1050" b="1" kern="0" spc="140" dirty="0">
                <a:solidFill>
                  <a:srgbClr val="87BFFF"/>
                </a:solidFill>
                <a:latin typeface="Inter" pitchFamily="34" charset="0"/>
                <a:ea typeface="Inter" pitchFamily="34" charset="-122"/>
                <a:cs typeface="Inter" pitchFamily="34" charset="-120"/>
              </a:rPr>
              <a:t>03</a:t>
            </a:r>
            <a:endParaRPr lang="en-US" sz="1050" dirty="0"/>
          </a:p>
        </p:txBody>
      </p:sp>
      <p:sp>
        <p:nvSpPr>
          <p:cNvPr id="24" name="Text 21"/>
          <p:cNvSpPr/>
          <p:nvPr/>
        </p:nvSpPr>
        <p:spPr>
          <a:xfrm>
            <a:off x="5321808" y="3465576"/>
            <a:ext cx="1572768" cy="320040"/>
          </a:xfrm>
          <a:prstGeom prst="rect">
            <a:avLst/>
          </a:prstGeom>
          <a:noFill/>
          <a:ln/>
        </p:spPr>
        <p:txBody>
          <a:bodyPr wrap="square" lIns="0" tIns="0" rIns="0" bIns="0" rtlCol="0" anchor="ctr">
            <a:spAutoFit/>
          </a:bodyPr>
          <a:lstStyle/>
          <a:p>
            <a:pPr marL="0" indent="0">
              <a:buNone/>
            </a:pPr>
            <a:r>
              <a:rPr lang="en-US" sz="1850" b="1" dirty="0">
                <a:solidFill>
                  <a:srgbClr val="F1F6FF"/>
                </a:solidFill>
                <a:latin typeface="Inter" pitchFamily="34" charset="0"/>
                <a:ea typeface="Inter" pitchFamily="34" charset="-122"/>
                <a:cs typeface="Inter" pitchFamily="34" charset="-120"/>
              </a:rPr>
              <a:t>Authorize</a:t>
            </a:r>
            <a:endParaRPr lang="en-US" sz="1850" dirty="0"/>
          </a:p>
        </p:txBody>
      </p:sp>
      <p:sp>
        <p:nvSpPr>
          <p:cNvPr id="25" name="Text 22"/>
          <p:cNvSpPr/>
          <p:nvPr/>
        </p:nvSpPr>
        <p:spPr>
          <a:xfrm>
            <a:off x="5321808" y="3931920"/>
            <a:ext cx="1554480" cy="393192"/>
          </a:xfrm>
          <a:prstGeom prst="rect">
            <a:avLst/>
          </a:prstGeom>
          <a:noFill/>
          <a:ln/>
        </p:spPr>
        <p:txBody>
          <a:bodyPr wrap="square" lIns="0" tIns="0" rIns="0" bIns="0" rtlCol="0" anchor="ctr">
            <a:spAutoFit/>
          </a:bodyPr>
          <a:lstStyle/>
          <a:p>
            <a:pPr marL="0" indent="0">
              <a:buNone/>
            </a:pPr>
            <a:r>
              <a:rPr lang="en-US" sz="1170" dirty="0">
                <a:solidFill>
                  <a:srgbClr val="BAC8DD"/>
                </a:solidFill>
                <a:latin typeface="Inter" pitchFamily="34" charset="0"/>
                <a:ea typeface="Inter" pitchFamily="34" charset="-122"/>
                <a:cs typeface="Inter" pitchFamily="34" charset="-120"/>
              </a:rPr>
              <a:t>Revision + clause</a:t>
            </a:r>
            <a:endParaRPr lang="en-US" sz="1170" dirty="0"/>
          </a:p>
          <a:p>
            <a:pPr marL="0" indent="0">
              <a:buNone/>
            </a:pPr>
            <a:r>
              <a:rPr lang="en-US" sz="1170" dirty="0">
                <a:solidFill>
                  <a:srgbClr val="BAC8DD"/>
                </a:solidFill>
                <a:latin typeface="Inter" pitchFamily="34" charset="0"/>
                <a:ea typeface="Inter" pitchFamily="34" charset="-122"/>
                <a:cs typeface="Inter" pitchFamily="34" charset="-120"/>
              </a:rPr>
              <a:t>+ tool admission</a:t>
            </a:r>
            <a:endParaRPr lang="en-US" sz="1170" dirty="0"/>
          </a:p>
        </p:txBody>
      </p:sp>
      <p:sp>
        <p:nvSpPr>
          <p:cNvPr id="26" name="Shape 23"/>
          <p:cNvSpPr/>
          <p:nvPr/>
        </p:nvSpPr>
        <p:spPr>
          <a:xfrm>
            <a:off x="7068312" y="3694176"/>
            <a:ext cx="274320" cy="0"/>
          </a:xfrm>
          <a:prstGeom prst="line">
            <a:avLst/>
          </a:prstGeom>
          <a:noFill/>
          <a:ln w="17780">
            <a:solidFill>
              <a:srgbClr val="87BFFF"/>
            </a:solidFill>
            <a:prstDash val="solid"/>
            <a:headEnd type="none"/>
            <a:tailEnd type="triangle"/>
          </a:ln>
        </p:spPr>
      </p:sp>
      <p:sp>
        <p:nvSpPr>
          <p:cNvPr id="27" name="Shape 24"/>
          <p:cNvSpPr/>
          <p:nvPr/>
        </p:nvSpPr>
        <p:spPr>
          <a:xfrm>
            <a:off x="7415784" y="2944368"/>
            <a:ext cx="1847088" cy="1435608"/>
          </a:xfrm>
          <a:prstGeom prst="roundRect">
            <a:avLst>
              <a:gd name="adj" fmla="val 7643"/>
            </a:avLst>
          </a:prstGeom>
          <a:solidFill>
            <a:srgbClr val="0C192A"/>
          </a:solidFill>
          <a:ln w="10160">
            <a:solidFill>
              <a:srgbClr val="263750"/>
            </a:solidFill>
            <a:prstDash val="solid"/>
          </a:ln>
        </p:spPr>
      </p:sp>
      <p:sp>
        <p:nvSpPr>
          <p:cNvPr id="28" name="Text 25"/>
          <p:cNvSpPr/>
          <p:nvPr/>
        </p:nvSpPr>
        <p:spPr>
          <a:xfrm>
            <a:off x="7571232" y="3081528"/>
            <a:ext cx="457200" cy="201168"/>
          </a:xfrm>
          <a:prstGeom prst="rect">
            <a:avLst/>
          </a:prstGeom>
          <a:noFill/>
          <a:ln/>
        </p:spPr>
        <p:txBody>
          <a:bodyPr wrap="square" lIns="0" tIns="0" rIns="0" bIns="0" rtlCol="0" anchor="ctr">
            <a:spAutoFit/>
          </a:bodyPr>
          <a:lstStyle/>
          <a:p>
            <a:pPr marL="0" indent="0">
              <a:buNone/>
            </a:pPr>
            <a:r>
              <a:rPr lang="en-US" sz="1050" b="1" kern="0" spc="140" dirty="0">
                <a:solidFill>
                  <a:srgbClr val="91A2BB"/>
                </a:solidFill>
                <a:latin typeface="Inter" pitchFamily="34" charset="0"/>
                <a:ea typeface="Inter" pitchFamily="34" charset="-122"/>
                <a:cs typeface="Inter" pitchFamily="34" charset="-120"/>
              </a:rPr>
              <a:t>04</a:t>
            </a:r>
            <a:endParaRPr lang="en-US" sz="1050" dirty="0"/>
          </a:p>
        </p:txBody>
      </p:sp>
      <p:sp>
        <p:nvSpPr>
          <p:cNvPr id="29" name="Text 26"/>
          <p:cNvSpPr/>
          <p:nvPr/>
        </p:nvSpPr>
        <p:spPr>
          <a:xfrm>
            <a:off x="7571232" y="3465576"/>
            <a:ext cx="1572768" cy="320040"/>
          </a:xfrm>
          <a:prstGeom prst="rect">
            <a:avLst/>
          </a:prstGeom>
          <a:noFill/>
          <a:ln/>
        </p:spPr>
        <p:txBody>
          <a:bodyPr wrap="square" lIns="0" tIns="0" rIns="0" bIns="0" rtlCol="0" anchor="ctr">
            <a:spAutoFit/>
          </a:bodyPr>
          <a:lstStyle/>
          <a:p>
            <a:pPr marL="0" indent="0">
              <a:buNone/>
            </a:pPr>
            <a:r>
              <a:rPr lang="en-US" sz="1850" b="1" dirty="0">
                <a:solidFill>
                  <a:srgbClr val="F1F6FF"/>
                </a:solidFill>
                <a:latin typeface="Inter" pitchFamily="34" charset="0"/>
                <a:ea typeface="Inter" pitchFamily="34" charset="-122"/>
                <a:cs typeface="Inter" pitchFamily="34" charset="-120"/>
              </a:rPr>
              <a:t>Execute</a:t>
            </a:r>
            <a:endParaRPr lang="en-US" sz="1850" dirty="0"/>
          </a:p>
        </p:txBody>
      </p:sp>
      <p:sp>
        <p:nvSpPr>
          <p:cNvPr id="30" name="Text 27"/>
          <p:cNvSpPr/>
          <p:nvPr/>
        </p:nvSpPr>
        <p:spPr>
          <a:xfrm>
            <a:off x="7571232" y="3931920"/>
            <a:ext cx="1554480" cy="393192"/>
          </a:xfrm>
          <a:prstGeom prst="rect">
            <a:avLst/>
          </a:prstGeom>
          <a:noFill/>
          <a:ln/>
        </p:spPr>
        <p:txBody>
          <a:bodyPr wrap="square" lIns="0" tIns="0" rIns="0" bIns="0" rtlCol="0" anchor="ctr">
            <a:spAutoFit/>
          </a:bodyPr>
          <a:lstStyle/>
          <a:p>
            <a:pPr marL="0" indent="0">
              <a:buNone/>
            </a:pPr>
            <a:r>
              <a:rPr lang="en-US" sz="1170" dirty="0">
                <a:solidFill>
                  <a:srgbClr val="BAC8DD"/>
                </a:solidFill>
                <a:latin typeface="Inter" pitchFamily="34" charset="0"/>
                <a:ea typeface="Inter" pitchFamily="34" charset="-122"/>
                <a:cs typeface="Inter" pitchFamily="34" charset="-120"/>
              </a:rPr>
              <a:t>12 FDB-v3 tools</a:t>
            </a:r>
            <a:endParaRPr lang="en-US" sz="1170" dirty="0"/>
          </a:p>
          <a:p>
            <a:pPr marL="0" indent="0">
              <a:buNone/>
            </a:pPr>
            <a:r>
              <a:rPr lang="en-US" sz="1170" dirty="0">
                <a:solidFill>
                  <a:srgbClr val="BAC8DD"/>
                </a:solidFill>
                <a:latin typeface="Inter" pitchFamily="34" charset="0"/>
                <a:ea typeface="Inter" pitchFamily="34" charset="-122"/>
                <a:cs typeface="Inter" pitchFamily="34" charset="-120"/>
              </a:rPr>
              <a:t>or client checklist</a:t>
            </a:r>
            <a:endParaRPr lang="en-US" sz="1170" dirty="0"/>
          </a:p>
        </p:txBody>
      </p:sp>
      <p:sp>
        <p:nvSpPr>
          <p:cNvPr id="31" name="Shape 28"/>
          <p:cNvSpPr/>
          <p:nvPr/>
        </p:nvSpPr>
        <p:spPr>
          <a:xfrm>
            <a:off x="9317736" y="3694176"/>
            <a:ext cx="274320" cy="0"/>
          </a:xfrm>
          <a:prstGeom prst="line">
            <a:avLst/>
          </a:prstGeom>
          <a:noFill/>
          <a:ln w="17780">
            <a:solidFill>
              <a:srgbClr val="87BFFF"/>
            </a:solidFill>
            <a:prstDash val="solid"/>
            <a:headEnd type="none"/>
            <a:tailEnd type="triangle"/>
          </a:ln>
        </p:spPr>
      </p:sp>
      <p:sp>
        <p:nvSpPr>
          <p:cNvPr id="32" name="Shape 29"/>
          <p:cNvSpPr/>
          <p:nvPr/>
        </p:nvSpPr>
        <p:spPr>
          <a:xfrm>
            <a:off x="9665208" y="2944368"/>
            <a:ext cx="1847088" cy="1435608"/>
          </a:xfrm>
          <a:prstGeom prst="roundRect">
            <a:avLst>
              <a:gd name="adj" fmla="val 7643"/>
            </a:avLst>
          </a:prstGeom>
          <a:solidFill>
            <a:srgbClr val="0C192A"/>
          </a:solidFill>
          <a:ln w="10160">
            <a:solidFill>
              <a:srgbClr val="263750"/>
            </a:solidFill>
            <a:prstDash val="solid"/>
          </a:ln>
        </p:spPr>
      </p:sp>
      <p:sp>
        <p:nvSpPr>
          <p:cNvPr id="33" name="Text 30"/>
          <p:cNvSpPr/>
          <p:nvPr/>
        </p:nvSpPr>
        <p:spPr>
          <a:xfrm>
            <a:off x="9820656" y="3081528"/>
            <a:ext cx="457200" cy="201168"/>
          </a:xfrm>
          <a:prstGeom prst="rect">
            <a:avLst/>
          </a:prstGeom>
          <a:noFill/>
          <a:ln/>
        </p:spPr>
        <p:txBody>
          <a:bodyPr wrap="square" lIns="0" tIns="0" rIns="0" bIns="0" rtlCol="0" anchor="ctr">
            <a:spAutoFit/>
          </a:bodyPr>
          <a:lstStyle/>
          <a:p>
            <a:pPr marL="0" indent="0">
              <a:buNone/>
            </a:pPr>
            <a:r>
              <a:rPr lang="en-US" sz="1050" b="1" kern="0" spc="140" dirty="0">
                <a:solidFill>
                  <a:srgbClr val="91A2BB"/>
                </a:solidFill>
                <a:latin typeface="Inter" pitchFamily="34" charset="0"/>
                <a:ea typeface="Inter" pitchFamily="34" charset="-122"/>
                <a:cs typeface="Inter" pitchFamily="34" charset="-120"/>
              </a:rPr>
              <a:t>05</a:t>
            </a:r>
            <a:endParaRPr lang="en-US" sz="1050" dirty="0"/>
          </a:p>
        </p:txBody>
      </p:sp>
      <p:sp>
        <p:nvSpPr>
          <p:cNvPr id="34" name="Text 31"/>
          <p:cNvSpPr/>
          <p:nvPr/>
        </p:nvSpPr>
        <p:spPr>
          <a:xfrm>
            <a:off x="9820656" y="3465576"/>
            <a:ext cx="1572768" cy="320040"/>
          </a:xfrm>
          <a:prstGeom prst="rect">
            <a:avLst/>
          </a:prstGeom>
          <a:noFill/>
          <a:ln/>
        </p:spPr>
        <p:txBody>
          <a:bodyPr wrap="square" lIns="0" tIns="0" rIns="0" bIns="0" rtlCol="0" anchor="ctr">
            <a:spAutoFit/>
          </a:bodyPr>
          <a:lstStyle/>
          <a:p>
            <a:pPr marL="0" indent="0">
              <a:buNone/>
            </a:pPr>
            <a:r>
              <a:rPr lang="en-US" sz="1850" b="1" dirty="0">
                <a:solidFill>
                  <a:srgbClr val="F1F6FF"/>
                </a:solidFill>
                <a:latin typeface="Inter" pitchFamily="34" charset="0"/>
                <a:ea typeface="Inter" pitchFamily="34" charset="-122"/>
                <a:cs typeface="Inter" pitchFamily="34" charset="-120"/>
              </a:rPr>
              <a:t>Respond</a:t>
            </a:r>
            <a:endParaRPr lang="en-US" sz="1850" dirty="0"/>
          </a:p>
        </p:txBody>
      </p:sp>
      <p:sp>
        <p:nvSpPr>
          <p:cNvPr id="35" name="Text 32"/>
          <p:cNvSpPr/>
          <p:nvPr/>
        </p:nvSpPr>
        <p:spPr>
          <a:xfrm>
            <a:off x="9820656" y="3931920"/>
            <a:ext cx="1554480" cy="393192"/>
          </a:xfrm>
          <a:prstGeom prst="rect">
            <a:avLst/>
          </a:prstGeom>
          <a:noFill/>
          <a:ln/>
        </p:spPr>
        <p:txBody>
          <a:bodyPr wrap="square" lIns="0" tIns="0" rIns="0" bIns="0" rtlCol="0" anchor="ctr">
            <a:spAutoFit/>
          </a:bodyPr>
          <a:lstStyle/>
          <a:p>
            <a:pPr marL="0" indent="0">
              <a:buNone/>
            </a:pPr>
            <a:r>
              <a:rPr lang="en-US" sz="1170" dirty="0">
                <a:solidFill>
                  <a:srgbClr val="BAC8DD"/>
                </a:solidFill>
                <a:latin typeface="Inter" pitchFamily="34" charset="0"/>
                <a:ea typeface="Inter" pitchFamily="34" charset="-122"/>
                <a:cs typeface="Inter" pitchFamily="34" charset="-120"/>
              </a:rPr>
              <a:t>Actual result</a:t>
            </a:r>
            <a:endParaRPr lang="en-US" sz="1170" dirty="0"/>
          </a:p>
          <a:p>
            <a:pPr marL="0" indent="0">
              <a:buNone/>
            </a:pPr>
            <a:r>
              <a:rPr lang="en-US" sz="1170" dirty="0">
                <a:solidFill>
                  <a:srgbClr val="BAC8DD"/>
                </a:solidFill>
                <a:latin typeface="Inter" pitchFamily="34" charset="0"/>
                <a:ea typeface="Inter" pitchFamily="34" charset="-122"/>
                <a:cs typeface="Inter" pitchFamily="34" charset="-120"/>
              </a:rPr>
              <a:t>+ local speech</a:t>
            </a:r>
            <a:endParaRPr lang="en-US" sz="1170" dirty="0"/>
          </a:p>
        </p:txBody>
      </p:sp>
      <p:sp>
        <p:nvSpPr>
          <p:cNvPr id="36" name="Shape 33"/>
          <p:cNvSpPr/>
          <p:nvPr/>
        </p:nvSpPr>
        <p:spPr>
          <a:xfrm>
            <a:off x="1591056" y="2688336"/>
            <a:ext cx="4498848" cy="0"/>
          </a:xfrm>
          <a:prstGeom prst="line">
            <a:avLst/>
          </a:prstGeom>
          <a:noFill/>
          <a:ln w="16510">
            <a:solidFill>
              <a:srgbClr val="87BFFF"/>
            </a:solidFill>
            <a:prstDash val="solid"/>
          </a:ln>
        </p:spPr>
      </p:sp>
      <p:sp>
        <p:nvSpPr>
          <p:cNvPr id="37" name="Shape 34"/>
          <p:cNvSpPr/>
          <p:nvPr/>
        </p:nvSpPr>
        <p:spPr>
          <a:xfrm>
            <a:off x="1591056" y="2688336"/>
            <a:ext cx="0" cy="164592"/>
          </a:xfrm>
          <a:prstGeom prst="line">
            <a:avLst/>
          </a:prstGeom>
          <a:noFill/>
          <a:ln w="16510">
            <a:solidFill>
              <a:srgbClr val="87BFFF"/>
            </a:solidFill>
            <a:prstDash val="solid"/>
          </a:ln>
        </p:spPr>
      </p:sp>
      <p:sp>
        <p:nvSpPr>
          <p:cNvPr id="38" name="Shape 35"/>
          <p:cNvSpPr/>
          <p:nvPr/>
        </p:nvSpPr>
        <p:spPr>
          <a:xfrm>
            <a:off x="6089904" y="2688336"/>
            <a:ext cx="0" cy="164592"/>
          </a:xfrm>
          <a:prstGeom prst="line">
            <a:avLst/>
          </a:prstGeom>
          <a:noFill/>
          <a:ln w="16510">
            <a:solidFill>
              <a:srgbClr val="87BFFF"/>
            </a:solidFill>
            <a:prstDash val="solid"/>
            <a:tailEnd type="triangle"/>
          </a:ln>
        </p:spPr>
      </p:sp>
      <p:sp>
        <p:nvSpPr>
          <p:cNvPr id="39" name="Text 36"/>
          <p:cNvSpPr/>
          <p:nvPr/>
        </p:nvSpPr>
        <p:spPr>
          <a:xfrm>
            <a:off x="1600200" y="2386584"/>
            <a:ext cx="6766560" cy="182880"/>
          </a:xfrm>
          <a:prstGeom prst="rect">
            <a:avLst/>
          </a:prstGeom>
          <a:noFill/>
          <a:ln/>
        </p:spPr>
        <p:txBody>
          <a:bodyPr wrap="square" lIns="0" tIns="0" rIns="0" bIns="0" rtlCol="0" anchor="ctr">
            <a:spAutoFit/>
          </a:bodyPr>
          <a:lstStyle/>
          <a:p>
            <a:pPr marL="0" indent="0">
              <a:buNone/>
            </a:pPr>
            <a:r>
              <a:rPr lang="en-US" sz="1170" dirty="0">
                <a:solidFill>
                  <a:srgbClr val="87BFFF"/>
                </a:solidFill>
                <a:latin typeface="Inter" pitchFamily="34" charset="0"/>
                <a:ea typeface="Inter" pitchFamily="34" charset="-122"/>
                <a:cs typeface="Inter" pitchFamily="34" charset="-120"/>
              </a:rPr>
              <a:t>Speech onset fences old work before recognition completes</a:t>
            </a:r>
            <a:endParaRPr lang="en-US" sz="1170" dirty="0"/>
          </a:p>
        </p:txBody>
      </p:sp>
      <p:sp>
        <p:nvSpPr>
          <p:cNvPr id="40" name="Shape 37"/>
          <p:cNvSpPr/>
          <p:nvPr/>
        </p:nvSpPr>
        <p:spPr>
          <a:xfrm>
            <a:off x="8339328" y="4507992"/>
            <a:ext cx="0" cy="420624"/>
          </a:xfrm>
          <a:prstGeom prst="line">
            <a:avLst/>
          </a:prstGeom>
          <a:noFill/>
          <a:ln w="13970">
            <a:solidFill>
              <a:srgbClr val="91A2BB"/>
            </a:solidFill>
            <a:prstDash val="solid"/>
          </a:ln>
        </p:spPr>
      </p:sp>
      <p:sp>
        <p:nvSpPr>
          <p:cNvPr id="41" name="Shape 38"/>
          <p:cNvSpPr/>
          <p:nvPr/>
        </p:nvSpPr>
        <p:spPr>
          <a:xfrm>
            <a:off x="8339328" y="4928616"/>
            <a:ext cx="0" cy="0"/>
          </a:xfrm>
          <a:prstGeom prst="line">
            <a:avLst/>
          </a:prstGeom>
          <a:noFill/>
          <a:ln w="13970">
            <a:solidFill>
              <a:srgbClr val="91A2BB"/>
            </a:solidFill>
            <a:prstDash val="solid"/>
          </a:ln>
        </p:spPr>
      </p:sp>
      <p:sp>
        <p:nvSpPr>
          <p:cNvPr id="42" name="Shape 39"/>
          <p:cNvSpPr/>
          <p:nvPr/>
        </p:nvSpPr>
        <p:spPr>
          <a:xfrm>
            <a:off x="6089904" y="4928616"/>
            <a:ext cx="0" cy="0"/>
          </a:xfrm>
          <a:prstGeom prst="line">
            <a:avLst/>
          </a:prstGeom>
          <a:noFill/>
          <a:ln w="13970">
            <a:solidFill>
              <a:srgbClr val="91A2BB"/>
            </a:solidFill>
            <a:prstDash val="solid"/>
            <a:tailEnd type="triangle"/>
          </a:ln>
        </p:spPr>
      </p:sp>
      <p:sp>
        <p:nvSpPr>
          <p:cNvPr id="43" name="Text 40"/>
          <p:cNvSpPr/>
          <p:nvPr/>
        </p:nvSpPr>
        <p:spPr>
          <a:xfrm>
            <a:off x="5074920" y="5093208"/>
            <a:ext cx="4892040" cy="265176"/>
          </a:xfrm>
          <a:prstGeom prst="rect">
            <a:avLst/>
          </a:prstGeom>
          <a:noFill/>
          <a:ln/>
        </p:spPr>
        <p:txBody>
          <a:bodyPr wrap="square" lIns="0" tIns="0" rIns="0" bIns="0" rtlCol="0" anchor="ctr">
            <a:spAutoFit/>
          </a:bodyPr>
          <a:lstStyle/>
          <a:p>
            <a:pPr marL="0" indent="0">
              <a:buNone/>
            </a:pPr>
            <a:r>
              <a:rPr lang="en-US" sz="1250" dirty="0">
                <a:solidFill>
                  <a:srgbClr val="BAC8DD"/>
                </a:solidFill>
                <a:latin typeface="Inter" pitchFamily="34" charset="0"/>
                <a:ea typeface="Inter" pitchFamily="34" charset="-122"/>
                <a:cs typeface="Inter" pitchFamily="34" charset="-120"/>
              </a:rPr>
              <a:t>Receipt / outcome → original operation</a:t>
            </a:r>
            <a:endParaRPr lang="en-US" sz="1250" dirty="0"/>
          </a:p>
        </p:txBody>
      </p:sp>
      <p:sp>
        <p:nvSpPr>
          <p:cNvPr id="44" name="Shape 41"/>
          <p:cNvSpPr/>
          <p:nvPr/>
        </p:nvSpPr>
        <p:spPr>
          <a:xfrm>
            <a:off x="676656" y="5541264"/>
            <a:ext cx="10835640" cy="0"/>
          </a:xfrm>
          <a:prstGeom prst="line">
            <a:avLst/>
          </a:prstGeom>
          <a:noFill/>
          <a:ln w="8890">
            <a:solidFill>
              <a:srgbClr val="263750"/>
            </a:solidFill>
            <a:prstDash val="solid"/>
          </a:ln>
        </p:spPr>
      </p:sp>
      <p:sp>
        <p:nvSpPr>
          <p:cNvPr id="45" name="Text 42"/>
          <p:cNvSpPr/>
          <p:nvPr/>
        </p:nvSpPr>
        <p:spPr>
          <a:xfrm>
            <a:off x="685800" y="5751576"/>
            <a:ext cx="10881360" cy="256032"/>
          </a:xfrm>
          <a:prstGeom prst="rect">
            <a:avLst/>
          </a:prstGeom>
          <a:noFill/>
          <a:ln/>
        </p:spPr>
        <p:txBody>
          <a:bodyPr wrap="square" lIns="0" tIns="0" rIns="0" bIns="0" rtlCol="0" anchor="ctr">
            <a:spAutoFit/>
          </a:bodyPr>
          <a:lstStyle/>
          <a:p>
            <a:pPr marL="0" indent="0">
              <a:buNone/>
            </a:pPr>
            <a:r>
              <a:rPr lang="en-US" sz="1320" dirty="0">
                <a:solidFill>
                  <a:srgbClr val="F1F6FF"/>
                </a:solidFill>
                <a:latin typeface="Inter" pitchFamily="34" charset="0"/>
                <a:ea typeface="Inter" pitchFamily="34" charset="-122"/>
                <a:cs typeface="Inter" pitchFamily="34" charset="-120"/>
              </a:rPr>
              <a:t>Python 3.11  ·  asyncio  ·  LiveKit WebRTC  ·  llama.cpp  ·  local speech</a:t>
            </a:r>
            <a:endParaRPr lang="en-US" sz="1320" dirty="0"/>
          </a:p>
        </p:txBody>
      </p:sp>
      <p:sp>
        <p:nvSpPr>
          <p:cNvPr id="46" name="Text 43"/>
          <p:cNvSpPr/>
          <p:nvPr/>
        </p:nvSpPr>
        <p:spPr>
          <a:xfrm>
            <a:off x="685800" y="6108192"/>
            <a:ext cx="10908792" cy="164592"/>
          </a:xfrm>
          <a:prstGeom prst="rect">
            <a:avLst/>
          </a:prstGeom>
          <a:noFill/>
          <a:ln/>
        </p:spPr>
        <p:txBody>
          <a:bodyPr wrap="square" lIns="0" tIns="0" rIns="0" bIns="0" rtlCol="0" anchor="ctr">
            <a:spAutoFit/>
          </a:bodyPr>
          <a:lstStyle/>
          <a:p>
            <a:pPr marL="0" indent="0">
              <a:buNone/>
            </a:pPr>
            <a:r>
              <a:rPr lang="en-US" sz="1040" dirty="0">
                <a:solidFill>
                  <a:srgbClr val="91A2BB"/>
                </a:solidFill>
                <a:latin typeface="Inter" pitchFamily="34" charset="0"/>
                <a:ea typeface="Inter" pitchFamily="34" charset="-122"/>
                <a:cs typeface="Inter" pitchFamily="34" charset="-120"/>
              </a:rPr>
              <a:t>Kitchen: PCM WebSocket + client-owned storage. Gemini app mode is separate from this measured path.</a:t>
            </a:r>
            <a:endParaRPr lang="en-US" sz="1040" dirty="0"/>
          </a:p>
        </p:txBody>
      </p:sp>
      <p:sp>
        <p:nvSpPr>
          <p:cNvPr id="47" name="Text 44">
            <a:hlinkClick r:id="rId4"/>
          </p:cNvPr>
          <p:cNvSpPr/>
          <p:nvPr/>
        </p:nvSpPr>
        <p:spPr>
          <a:xfrm>
            <a:off x="6400800" y="6505956"/>
            <a:ext cx="3703320" cy="146304"/>
          </a:xfrm>
          <a:prstGeom prst="rect">
            <a:avLst/>
          </a:prstGeom>
          <a:noFill/>
          <a:ln/>
        </p:spPr>
        <p:txBody>
          <a:bodyPr wrap="square" lIns="0" tIns="0" rIns="0" bIns="0" rtlCol="0" anchor="ctr">
            <a:spAutoFit/>
          </a:bodyPr>
          <a:lstStyle/>
          <a:p>
            <a:pPr marL="0" indent="0" algn="r">
              <a:buNone/>
            </a:pPr>
            <a:r>
              <a:rPr lang="en-US" sz="820" u="sng" dirty="0">
                <a:solidFill>
                  <a:srgbClr val="91A2BB"/>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Source map &amp; runtime boundaries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thread_deck_work/assets/plain-bg.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21792" y="393192"/>
            <a:ext cx="1828800" cy="201168"/>
          </a:xfrm>
          <a:prstGeom prst="rect">
            <a:avLst/>
          </a:prstGeom>
          <a:noFill/>
          <a:ln/>
        </p:spPr>
        <p:txBody>
          <a:bodyPr wrap="square" lIns="0" tIns="0" rIns="0" bIns="0" rtlCol="0" anchor="ctr">
            <a:spAutoFit/>
          </a:bodyPr>
          <a:lstStyle/>
          <a:p>
            <a:pPr marL="0" indent="0">
              <a:buNone/>
            </a:pPr>
            <a:r>
              <a:rPr lang="en-US" sz="1100" b="1" kern="0" spc="130" dirty="0">
                <a:solidFill>
                  <a:srgbClr val="F1F6FF"/>
                </a:solidFill>
                <a:latin typeface="Inter" pitchFamily="34" charset="0"/>
                <a:ea typeface="Inter" pitchFamily="34" charset="-122"/>
                <a:cs typeface="Inter" pitchFamily="34" charset="-120"/>
              </a:rPr>
              <a:t>T H R E A D</a:t>
            </a:r>
            <a:endParaRPr lang="en-US" sz="1100" dirty="0"/>
          </a:p>
        </p:txBody>
      </p:sp>
      <p:sp>
        <p:nvSpPr>
          <p:cNvPr id="4" name="Text 1"/>
          <p:cNvSpPr/>
          <p:nvPr/>
        </p:nvSpPr>
        <p:spPr>
          <a:xfrm>
            <a:off x="6400800" y="411480"/>
            <a:ext cx="5148072" cy="182880"/>
          </a:xfrm>
          <a:prstGeom prst="rect">
            <a:avLst/>
          </a:prstGeom>
          <a:noFill/>
          <a:ln/>
        </p:spPr>
        <p:txBody>
          <a:bodyPr wrap="square" lIns="0" tIns="0" rIns="0" bIns="0" rtlCol="0" anchor="ctr">
            <a:spAutoFit/>
          </a:bodyPr>
          <a:lstStyle/>
          <a:p>
            <a:pPr marL="0" indent="0" algn="r">
              <a:buNone/>
            </a:pPr>
            <a:r>
              <a:rPr lang="en-US" sz="1000" kern="0" spc="150" dirty="0">
                <a:solidFill>
                  <a:srgbClr val="91A2BB"/>
                </a:solidFill>
                <a:latin typeface="Inter" pitchFamily="34" charset="0"/>
                <a:ea typeface="Inter" pitchFamily="34" charset="-122"/>
                <a:cs typeface="Inter" pitchFamily="34" charset="-120"/>
              </a:rPr>
              <a:t>EXTENSION / KITCHEN</a:t>
            </a:r>
            <a:endParaRPr lang="en-US" sz="1000" dirty="0"/>
          </a:p>
        </p:txBody>
      </p:sp>
      <p:sp>
        <p:nvSpPr>
          <p:cNvPr id="5" name="Shape 2"/>
          <p:cNvSpPr/>
          <p:nvPr/>
        </p:nvSpPr>
        <p:spPr>
          <a:xfrm>
            <a:off x="621792" y="6382512"/>
            <a:ext cx="10945368" cy="0"/>
          </a:xfrm>
          <a:prstGeom prst="line">
            <a:avLst/>
          </a:prstGeom>
          <a:noFill/>
          <a:ln w="8890">
            <a:solidFill>
              <a:srgbClr val="263750"/>
            </a:solidFill>
            <a:prstDash val="solid"/>
          </a:ln>
        </p:spPr>
      </p:sp>
      <p:sp>
        <p:nvSpPr>
          <p:cNvPr id="6" name="Shape 3"/>
          <p:cNvSpPr/>
          <p:nvPr/>
        </p:nvSpPr>
        <p:spPr>
          <a:xfrm>
            <a:off x="621792" y="6382512"/>
            <a:ext cx="192024" cy="0"/>
          </a:xfrm>
          <a:prstGeom prst="line">
            <a:avLst/>
          </a:prstGeom>
          <a:noFill/>
          <a:ln w="22860">
            <a:solidFill>
              <a:srgbClr val="87BFFF"/>
            </a:solidFill>
            <a:prstDash val="solid"/>
          </a:ln>
        </p:spPr>
      </p:sp>
      <p:sp>
        <p:nvSpPr>
          <p:cNvPr id="7" name="Shape 4"/>
          <p:cNvSpPr/>
          <p:nvPr/>
        </p:nvSpPr>
        <p:spPr>
          <a:xfrm>
            <a:off x="896112" y="6382512"/>
            <a:ext cx="192024" cy="0"/>
          </a:xfrm>
          <a:prstGeom prst="line">
            <a:avLst/>
          </a:prstGeom>
          <a:noFill/>
          <a:ln w="22860">
            <a:solidFill>
              <a:srgbClr val="87BFFF"/>
            </a:solidFill>
            <a:prstDash val="solid"/>
          </a:ln>
        </p:spPr>
      </p:sp>
      <p:sp>
        <p:nvSpPr>
          <p:cNvPr id="8" name="Shape 5"/>
          <p:cNvSpPr/>
          <p:nvPr/>
        </p:nvSpPr>
        <p:spPr>
          <a:xfrm>
            <a:off x="1170432" y="6382512"/>
            <a:ext cx="192024" cy="0"/>
          </a:xfrm>
          <a:prstGeom prst="line">
            <a:avLst/>
          </a:prstGeom>
          <a:noFill/>
          <a:ln w="22860">
            <a:solidFill>
              <a:srgbClr val="87BFFF"/>
            </a:solidFill>
            <a:prstDash val="solid"/>
          </a:ln>
        </p:spPr>
      </p:sp>
      <p:sp>
        <p:nvSpPr>
          <p:cNvPr id="9" name="Shape 6"/>
          <p:cNvSpPr/>
          <p:nvPr/>
        </p:nvSpPr>
        <p:spPr>
          <a:xfrm>
            <a:off x="1444752" y="6382512"/>
            <a:ext cx="192024" cy="0"/>
          </a:xfrm>
          <a:prstGeom prst="line">
            <a:avLst/>
          </a:prstGeom>
          <a:noFill/>
          <a:ln w="22860">
            <a:solidFill>
              <a:srgbClr val="87BFFF"/>
            </a:solidFill>
            <a:prstDash val="solid"/>
          </a:ln>
        </p:spPr>
      </p:sp>
      <p:sp>
        <p:nvSpPr>
          <p:cNvPr id="10" name="Text 7"/>
          <p:cNvSpPr/>
          <p:nvPr/>
        </p:nvSpPr>
        <p:spPr>
          <a:xfrm>
            <a:off x="621792" y="6519672"/>
            <a:ext cx="5303520" cy="128016"/>
          </a:xfrm>
          <a:prstGeom prst="rect">
            <a:avLst/>
          </a:prstGeom>
          <a:noFill/>
          <a:ln/>
        </p:spPr>
        <p:txBody>
          <a:bodyPr wrap="square" lIns="0" tIns="0" rIns="0" bIns="0" rtlCol="0" anchor="ctr">
            <a:spAutoFit/>
          </a:bodyPr>
          <a:lstStyle/>
          <a:p>
            <a:pPr marL="0" indent="0">
              <a:buNone/>
            </a:pPr>
            <a:r>
              <a:rPr lang="en-US" sz="850" kern="0" spc="70" dirty="0">
                <a:solidFill>
                  <a:srgbClr val="91A2BB"/>
                </a:solidFill>
                <a:latin typeface="Inter" pitchFamily="34" charset="0"/>
                <a:ea typeface="Inter" pitchFamily="34" charset="-122"/>
                <a:cs typeface="Inter" pitchFamily="34" charset="-120"/>
              </a:rPr>
              <a:t>REFLEXAI  /  SAMSUNG PRISM 2026</a:t>
            </a:r>
            <a:endParaRPr lang="en-US" sz="850" dirty="0"/>
          </a:p>
        </p:txBody>
      </p:sp>
      <p:sp>
        <p:nvSpPr>
          <p:cNvPr id="11" name="Text 8"/>
          <p:cNvSpPr/>
          <p:nvPr/>
        </p:nvSpPr>
        <p:spPr>
          <a:xfrm>
            <a:off x="10332720" y="6492240"/>
            <a:ext cx="1216152" cy="182880"/>
          </a:xfrm>
          <a:prstGeom prst="rect">
            <a:avLst/>
          </a:prstGeom>
          <a:noFill/>
          <a:ln/>
        </p:spPr>
        <p:txBody>
          <a:bodyPr wrap="square" lIns="0" tIns="0" rIns="0" bIns="0" rtlCol="0" anchor="ctr">
            <a:spAutoFit/>
          </a:bodyPr>
          <a:lstStyle/>
          <a:p>
            <a:pPr marL="0" indent="0" algn="r">
              <a:buNone/>
            </a:pPr>
            <a:r>
              <a:rPr lang="en-US" sz="1000" kern="0" spc="100" dirty="0">
                <a:solidFill>
                  <a:srgbClr val="91A2BB"/>
                </a:solidFill>
                <a:latin typeface="Inter" pitchFamily="34" charset="0"/>
                <a:ea typeface="Inter" pitchFamily="34" charset="-122"/>
                <a:cs typeface="Inter" pitchFamily="34" charset="-120"/>
              </a:rPr>
              <a:t>04 / 08</a:t>
            </a:r>
            <a:endParaRPr lang="en-US" sz="1000" dirty="0"/>
          </a:p>
        </p:txBody>
      </p:sp>
      <p:sp>
        <p:nvSpPr>
          <p:cNvPr id="12" name="Text 9"/>
          <p:cNvSpPr/>
          <p:nvPr/>
        </p:nvSpPr>
        <p:spPr>
          <a:xfrm>
            <a:off x="630936" y="941832"/>
            <a:ext cx="7479792" cy="1197864"/>
          </a:xfrm>
          <a:prstGeom prst="rect">
            <a:avLst/>
          </a:prstGeom>
          <a:noFill/>
          <a:ln/>
        </p:spPr>
        <p:txBody>
          <a:bodyPr wrap="square" lIns="0" tIns="0" rIns="0" bIns="0" rtlCol="0" anchor="ctr">
            <a:spAutoFit/>
          </a:bodyPr>
          <a:lstStyle/>
          <a:p>
            <a:pPr marL="0" indent="0">
              <a:buNone/>
            </a:pPr>
            <a:r>
              <a:rPr lang="en-US" sz="4100" dirty="0">
                <a:solidFill>
                  <a:srgbClr val="F1F6FF"/>
                </a:solidFill>
                <a:latin typeface="Inter Display" pitchFamily="34" charset="0"/>
                <a:ea typeface="Inter Display" pitchFamily="34" charset="-122"/>
                <a:cs typeface="Inter Display" pitchFamily="34" charset="-120"/>
              </a:rPr>
              <a:t>One correction.</a:t>
            </a:r>
            <a:endParaRPr lang="en-US" sz="4100" dirty="0"/>
          </a:p>
          <a:p>
            <a:pPr marL="0" indent="0">
              <a:buNone/>
            </a:pPr>
            <a:r>
              <a:rPr lang="en-US" sz="4100" dirty="0">
                <a:solidFill>
                  <a:srgbClr val="F1F6FF"/>
                </a:solidFill>
                <a:latin typeface="Inter Display" pitchFamily="34" charset="0"/>
                <a:ea typeface="Inter Display" pitchFamily="34" charset="-122"/>
                <a:cs typeface="Inter Display" pitchFamily="34" charset="-120"/>
              </a:rPr>
              <a:t>One saved action.</a:t>
            </a:r>
            <a:endParaRPr lang="en-US" sz="4100" dirty="0"/>
          </a:p>
        </p:txBody>
      </p:sp>
      <p:sp>
        <p:nvSpPr>
          <p:cNvPr id="13" name="Text 10"/>
          <p:cNvSpPr/>
          <p:nvPr/>
        </p:nvSpPr>
        <p:spPr>
          <a:xfrm>
            <a:off x="667512" y="2331720"/>
            <a:ext cx="6784848" cy="320040"/>
          </a:xfrm>
          <a:prstGeom prst="rect">
            <a:avLst/>
          </a:prstGeom>
          <a:noFill/>
          <a:ln/>
        </p:spPr>
        <p:txBody>
          <a:bodyPr wrap="square" lIns="0" tIns="0" rIns="0" bIns="0" rtlCol="0" anchor="ctr">
            <a:spAutoFit/>
          </a:bodyPr>
          <a:lstStyle/>
          <a:p>
            <a:pPr marL="0" indent="0">
              <a:buNone/>
            </a:pPr>
            <a:r>
              <a:rPr lang="en-US" sz="1750" dirty="0">
                <a:solidFill>
                  <a:srgbClr val="BAC8DD"/>
                </a:solidFill>
                <a:latin typeface="Inter" pitchFamily="34" charset="0"/>
                <a:ea typeface="Inter" pitchFamily="34" charset="-122"/>
                <a:cs typeface="Inter" pitchFamily="34" charset="-120"/>
              </a:rPr>
              <a:t>The same controller, beyond the benchmark.</a:t>
            </a:r>
            <a:endParaRPr lang="en-US" sz="1750" dirty="0"/>
          </a:p>
        </p:txBody>
      </p:sp>
      <p:sp>
        <p:nvSpPr>
          <p:cNvPr id="14" name="Shape 11"/>
          <p:cNvSpPr/>
          <p:nvPr/>
        </p:nvSpPr>
        <p:spPr>
          <a:xfrm>
            <a:off x="708660" y="2976372"/>
            <a:ext cx="82296" cy="82296"/>
          </a:xfrm>
          <a:prstGeom prst="ellipse">
            <a:avLst/>
          </a:prstGeom>
          <a:solidFill>
            <a:srgbClr val="91A2BB"/>
          </a:solidFill>
          <a:ln w="12700">
            <a:solidFill>
              <a:srgbClr val="91A2BB"/>
            </a:solidFill>
            <a:prstDash val="solid"/>
          </a:ln>
        </p:spPr>
      </p:sp>
      <p:sp>
        <p:nvSpPr>
          <p:cNvPr id="15" name="Shape 12"/>
          <p:cNvSpPr/>
          <p:nvPr/>
        </p:nvSpPr>
        <p:spPr>
          <a:xfrm>
            <a:off x="749808" y="3154680"/>
            <a:ext cx="0" cy="448056"/>
          </a:xfrm>
          <a:prstGeom prst="line">
            <a:avLst/>
          </a:prstGeom>
          <a:noFill/>
          <a:ln w="12700">
            <a:solidFill>
              <a:srgbClr val="263750"/>
            </a:solidFill>
            <a:prstDash val="solid"/>
          </a:ln>
        </p:spPr>
      </p:sp>
      <p:sp>
        <p:nvSpPr>
          <p:cNvPr id="16" name="Shape 13"/>
          <p:cNvSpPr/>
          <p:nvPr/>
        </p:nvSpPr>
        <p:spPr>
          <a:xfrm>
            <a:off x="708660" y="3744468"/>
            <a:ext cx="82296" cy="82296"/>
          </a:xfrm>
          <a:prstGeom prst="ellipse">
            <a:avLst/>
          </a:prstGeom>
          <a:solidFill>
            <a:srgbClr val="87BFFF"/>
          </a:solidFill>
          <a:ln w="12700">
            <a:solidFill>
              <a:srgbClr val="87BFFF"/>
            </a:solidFill>
            <a:prstDash val="solid"/>
          </a:ln>
        </p:spPr>
      </p:sp>
      <p:sp>
        <p:nvSpPr>
          <p:cNvPr id="17" name="Shape 14"/>
          <p:cNvSpPr/>
          <p:nvPr/>
        </p:nvSpPr>
        <p:spPr>
          <a:xfrm>
            <a:off x="749808" y="3922776"/>
            <a:ext cx="0" cy="448056"/>
          </a:xfrm>
          <a:prstGeom prst="line">
            <a:avLst/>
          </a:prstGeom>
          <a:noFill/>
          <a:ln w="12700">
            <a:solidFill>
              <a:srgbClr val="263750"/>
            </a:solidFill>
            <a:prstDash val="solid"/>
          </a:ln>
        </p:spPr>
      </p:sp>
      <p:sp>
        <p:nvSpPr>
          <p:cNvPr id="18" name="Shape 15"/>
          <p:cNvSpPr/>
          <p:nvPr/>
        </p:nvSpPr>
        <p:spPr>
          <a:xfrm>
            <a:off x="708660" y="4512564"/>
            <a:ext cx="82296" cy="82296"/>
          </a:xfrm>
          <a:prstGeom prst="ellipse">
            <a:avLst/>
          </a:prstGeom>
          <a:solidFill>
            <a:srgbClr val="87BFFF"/>
          </a:solidFill>
          <a:ln w="12700">
            <a:solidFill>
              <a:srgbClr val="87BFFF"/>
            </a:solidFill>
            <a:prstDash val="solid"/>
          </a:ln>
        </p:spPr>
      </p:sp>
      <p:sp>
        <p:nvSpPr>
          <p:cNvPr id="19" name="Text 16"/>
          <p:cNvSpPr/>
          <p:nvPr/>
        </p:nvSpPr>
        <p:spPr>
          <a:xfrm>
            <a:off x="1024128" y="2898648"/>
            <a:ext cx="5760720" cy="310896"/>
          </a:xfrm>
          <a:prstGeom prst="rect">
            <a:avLst/>
          </a:prstGeom>
          <a:noFill/>
          <a:ln/>
        </p:spPr>
        <p:txBody>
          <a:bodyPr wrap="square" lIns="0" tIns="0" rIns="0" bIns="0" rtlCol="0" anchor="ctr">
            <a:spAutoFit/>
          </a:bodyPr>
          <a:lstStyle/>
          <a:p>
            <a:pPr marL="0" indent="0">
              <a:buNone/>
            </a:pPr>
            <a:r>
              <a:rPr lang="en-US" sz="2100" dirty="0">
                <a:solidFill>
                  <a:srgbClr val="91A2BB"/>
                </a:solidFill>
                <a:latin typeface="Inter" pitchFamily="34" charset="0"/>
                <a:ea typeface="Inter" pitchFamily="34" charset="-122"/>
                <a:cs typeface="Inter" pitchFamily="34" charset="-120"/>
              </a:rPr>
              <a:t>“Add chop the celery.”</a:t>
            </a:r>
            <a:endParaRPr lang="en-US" sz="2100" dirty="0"/>
          </a:p>
        </p:txBody>
      </p:sp>
      <p:sp>
        <p:nvSpPr>
          <p:cNvPr id="20" name="Text 17"/>
          <p:cNvSpPr/>
          <p:nvPr/>
        </p:nvSpPr>
        <p:spPr>
          <a:xfrm>
            <a:off x="1024128" y="3282696"/>
            <a:ext cx="5669280" cy="201168"/>
          </a:xfrm>
          <a:prstGeom prst="rect">
            <a:avLst/>
          </a:prstGeom>
          <a:noFill/>
          <a:ln/>
        </p:spPr>
        <p:txBody>
          <a:bodyPr wrap="square" lIns="0" tIns="0" rIns="0" bIns="0" rtlCol="0" anchor="ctr">
            <a:spAutoFit/>
          </a:bodyPr>
          <a:lstStyle/>
          <a:p>
            <a:pPr marL="0" indent="0">
              <a:buNone/>
            </a:pPr>
            <a:r>
              <a:rPr lang="en-US" sz="1250" dirty="0">
                <a:solidFill>
                  <a:srgbClr val="91A2BB"/>
                </a:solidFill>
                <a:latin typeface="Inter" pitchFamily="34" charset="0"/>
                <a:ea typeface="Inter" pitchFamily="34" charset="-122"/>
                <a:cs typeface="Inter" pitchFamily="34" charset="-120"/>
              </a:rPr>
              <a:t>Withdrawn before execution</a:t>
            </a:r>
            <a:endParaRPr lang="en-US" sz="1250" dirty="0"/>
          </a:p>
        </p:txBody>
      </p:sp>
      <p:sp>
        <p:nvSpPr>
          <p:cNvPr id="21" name="Text 18"/>
          <p:cNvSpPr/>
          <p:nvPr/>
        </p:nvSpPr>
        <p:spPr>
          <a:xfrm>
            <a:off x="1024128" y="3666744"/>
            <a:ext cx="5760720" cy="310896"/>
          </a:xfrm>
          <a:prstGeom prst="rect">
            <a:avLst/>
          </a:prstGeom>
          <a:noFill/>
          <a:ln/>
        </p:spPr>
        <p:txBody>
          <a:bodyPr wrap="square" lIns="0" tIns="0" rIns="0" bIns="0" rtlCol="0" anchor="ctr">
            <a:spAutoFit/>
          </a:bodyPr>
          <a:lstStyle/>
          <a:p>
            <a:pPr marL="0" indent="0">
              <a:buNone/>
            </a:pPr>
            <a:r>
              <a:rPr lang="en-US" sz="2100" dirty="0">
                <a:solidFill>
                  <a:srgbClr val="F1F6FF"/>
                </a:solidFill>
                <a:latin typeface="Inter" pitchFamily="34" charset="0"/>
                <a:ea typeface="Inter" pitchFamily="34" charset="-122"/>
                <a:cs typeface="Inter" pitchFamily="34" charset="-120"/>
              </a:rPr>
              <a:t>“Add wash the spinach.”</a:t>
            </a:r>
            <a:endParaRPr lang="en-US" sz="2100" dirty="0"/>
          </a:p>
        </p:txBody>
      </p:sp>
      <p:sp>
        <p:nvSpPr>
          <p:cNvPr id="22" name="Text 19"/>
          <p:cNvSpPr/>
          <p:nvPr/>
        </p:nvSpPr>
        <p:spPr>
          <a:xfrm>
            <a:off x="1024128" y="4050792"/>
            <a:ext cx="5669280" cy="201168"/>
          </a:xfrm>
          <a:prstGeom prst="rect">
            <a:avLst/>
          </a:prstGeom>
          <a:noFill/>
          <a:ln/>
        </p:spPr>
        <p:txBody>
          <a:bodyPr wrap="square" lIns="0" tIns="0" rIns="0" bIns="0" rtlCol="0" anchor="ctr">
            <a:spAutoFit/>
          </a:bodyPr>
          <a:lstStyle/>
          <a:p>
            <a:pPr marL="0" indent="0">
              <a:buNone/>
            </a:pPr>
            <a:r>
              <a:rPr lang="en-US" sz="1250" dirty="0">
                <a:solidFill>
                  <a:srgbClr val="BAC8DD"/>
                </a:solidFill>
                <a:latin typeface="Inter" pitchFamily="34" charset="0"/>
                <a:ea typeface="Inter" pitchFamily="34" charset="-122"/>
                <a:cs typeface="Inter" pitchFamily="34" charset="-120"/>
              </a:rPr>
              <a:t>Surviving instruction → one recorded add</a:t>
            </a:r>
            <a:endParaRPr lang="en-US" sz="1250" dirty="0"/>
          </a:p>
        </p:txBody>
      </p:sp>
      <p:sp>
        <p:nvSpPr>
          <p:cNvPr id="23" name="Text 20"/>
          <p:cNvSpPr/>
          <p:nvPr/>
        </p:nvSpPr>
        <p:spPr>
          <a:xfrm>
            <a:off x="1024128" y="4434840"/>
            <a:ext cx="5760720" cy="310896"/>
          </a:xfrm>
          <a:prstGeom prst="rect">
            <a:avLst/>
          </a:prstGeom>
          <a:noFill/>
          <a:ln/>
        </p:spPr>
        <p:txBody>
          <a:bodyPr wrap="square" lIns="0" tIns="0" rIns="0" bIns="0" rtlCol="0" anchor="ctr">
            <a:spAutoFit/>
          </a:bodyPr>
          <a:lstStyle/>
          <a:p>
            <a:pPr marL="0" indent="0">
              <a:buNone/>
            </a:pPr>
            <a:r>
              <a:rPr lang="en-US" sz="2100" dirty="0">
                <a:solidFill>
                  <a:srgbClr val="87BFFF"/>
                </a:solidFill>
                <a:latin typeface="Inter" pitchFamily="34" charset="0"/>
                <a:ea typeface="Inter" pitchFamily="34" charset="-122"/>
                <a:cs typeface="Inter" pitchFamily="34" charset="-120"/>
              </a:rPr>
              <a:t>Reopen. It is still there.</a:t>
            </a:r>
            <a:endParaRPr lang="en-US" sz="2100" dirty="0"/>
          </a:p>
        </p:txBody>
      </p:sp>
      <p:sp>
        <p:nvSpPr>
          <p:cNvPr id="24" name="Text 21"/>
          <p:cNvSpPr/>
          <p:nvPr/>
        </p:nvSpPr>
        <p:spPr>
          <a:xfrm>
            <a:off x="1024128" y="4818888"/>
            <a:ext cx="5669280" cy="201168"/>
          </a:xfrm>
          <a:prstGeom prst="rect">
            <a:avLst/>
          </a:prstGeom>
          <a:noFill/>
          <a:ln/>
        </p:spPr>
        <p:txBody>
          <a:bodyPr wrap="square" lIns="0" tIns="0" rIns="0" bIns="0" rtlCol="0" anchor="ctr">
            <a:spAutoFit/>
          </a:bodyPr>
          <a:lstStyle/>
          <a:p>
            <a:pPr marL="0" indent="0">
              <a:buNone/>
            </a:pPr>
            <a:r>
              <a:rPr lang="en-US" sz="1250" dirty="0">
                <a:solidFill>
                  <a:srgbClr val="BAC8DD"/>
                </a:solidFill>
                <a:latin typeface="Inter" pitchFamily="34" charset="0"/>
                <a:ea typeface="Inter" pitchFamily="34" charset="-122"/>
                <a:cs typeface="Inter" pitchFamily="34" charset="-120"/>
              </a:rPr>
              <a:t>Saved item + durable action receipt</a:t>
            </a:r>
            <a:endParaRPr lang="en-US" sz="1250" dirty="0"/>
          </a:p>
        </p:txBody>
      </p:sp>
      <p:sp>
        <p:nvSpPr>
          <p:cNvPr id="25" name="Shape 22"/>
          <p:cNvSpPr/>
          <p:nvPr/>
        </p:nvSpPr>
        <p:spPr>
          <a:xfrm>
            <a:off x="7658100" y="1357884"/>
            <a:ext cx="3703320" cy="4261104"/>
          </a:xfrm>
          <a:prstGeom prst="roundRect">
            <a:avLst>
              <a:gd name="adj" fmla="val 2963"/>
            </a:avLst>
          </a:prstGeom>
          <a:solidFill>
            <a:srgbClr val="111E30"/>
          </a:solidFill>
          <a:ln w="10160">
            <a:solidFill>
              <a:srgbClr val="33465F"/>
            </a:solidFill>
            <a:prstDash val="solid"/>
          </a:ln>
        </p:spPr>
      </p:sp>
      <p:pic>
        <p:nvPicPr>
          <p:cNvPr id="26" name="Image 1" descr="/mnt/data/thread_deck_work/assets/kitchen-capture.png"/>
          <p:cNvPicPr>
            <a:picLocks noChangeAspect="1"/>
          </p:cNvPicPr>
          <p:nvPr/>
        </p:nvPicPr>
        <p:blipFill>
          <a:blip r:embed="rId4"/>
          <a:stretch>
            <a:fillRect/>
          </a:stretch>
        </p:blipFill>
        <p:spPr>
          <a:xfrm>
            <a:off x="7735824" y="1435608"/>
            <a:ext cx="3547872" cy="4105656"/>
          </a:xfrm>
          <a:prstGeom prst="rect">
            <a:avLst/>
          </a:prstGeom>
        </p:spPr>
      </p:pic>
      <p:sp>
        <p:nvSpPr>
          <p:cNvPr id="27" name="Text 23"/>
          <p:cNvSpPr/>
          <p:nvPr/>
        </p:nvSpPr>
        <p:spPr>
          <a:xfrm>
            <a:off x="7726680" y="5715000"/>
            <a:ext cx="3657600" cy="201168"/>
          </a:xfrm>
          <a:prstGeom prst="rect">
            <a:avLst/>
          </a:prstGeom>
          <a:noFill/>
          <a:ln/>
        </p:spPr>
        <p:txBody>
          <a:bodyPr wrap="square" lIns="0" tIns="0" rIns="0" bIns="0" rtlCol="0" anchor="ctr">
            <a:spAutoFit/>
          </a:bodyPr>
          <a:lstStyle/>
          <a:p>
            <a:pPr marL="0" indent="0">
              <a:buNone/>
            </a:pPr>
            <a:r>
              <a:rPr lang="en-US" sz="920" kern="0" spc="60" dirty="0">
                <a:solidFill>
                  <a:srgbClr val="91A2BB"/>
                </a:solidFill>
                <a:latin typeface="Inter" pitchFamily="34" charset="0"/>
                <a:ea typeface="Inter" pitchFamily="34" charset="-122"/>
                <a:cs typeface="Inter" pitchFamily="34" charset="-120"/>
              </a:rPr>
              <a:t>HISTORICAL ANDROID EMULATOR CAPTURE</a:t>
            </a:r>
            <a:endParaRPr lang="en-US" sz="920" dirty="0"/>
          </a:p>
        </p:txBody>
      </p:sp>
      <p:sp>
        <p:nvSpPr>
          <p:cNvPr id="28" name="Text 24"/>
          <p:cNvSpPr/>
          <p:nvPr/>
        </p:nvSpPr>
        <p:spPr>
          <a:xfrm>
            <a:off x="7726680" y="6007608"/>
            <a:ext cx="3712464" cy="182880"/>
          </a:xfrm>
          <a:prstGeom prst="rect">
            <a:avLst/>
          </a:prstGeom>
          <a:noFill/>
          <a:ln/>
        </p:spPr>
        <p:txBody>
          <a:bodyPr wrap="square" lIns="0" tIns="0" rIns="0" bIns="0" rtlCol="0" anchor="ctr">
            <a:spAutoFit/>
          </a:bodyPr>
          <a:lstStyle/>
          <a:p>
            <a:pPr marL="0" indent="0">
              <a:buNone/>
            </a:pPr>
            <a:r>
              <a:rPr lang="en-US" sz="910" dirty="0">
                <a:solidFill>
                  <a:srgbClr val="91A2BB"/>
                </a:solidFill>
                <a:latin typeface="Inter" pitchFamily="34" charset="0"/>
                <a:ea typeface="Inter" pitchFamily="34" charset="-122"/>
                <a:cs typeface="Inter" pitchFamily="34" charset="-120"/>
              </a:rPr>
              <a:t>extension015 · runtime fecb5c2 · viewer 8e9324a</a:t>
            </a:r>
            <a:endParaRPr lang="en-US" sz="910" dirty="0"/>
          </a:p>
        </p:txBody>
      </p:sp>
      <p:sp>
        <p:nvSpPr>
          <p:cNvPr id="29" name="Text 25"/>
          <p:cNvSpPr/>
          <p:nvPr/>
        </p:nvSpPr>
        <p:spPr>
          <a:xfrm>
            <a:off x="676656" y="5522976"/>
            <a:ext cx="6400800" cy="201168"/>
          </a:xfrm>
          <a:prstGeom prst="rect">
            <a:avLst/>
          </a:prstGeom>
          <a:noFill/>
          <a:ln/>
        </p:spPr>
        <p:txBody>
          <a:bodyPr wrap="square" lIns="0" tIns="0" rIns="0" bIns="0" rtlCol="0" anchor="ctr">
            <a:spAutoFit/>
          </a:bodyPr>
          <a:lstStyle/>
          <a:p>
            <a:pPr marL="0" indent="0">
              <a:buNone/>
            </a:pPr>
            <a:r>
              <a:rPr lang="en-US" sz="1080" kern="0" spc="120" dirty="0">
                <a:solidFill>
                  <a:srgbClr val="87BFFF"/>
                </a:solidFill>
                <a:latin typeface="Inter" pitchFamily="34" charset="0"/>
                <a:ea typeface="Inter" pitchFamily="34" charset="-122"/>
                <a:cs typeface="Inter" pitchFamily="34" charset="-120"/>
              </a:rPr>
              <a:t>READ   /   ADD   /   UPDATE</a:t>
            </a:r>
            <a:endParaRPr lang="en-US" sz="1080" dirty="0"/>
          </a:p>
        </p:txBody>
      </p:sp>
      <p:sp>
        <p:nvSpPr>
          <p:cNvPr id="30" name="Text 26"/>
          <p:cNvSpPr/>
          <p:nvPr/>
        </p:nvSpPr>
        <p:spPr>
          <a:xfrm>
            <a:off x="676656" y="5916168"/>
            <a:ext cx="6592824" cy="292608"/>
          </a:xfrm>
          <a:prstGeom prst="rect">
            <a:avLst/>
          </a:prstGeom>
          <a:noFill/>
          <a:ln/>
        </p:spPr>
        <p:txBody>
          <a:bodyPr wrap="square" lIns="0" tIns="0" rIns="0" bIns="0" rtlCol="0" anchor="ctr">
            <a:spAutoFit/>
          </a:bodyPr>
          <a:lstStyle/>
          <a:p>
            <a:pPr marL="0" indent="0">
              <a:buNone/>
            </a:pPr>
            <a:r>
              <a:rPr lang="en-US" sz="1120" dirty="0">
                <a:solidFill>
                  <a:srgbClr val="BAC8DD"/>
                </a:solidFill>
                <a:latin typeface="Inter" pitchFamily="34" charset="0"/>
                <a:ea typeface="Inter" pitchFamily="34" charset="-122"/>
                <a:cs typeface="Inter" pitchFamily="34" charset="-120"/>
              </a:rPr>
              <a:t>Browser + Android storage. Tethered local host; not on-device inference.</a:t>
            </a:r>
            <a:endParaRPr lang="en-US" sz="1120" dirty="0"/>
          </a:p>
        </p:txBody>
      </p:sp>
      <p:sp>
        <p:nvSpPr>
          <p:cNvPr id="31" name="Text 27">
            <a:hlinkClick r:id="rId5"/>
          </p:cNvPr>
          <p:cNvSpPr/>
          <p:nvPr/>
        </p:nvSpPr>
        <p:spPr>
          <a:xfrm>
            <a:off x="6400800" y="6505956"/>
            <a:ext cx="3703320" cy="146304"/>
          </a:xfrm>
          <a:prstGeom prst="rect">
            <a:avLst/>
          </a:prstGeom>
          <a:noFill/>
          <a:ln/>
        </p:spPr>
        <p:txBody>
          <a:bodyPr wrap="square" lIns="0" tIns="0" rIns="0" bIns="0" rtlCol="0" anchor="ctr">
            <a:spAutoFit/>
          </a:bodyPr>
          <a:lstStyle/>
          <a:p>
            <a:pPr marL="0" indent="0" algn="r">
              <a:buNone/>
            </a:pPr>
            <a:r>
              <a:rPr lang="en-US" sz="820" u="sng" dirty="0">
                <a:solidFill>
                  <a:srgbClr val="91A2BB"/>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Extension boundaries &amp; recorded demo</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thread_deck_work/assets/plain-bg.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21792" y="393192"/>
            <a:ext cx="1828800" cy="201168"/>
          </a:xfrm>
          <a:prstGeom prst="rect">
            <a:avLst/>
          </a:prstGeom>
          <a:noFill/>
          <a:ln/>
        </p:spPr>
        <p:txBody>
          <a:bodyPr wrap="square" lIns="0" tIns="0" rIns="0" bIns="0" rtlCol="0" anchor="ctr">
            <a:spAutoFit/>
          </a:bodyPr>
          <a:lstStyle/>
          <a:p>
            <a:pPr marL="0" indent="0">
              <a:buNone/>
            </a:pPr>
            <a:r>
              <a:rPr lang="en-US" sz="1100" b="1" kern="0" spc="130" dirty="0">
                <a:solidFill>
                  <a:srgbClr val="F1F6FF"/>
                </a:solidFill>
                <a:latin typeface="Inter" pitchFamily="34" charset="0"/>
                <a:ea typeface="Inter" pitchFamily="34" charset="-122"/>
                <a:cs typeface="Inter" pitchFamily="34" charset="-120"/>
              </a:rPr>
              <a:t>T H R E A D</a:t>
            </a:r>
            <a:endParaRPr lang="en-US" sz="1100" dirty="0"/>
          </a:p>
        </p:txBody>
      </p:sp>
      <p:sp>
        <p:nvSpPr>
          <p:cNvPr id="4" name="Text 1"/>
          <p:cNvSpPr/>
          <p:nvPr/>
        </p:nvSpPr>
        <p:spPr>
          <a:xfrm>
            <a:off x="6400800" y="411480"/>
            <a:ext cx="5148072" cy="182880"/>
          </a:xfrm>
          <a:prstGeom prst="rect">
            <a:avLst/>
          </a:prstGeom>
          <a:noFill/>
          <a:ln/>
        </p:spPr>
        <p:txBody>
          <a:bodyPr wrap="square" lIns="0" tIns="0" rIns="0" bIns="0" rtlCol="0" anchor="ctr">
            <a:spAutoFit/>
          </a:bodyPr>
          <a:lstStyle/>
          <a:p>
            <a:pPr marL="0" indent="0" algn="r">
              <a:buNone/>
            </a:pPr>
            <a:r>
              <a:rPr lang="en-US" sz="1000" kern="0" spc="150" dirty="0">
                <a:solidFill>
                  <a:srgbClr val="91A2BB"/>
                </a:solidFill>
                <a:latin typeface="Inter" pitchFamily="34" charset="0"/>
                <a:ea typeface="Inter" pitchFamily="34" charset="-122"/>
                <a:cs typeface="Inter" pitchFamily="34" charset="-120"/>
              </a:rPr>
              <a:t>BENCHMARK / FDB-V3</a:t>
            </a:r>
            <a:endParaRPr lang="en-US" sz="1000" dirty="0"/>
          </a:p>
        </p:txBody>
      </p:sp>
      <p:sp>
        <p:nvSpPr>
          <p:cNvPr id="5" name="Shape 2"/>
          <p:cNvSpPr/>
          <p:nvPr/>
        </p:nvSpPr>
        <p:spPr>
          <a:xfrm>
            <a:off x="621792" y="6382512"/>
            <a:ext cx="10945368" cy="0"/>
          </a:xfrm>
          <a:prstGeom prst="line">
            <a:avLst/>
          </a:prstGeom>
          <a:noFill/>
          <a:ln w="8890">
            <a:solidFill>
              <a:srgbClr val="263750"/>
            </a:solidFill>
            <a:prstDash val="solid"/>
          </a:ln>
        </p:spPr>
      </p:sp>
      <p:sp>
        <p:nvSpPr>
          <p:cNvPr id="6" name="Shape 3"/>
          <p:cNvSpPr/>
          <p:nvPr/>
        </p:nvSpPr>
        <p:spPr>
          <a:xfrm>
            <a:off x="621792" y="6382512"/>
            <a:ext cx="192024" cy="0"/>
          </a:xfrm>
          <a:prstGeom prst="line">
            <a:avLst/>
          </a:prstGeom>
          <a:noFill/>
          <a:ln w="22860">
            <a:solidFill>
              <a:srgbClr val="87BFFF"/>
            </a:solidFill>
            <a:prstDash val="solid"/>
          </a:ln>
        </p:spPr>
      </p:sp>
      <p:sp>
        <p:nvSpPr>
          <p:cNvPr id="7" name="Shape 4"/>
          <p:cNvSpPr/>
          <p:nvPr/>
        </p:nvSpPr>
        <p:spPr>
          <a:xfrm>
            <a:off x="896112" y="6382512"/>
            <a:ext cx="192024" cy="0"/>
          </a:xfrm>
          <a:prstGeom prst="line">
            <a:avLst/>
          </a:prstGeom>
          <a:noFill/>
          <a:ln w="22860">
            <a:solidFill>
              <a:srgbClr val="87BFFF"/>
            </a:solidFill>
            <a:prstDash val="solid"/>
          </a:ln>
        </p:spPr>
      </p:sp>
      <p:sp>
        <p:nvSpPr>
          <p:cNvPr id="8" name="Shape 5"/>
          <p:cNvSpPr/>
          <p:nvPr/>
        </p:nvSpPr>
        <p:spPr>
          <a:xfrm>
            <a:off x="1170432" y="6382512"/>
            <a:ext cx="192024" cy="0"/>
          </a:xfrm>
          <a:prstGeom prst="line">
            <a:avLst/>
          </a:prstGeom>
          <a:noFill/>
          <a:ln w="22860">
            <a:solidFill>
              <a:srgbClr val="87BFFF"/>
            </a:solidFill>
            <a:prstDash val="solid"/>
          </a:ln>
        </p:spPr>
      </p:sp>
      <p:sp>
        <p:nvSpPr>
          <p:cNvPr id="9" name="Shape 6"/>
          <p:cNvSpPr/>
          <p:nvPr/>
        </p:nvSpPr>
        <p:spPr>
          <a:xfrm>
            <a:off x="1444752" y="6382512"/>
            <a:ext cx="192024" cy="0"/>
          </a:xfrm>
          <a:prstGeom prst="line">
            <a:avLst/>
          </a:prstGeom>
          <a:noFill/>
          <a:ln w="22860">
            <a:solidFill>
              <a:srgbClr val="87BFFF"/>
            </a:solidFill>
            <a:prstDash val="solid"/>
          </a:ln>
        </p:spPr>
      </p:sp>
      <p:sp>
        <p:nvSpPr>
          <p:cNvPr id="10" name="Shape 7"/>
          <p:cNvSpPr/>
          <p:nvPr/>
        </p:nvSpPr>
        <p:spPr>
          <a:xfrm>
            <a:off x="1719072" y="6382512"/>
            <a:ext cx="192024" cy="0"/>
          </a:xfrm>
          <a:prstGeom prst="line">
            <a:avLst/>
          </a:prstGeom>
          <a:noFill/>
          <a:ln w="22860">
            <a:solidFill>
              <a:srgbClr val="87BFFF"/>
            </a:solidFill>
            <a:prstDash val="solid"/>
          </a:ln>
        </p:spPr>
      </p:sp>
      <p:sp>
        <p:nvSpPr>
          <p:cNvPr id="11" name="Text 8"/>
          <p:cNvSpPr/>
          <p:nvPr/>
        </p:nvSpPr>
        <p:spPr>
          <a:xfrm>
            <a:off x="621792" y="6519672"/>
            <a:ext cx="5303520" cy="128016"/>
          </a:xfrm>
          <a:prstGeom prst="rect">
            <a:avLst/>
          </a:prstGeom>
          <a:noFill/>
          <a:ln/>
        </p:spPr>
        <p:txBody>
          <a:bodyPr wrap="square" lIns="0" tIns="0" rIns="0" bIns="0" rtlCol="0" anchor="ctr">
            <a:spAutoFit/>
          </a:bodyPr>
          <a:lstStyle/>
          <a:p>
            <a:pPr marL="0" indent="0">
              <a:buNone/>
            </a:pPr>
            <a:r>
              <a:rPr lang="en-US" sz="850" kern="0" spc="70" dirty="0">
                <a:solidFill>
                  <a:srgbClr val="91A2BB"/>
                </a:solidFill>
                <a:latin typeface="Inter" pitchFamily="34" charset="0"/>
                <a:ea typeface="Inter" pitchFamily="34" charset="-122"/>
                <a:cs typeface="Inter" pitchFamily="34" charset="-120"/>
              </a:rPr>
              <a:t>REFLEXAI  /  SAMSUNG PRISM 2026</a:t>
            </a:r>
            <a:endParaRPr lang="en-US" sz="850" dirty="0"/>
          </a:p>
        </p:txBody>
      </p:sp>
      <p:sp>
        <p:nvSpPr>
          <p:cNvPr id="12" name="Text 9"/>
          <p:cNvSpPr/>
          <p:nvPr/>
        </p:nvSpPr>
        <p:spPr>
          <a:xfrm>
            <a:off x="10332720" y="6492240"/>
            <a:ext cx="1216152" cy="182880"/>
          </a:xfrm>
          <a:prstGeom prst="rect">
            <a:avLst/>
          </a:prstGeom>
          <a:noFill/>
          <a:ln/>
        </p:spPr>
        <p:txBody>
          <a:bodyPr wrap="square" lIns="0" tIns="0" rIns="0" bIns="0" rtlCol="0" anchor="ctr">
            <a:spAutoFit/>
          </a:bodyPr>
          <a:lstStyle/>
          <a:p>
            <a:pPr marL="0" indent="0" algn="r">
              <a:buNone/>
            </a:pPr>
            <a:r>
              <a:rPr lang="en-US" sz="1000" kern="0" spc="100" dirty="0">
                <a:solidFill>
                  <a:srgbClr val="91A2BB"/>
                </a:solidFill>
                <a:latin typeface="Inter" pitchFamily="34" charset="0"/>
                <a:ea typeface="Inter" pitchFamily="34" charset="-122"/>
                <a:cs typeface="Inter" pitchFamily="34" charset="-120"/>
              </a:rPr>
              <a:t>05 / 08</a:t>
            </a:r>
            <a:endParaRPr lang="en-US" sz="1000" dirty="0"/>
          </a:p>
        </p:txBody>
      </p:sp>
      <p:sp>
        <p:nvSpPr>
          <p:cNvPr id="13" name="Text 10"/>
          <p:cNvSpPr/>
          <p:nvPr/>
        </p:nvSpPr>
        <p:spPr>
          <a:xfrm>
            <a:off x="621792" y="932688"/>
            <a:ext cx="10972800" cy="685800"/>
          </a:xfrm>
          <a:prstGeom prst="rect">
            <a:avLst/>
          </a:prstGeom>
          <a:noFill/>
          <a:ln/>
        </p:spPr>
        <p:txBody>
          <a:bodyPr wrap="square" lIns="0" tIns="0" rIns="0" bIns="0" rtlCol="0" anchor="ctr">
            <a:spAutoFit/>
          </a:bodyPr>
          <a:lstStyle/>
          <a:p>
            <a:pPr marL="0" indent="0">
              <a:buNone/>
            </a:pPr>
            <a:r>
              <a:rPr lang="en-US" sz="4200" dirty="0">
                <a:solidFill>
                  <a:srgbClr val="F1F6FF"/>
                </a:solidFill>
                <a:latin typeface="Inter Display" pitchFamily="34" charset="0"/>
                <a:ea typeface="Inter Display" pitchFamily="34" charset="-122"/>
                <a:cs typeface="Inter Display" pitchFamily="34" charset="-120"/>
              </a:rPr>
              <a:t>Measured, not estimated.</a:t>
            </a:r>
            <a:endParaRPr lang="en-US" sz="4200" dirty="0"/>
          </a:p>
        </p:txBody>
      </p:sp>
      <p:sp>
        <p:nvSpPr>
          <p:cNvPr id="14" name="Text 11"/>
          <p:cNvSpPr/>
          <p:nvPr/>
        </p:nvSpPr>
        <p:spPr>
          <a:xfrm>
            <a:off x="676656" y="1828800"/>
            <a:ext cx="10881360" cy="283464"/>
          </a:xfrm>
          <a:prstGeom prst="rect">
            <a:avLst/>
          </a:prstGeom>
          <a:noFill/>
          <a:ln/>
        </p:spPr>
        <p:txBody>
          <a:bodyPr wrap="square" lIns="0" tIns="0" rIns="0" bIns="0" rtlCol="0" anchor="ctr">
            <a:spAutoFit/>
          </a:bodyPr>
          <a:lstStyle/>
          <a:p>
            <a:pPr marL="0" indent="0">
              <a:buNone/>
            </a:pPr>
            <a:r>
              <a:rPr lang="en-US" sz="1550" dirty="0">
                <a:solidFill>
                  <a:srgbClr val="BAC8DD"/>
                </a:solidFill>
                <a:latin typeface="Inter" pitchFamily="34" charset="0"/>
                <a:ea typeface="Inter" pitchFamily="34" charset="-122"/>
                <a:cs typeface="Inter" pitchFamily="34" charset="-120"/>
              </a:rPr>
              <a:t>100 human recordings · 79 scenarios · 12 tools · four domains</a:t>
            </a:r>
            <a:endParaRPr lang="en-US" sz="1550" dirty="0"/>
          </a:p>
        </p:txBody>
      </p:sp>
      <p:sp>
        <p:nvSpPr>
          <p:cNvPr id="15" name="Text 12"/>
          <p:cNvSpPr/>
          <p:nvPr/>
        </p:nvSpPr>
        <p:spPr>
          <a:xfrm>
            <a:off x="676656" y="2534392"/>
            <a:ext cx="4206240" cy="161583"/>
          </a:xfrm>
          <a:prstGeom prst="rect">
            <a:avLst/>
          </a:prstGeom>
          <a:noFill/>
          <a:ln/>
        </p:spPr>
        <p:txBody>
          <a:bodyPr wrap="square" lIns="0" tIns="0" rIns="0" bIns="0" rtlCol="0" anchor="ctr">
            <a:spAutoFit/>
          </a:bodyPr>
          <a:lstStyle/>
          <a:p>
            <a:pPr marL="0" indent="0">
              <a:buNone/>
            </a:pPr>
            <a:r>
              <a:rPr lang="en-US" sz="1050" b="1" kern="0" spc="140">
                <a:solidFill>
                  <a:srgbClr val="87BFFF"/>
                </a:solidFill>
                <a:latin typeface="Inter" pitchFamily="34" charset="0"/>
                <a:ea typeface="Inter" pitchFamily="34" charset="-122"/>
                <a:cs typeface="Inter" pitchFamily="34" charset="-120"/>
              </a:rPr>
              <a:t>FINAL-SOURCE RUN  ·  4 OCT 2026</a:t>
            </a:r>
            <a:endParaRPr lang="en-US" sz="1050" dirty="0"/>
          </a:p>
        </p:txBody>
      </p:sp>
      <p:sp>
        <p:nvSpPr>
          <p:cNvPr id="16" name="Text 13"/>
          <p:cNvSpPr/>
          <p:nvPr/>
        </p:nvSpPr>
        <p:spPr>
          <a:xfrm>
            <a:off x="612648" y="2770180"/>
            <a:ext cx="2112264" cy="1354217"/>
          </a:xfrm>
          <a:prstGeom prst="rect">
            <a:avLst/>
          </a:prstGeom>
          <a:noFill/>
          <a:ln/>
        </p:spPr>
        <p:txBody>
          <a:bodyPr wrap="square" lIns="0" tIns="0" rIns="0" bIns="0" rtlCol="0" anchor="ctr">
            <a:spAutoFit/>
          </a:bodyPr>
          <a:lstStyle/>
          <a:p>
            <a:pPr marL="0" indent="0">
              <a:buNone/>
            </a:pPr>
            <a:r>
              <a:rPr lang="en-US" sz="8800">
                <a:solidFill>
                  <a:srgbClr val="F1F6FF"/>
                </a:solidFill>
                <a:latin typeface="Inter Display" pitchFamily="34" charset="0"/>
                <a:ea typeface="Inter Display" pitchFamily="34" charset="-122"/>
                <a:cs typeface="Inter Display" pitchFamily="34" charset="-120"/>
              </a:rPr>
              <a:t>63</a:t>
            </a:r>
            <a:endParaRPr lang="en-US" sz="8800" dirty="0"/>
          </a:p>
        </p:txBody>
      </p:sp>
      <p:sp>
        <p:nvSpPr>
          <p:cNvPr id="17" name="Text 14"/>
          <p:cNvSpPr/>
          <p:nvPr/>
        </p:nvSpPr>
        <p:spPr>
          <a:xfrm>
            <a:off x="2514600" y="3520440"/>
            <a:ext cx="1554480" cy="393192"/>
          </a:xfrm>
          <a:prstGeom prst="rect">
            <a:avLst/>
          </a:prstGeom>
          <a:noFill/>
          <a:ln/>
        </p:spPr>
        <p:txBody>
          <a:bodyPr wrap="square" lIns="0" tIns="0" rIns="0" bIns="0" rtlCol="0" anchor="ctr">
            <a:spAutoFit/>
          </a:bodyPr>
          <a:lstStyle/>
          <a:p>
            <a:pPr marL="0" indent="0">
              <a:buNone/>
            </a:pPr>
            <a:r>
              <a:rPr lang="en-US" sz="2700" dirty="0">
                <a:solidFill>
                  <a:srgbClr val="91A2BB"/>
                </a:solidFill>
                <a:latin typeface="Inter" pitchFamily="34" charset="0"/>
                <a:ea typeface="Inter" pitchFamily="34" charset="-122"/>
                <a:cs typeface="Inter" pitchFamily="34" charset="-120"/>
              </a:rPr>
              <a:t>/100</a:t>
            </a:r>
            <a:endParaRPr lang="en-US" sz="2700" dirty="0"/>
          </a:p>
        </p:txBody>
      </p:sp>
      <p:sp>
        <p:nvSpPr>
          <p:cNvPr id="18" name="Text 15"/>
          <p:cNvSpPr/>
          <p:nvPr/>
        </p:nvSpPr>
        <p:spPr>
          <a:xfrm>
            <a:off x="694944" y="4224528"/>
            <a:ext cx="4023360" cy="320040"/>
          </a:xfrm>
          <a:prstGeom prst="rect">
            <a:avLst/>
          </a:prstGeom>
          <a:noFill/>
          <a:ln/>
        </p:spPr>
        <p:txBody>
          <a:bodyPr wrap="square" lIns="0" tIns="0" rIns="0" bIns="0" rtlCol="0" anchor="ctr">
            <a:spAutoFit/>
          </a:bodyPr>
          <a:lstStyle/>
          <a:p>
            <a:pPr marL="0" indent="0">
              <a:buNone/>
            </a:pPr>
            <a:r>
              <a:rPr lang="en-US" sz="1900" dirty="0">
                <a:solidFill>
                  <a:srgbClr val="F1F6FF"/>
                </a:solidFill>
                <a:latin typeface="Inter" pitchFamily="34" charset="0"/>
                <a:ea typeface="Inter" pitchFamily="34" charset="-122"/>
                <a:cs typeface="Inter" pitchFamily="34" charset="-120"/>
              </a:rPr>
              <a:t>strict tool passes</a:t>
            </a:r>
            <a:endParaRPr lang="en-US" sz="1900" dirty="0"/>
          </a:p>
        </p:txBody>
      </p:sp>
      <p:sp>
        <p:nvSpPr>
          <p:cNvPr id="19" name="Text 16"/>
          <p:cNvSpPr/>
          <p:nvPr/>
        </p:nvSpPr>
        <p:spPr>
          <a:xfrm>
            <a:off x="694944" y="4887131"/>
            <a:ext cx="3941064" cy="384721"/>
          </a:xfrm>
          <a:prstGeom prst="rect">
            <a:avLst/>
          </a:prstGeom>
          <a:noFill/>
          <a:ln/>
        </p:spPr>
        <p:txBody>
          <a:bodyPr wrap="square" lIns="0" tIns="0" rIns="0" bIns="0" rtlCol="0" anchor="ctr">
            <a:spAutoFit/>
          </a:bodyPr>
          <a:lstStyle/>
          <a:p>
            <a:pPr marL="0" indent="0">
              <a:buNone/>
            </a:pPr>
            <a:r>
              <a:rPr lang="en-US" sz="1250" dirty="0">
                <a:solidFill>
                  <a:srgbClr val="BAC8DD"/>
                </a:solidFill>
                <a:latin typeface="Inter" pitchFamily="34" charset="0"/>
                <a:ea typeface="Inter" pitchFamily="34" charset="-122"/>
                <a:cs typeface="Inter" pitchFamily="34" charset="-120"/>
              </a:rPr>
              <a:t>100 evaluated. Zero infrastructure errors.</a:t>
            </a:r>
            <a:endParaRPr lang="en-US" sz="1250" dirty="0"/>
          </a:p>
          <a:p>
            <a:pPr marL="0" indent="0">
              <a:buNone/>
            </a:pPr>
            <a:r>
              <a:rPr lang="en-US" sz="1250" dirty="0">
                <a:solidFill>
                  <a:srgbClr val="BAC8DD"/>
                </a:solidFill>
                <a:latin typeface="Inter" pitchFamily="34" charset="0"/>
                <a:ea typeface="Inter" pitchFamily="34" charset="-122"/>
                <a:cs typeface="Inter" pitchFamily="34" charset="-120"/>
              </a:rPr>
              <a:t>Measured source</a:t>
            </a:r>
            <a:r>
              <a:rPr lang="en-US" sz="1250">
                <a:solidFill>
                  <a:srgbClr val="BAC8DD"/>
                </a:solidFill>
                <a:latin typeface="Inter" pitchFamily="34" charset="0"/>
                <a:ea typeface="Inter" pitchFamily="34" charset="-122"/>
                <a:cs typeface="Inter" pitchFamily="34" charset="-120"/>
              </a:rPr>
              <a:t>: 4e88d4b </a:t>
            </a:r>
            <a:r>
              <a:rPr lang="en-US" sz="1250" dirty="0">
                <a:solidFill>
                  <a:srgbClr val="BAC8DD"/>
                </a:solidFill>
                <a:latin typeface="Inter" pitchFamily="34" charset="0"/>
                <a:ea typeface="Inter" pitchFamily="34" charset="-122"/>
                <a:cs typeface="Inter" pitchFamily="34" charset="-120"/>
              </a:rPr>
              <a:t>· Whisper small.en</a:t>
            </a:r>
            <a:endParaRPr lang="en-US" sz="1250" dirty="0"/>
          </a:p>
        </p:txBody>
      </p:sp>
      <p:sp>
        <p:nvSpPr>
          <p:cNvPr id="20" name="Text 17"/>
          <p:cNvSpPr/>
          <p:nvPr/>
        </p:nvSpPr>
        <p:spPr>
          <a:xfrm>
            <a:off x="4800600" y="2240280"/>
            <a:ext cx="6684264" cy="201168"/>
          </a:xfrm>
          <a:prstGeom prst="rect">
            <a:avLst/>
          </a:prstGeom>
          <a:noFill/>
          <a:ln/>
        </p:spPr>
        <p:txBody>
          <a:bodyPr wrap="square" lIns="0" tIns="0" rIns="0" bIns="0" rtlCol="0" anchor="ctr">
            <a:spAutoFit/>
          </a:bodyPr>
          <a:lstStyle/>
          <a:p>
            <a:pPr marL="0" indent="0">
              <a:buNone/>
            </a:pPr>
            <a:r>
              <a:rPr lang="en-US" sz="1050" b="1" kern="0" spc="140" dirty="0">
                <a:solidFill>
                  <a:srgbClr val="91A2BB"/>
                </a:solidFill>
                <a:latin typeface="Inter" pitchFamily="34" charset="0"/>
                <a:ea typeface="Inter" pitchFamily="34" charset="-122"/>
                <a:cs typeface="Inter" pitchFamily="34" charset="-120"/>
              </a:rPr>
              <a:t>THREE COMPLETE LOCAL RUNS</a:t>
            </a:r>
            <a:endParaRPr lang="en-US" sz="1050" dirty="0"/>
          </a:p>
        </p:txBody>
      </p:sp>
      <p:sp>
        <p:nvSpPr>
          <p:cNvPr id="21" name="Shape 18"/>
          <p:cNvSpPr/>
          <p:nvPr/>
        </p:nvSpPr>
        <p:spPr>
          <a:xfrm>
            <a:off x="4800600" y="2569464"/>
            <a:ext cx="6684264" cy="457200"/>
          </a:xfrm>
          <a:prstGeom prst="rect">
            <a:avLst/>
          </a:prstGeom>
          <a:solidFill>
            <a:srgbClr val="10243E"/>
          </a:solidFill>
          <a:ln w="10160">
            <a:solidFill>
              <a:srgbClr val="10243E"/>
            </a:solidFill>
            <a:prstDash val="solid"/>
          </a:ln>
        </p:spPr>
      </p:sp>
      <p:sp>
        <p:nvSpPr>
          <p:cNvPr id="22" name="Text 19"/>
          <p:cNvSpPr/>
          <p:nvPr/>
        </p:nvSpPr>
        <p:spPr>
          <a:xfrm>
            <a:off x="4946904" y="2724912"/>
            <a:ext cx="2926080" cy="146304"/>
          </a:xfrm>
          <a:prstGeom prst="rect">
            <a:avLst/>
          </a:prstGeom>
          <a:noFill/>
          <a:ln/>
        </p:spPr>
        <p:txBody>
          <a:bodyPr wrap="square" lIns="0" tIns="0" rIns="0" bIns="0" rtlCol="0" anchor="ctr">
            <a:spAutoFit/>
          </a:bodyPr>
          <a:lstStyle/>
          <a:p>
            <a:pPr marL="0" indent="0" algn="l">
              <a:buNone/>
            </a:pPr>
            <a:r>
              <a:rPr lang="en-US" sz="910" b="1" dirty="0">
                <a:solidFill>
                  <a:srgbClr val="BAC8DD"/>
                </a:solidFill>
                <a:latin typeface="Inter" pitchFamily="34" charset="0"/>
                <a:ea typeface="Inter" pitchFamily="34" charset="-122"/>
                <a:cs typeface="Inter" pitchFamily="34" charset="-120"/>
              </a:rPr>
              <a:t>RECOGNIZER / SOURCE</a:t>
            </a:r>
            <a:endParaRPr lang="en-US" sz="910" dirty="0"/>
          </a:p>
        </p:txBody>
      </p:sp>
      <p:sp>
        <p:nvSpPr>
          <p:cNvPr id="23" name="Text 20"/>
          <p:cNvSpPr/>
          <p:nvPr/>
        </p:nvSpPr>
        <p:spPr>
          <a:xfrm>
            <a:off x="7964424" y="2724912"/>
            <a:ext cx="694944" cy="146304"/>
          </a:xfrm>
          <a:prstGeom prst="rect">
            <a:avLst/>
          </a:prstGeom>
          <a:noFill/>
          <a:ln/>
        </p:spPr>
        <p:txBody>
          <a:bodyPr wrap="square" lIns="0" tIns="0" rIns="0" bIns="0" rtlCol="0" anchor="ctr">
            <a:spAutoFit/>
          </a:bodyPr>
          <a:lstStyle/>
          <a:p>
            <a:pPr marL="0" indent="0" algn="ctr">
              <a:buNone/>
            </a:pPr>
            <a:r>
              <a:rPr lang="en-US" sz="910" b="1" dirty="0">
                <a:solidFill>
                  <a:srgbClr val="BAC8DD"/>
                </a:solidFill>
                <a:latin typeface="Inter" pitchFamily="34" charset="0"/>
                <a:ea typeface="Inter" pitchFamily="34" charset="-122"/>
                <a:cs typeface="Inter" pitchFamily="34" charset="-120"/>
              </a:rPr>
              <a:t>TOOL</a:t>
            </a:r>
            <a:endParaRPr lang="en-US" sz="910" dirty="0"/>
          </a:p>
        </p:txBody>
      </p:sp>
      <p:sp>
        <p:nvSpPr>
          <p:cNvPr id="24" name="Text 21"/>
          <p:cNvSpPr/>
          <p:nvPr/>
        </p:nvSpPr>
        <p:spPr>
          <a:xfrm>
            <a:off x="8778240" y="2724912"/>
            <a:ext cx="694944" cy="146304"/>
          </a:xfrm>
          <a:prstGeom prst="rect">
            <a:avLst/>
          </a:prstGeom>
          <a:noFill/>
          <a:ln/>
        </p:spPr>
        <p:txBody>
          <a:bodyPr wrap="square" lIns="0" tIns="0" rIns="0" bIns="0" rtlCol="0" anchor="ctr">
            <a:spAutoFit/>
          </a:bodyPr>
          <a:lstStyle/>
          <a:p>
            <a:pPr marL="0" indent="0" algn="ctr">
              <a:buNone/>
            </a:pPr>
            <a:r>
              <a:rPr lang="en-US" sz="910" b="1" dirty="0">
                <a:solidFill>
                  <a:srgbClr val="BAC8DD"/>
                </a:solidFill>
                <a:latin typeface="Inter" pitchFamily="34" charset="0"/>
                <a:ea typeface="Inter" pitchFamily="34" charset="-122"/>
                <a:cs typeface="Inter" pitchFamily="34" charset="-120"/>
              </a:rPr>
              <a:t>REPLY</a:t>
            </a:r>
            <a:endParaRPr lang="en-US" sz="910" dirty="0"/>
          </a:p>
        </p:txBody>
      </p:sp>
      <p:sp>
        <p:nvSpPr>
          <p:cNvPr id="25" name="Text 22"/>
          <p:cNvSpPr/>
          <p:nvPr/>
        </p:nvSpPr>
        <p:spPr>
          <a:xfrm>
            <a:off x="9665208" y="2724912"/>
            <a:ext cx="694944" cy="146304"/>
          </a:xfrm>
          <a:prstGeom prst="rect">
            <a:avLst/>
          </a:prstGeom>
          <a:noFill/>
          <a:ln/>
        </p:spPr>
        <p:txBody>
          <a:bodyPr wrap="square" lIns="0" tIns="0" rIns="0" bIns="0" rtlCol="0" anchor="ctr">
            <a:spAutoFit/>
          </a:bodyPr>
          <a:lstStyle/>
          <a:p>
            <a:pPr marL="0" indent="0" algn="ctr">
              <a:buNone/>
            </a:pPr>
            <a:r>
              <a:rPr lang="en-US" sz="910" b="1" dirty="0">
                <a:solidFill>
                  <a:srgbClr val="BAC8DD"/>
                </a:solidFill>
                <a:latin typeface="Inter" pitchFamily="34" charset="0"/>
                <a:ea typeface="Inter" pitchFamily="34" charset="-122"/>
                <a:cs typeface="Inter" pitchFamily="34" charset="-120"/>
              </a:rPr>
              <a:t>BOTH</a:t>
            </a:r>
            <a:endParaRPr lang="en-US" sz="910" dirty="0"/>
          </a:p>
        </p:txBody>
      </p:sp>
      <p:sp>
        <p:nvSpPr>
          <p:cNvPr id="26" name="Text 23"/>
          <p:cNvSpPr/>
          <p:nvPr/>
        </p:nvSpPr>
        <p:spPr>
          <a:xfrm>
            <a:off x="10671048" y="2724912"/>
            <a:ext cx="694944" cy="146304"/>
          </a:xfrm>
          <a:prstGeom prst="rect">
            <a:avLst/>
          </a:prstGeom>
          <a:noFill/>
          <a:ln/>
        </p:spPr>
        <p:txBody>
          <a:bodyPr wrap="square" lIns="0" tIns="0" rIns="0" bIns="0" rtlCol="0" anchor="ctr">
            <a:spAutoFit/>
          </a:bodyPr>
          <a:lstStyle/>
          <a:p>
            <a:pPr marL="0" indent="0" algn="ctr">
              <a:buNone/>
            </a:pPr>
            <a:r>
              <a:rPr lang="en-US" sz="910" b="1" dirty="0">
                <a:solidFill>
                  <a:srgbClr val="BAC8DD"/>
                </a:solidFill>
                <a:latin typeface="Inter" pitchFamily="34" charset="0"/>
                <a:ea typeface="Inter" pitchFamily="34" charset="-122"/>
                <a:cs typeface="Inter" pitchFamily="34" charset="-120"/>
              </a:rPr>
              <a:t>INFRA</a:t>
            </a:r>
            <a:endParaRPr lang="en-US" sz="910" dirty="0"/>
          </a:p>
        </p:txBody>
      </p:sp>
      <p:sp>
        <p:nvSpPr>
          <p:cNvPr id="27" name="Shape 24"/>
          <p:cNvSpPr/>
          <p:nvPr/>
        </p:nvSpPr>
        <p:spPr>
          <a:xfrm>
            <a:off x="4800600" y="3721608"/>
            <a:ext cx="6684264" cy="0"/>
          </a:xfrm>
          <a:prstGeom prst="line">
            <a:avLst/>
          </a:prstGeom>
          <a:noFill/>
          <a:ln w="8890">
            <a:solidFill>
              <a:srgbClr val="263750"/>
            </a:solidFill>
            <a:prstDash val="solid"/>
          </a:ln>
        </p:spPr>
      </p:sp>
      <p:sp>
        <p:nvSpPr>
          <p:cNvPr id="28" name="Text 25"/>
          <p:cNvSpPr/>
          <p:nvPr/>
        </p:nvSpPr>
        <p:spPr>
          <a:xfrm>
            <a:off x="4946904" y="3264408"/>
            <a:ext cx="2953512" cy="237744"/>
          </a:xfrm>
          <a:prstGeom prst="rect">
            <a:avLst/>
          </a:prstGeom>
          <a:noFill/>
          <a:ln/>
        </p:spPr>
        <p:txBody>
          <a:bodyPr wrap="square" lIns="0" tIns="0" rIns="0" bIns="0" rtlCol="0" anchor="ctr">
            <a:spAutoFit/>
          </a:bodyPr>
          <a:lstStyle/>
          <a:p>
            <a:pPr marL="0" indent="0">
              <a:buNone/>
            </a:pPr>
            <a:r>
              <a:rPr lang="en-US" sz="1280" dirty="0">
                <a:solidFill>
                  <a:srgbClr val="BAC8DD"/>
                </a:solidFill>
                <a:latin typeface="Inter" pitchFamily="34" charset="0"/>
                <a:ea typeface="Inter" pitchFamily="34" charset="-122"/>
                <a:cs typeface="Inter" pitchFamily="34" charset="-120"/>
              </a:rPr>
              <a:t>small.en  /  771981a</a:t>
            </a:r>
            <a:endParaRPr lang="en-US" sz="1280" dirty="0"/>
          </a:p>
        </p:txBody>
      </p:sp>
      <p:sp>
        <p:nvSpPr>
          <p:cNvPr id="29" name="Text 26"/>
          <p:cNvSpPr/>
          <p:nvPr/>
        </p:nvSpPr>
        <p:spPr>
          <a:xfrm>
            <a:off x="7964424" y="3218688"/>
            <a:ext cx="694944" cy="338328"/>
          </a:xfrm>
          <a:prstGeom prst="rect">
            <a:avLst/>
          </a:prstGeom>
          <a:noFill/>
          <a:ln/>
        </p:spPr>
        <p:txBody>
          <a:bodyPr wrap="square" lIns="0" tIns="0" rIns="0" bIns="0" rtlCol="0" anchor="ctr">
            <a:spAutoFit/>
          </a:bodyPr>
          <a:lstStyle/>
          <a:p>
            <a:pPr marL="0" indent="0" algn="ctr">
              <a:buNone/>
            </a:pPr>
            <a:r>
              <a:rPr lang="en-US" sz="2100" dirty="0">
                <a:solidFill>
                  <a:srgbClr val="F1F6FF"/>
                </a:solidFill>
                <a:latin typeface="Inter Display" pitchFamily="34" charset="0"/>
                <a:ea typeface="Inter Display" pitchFamily="34" charset="-122"/>
                <a:cs typeface="Inter Display" pitchFamily="34" charset="-120"/>
              </a:rPr>
              <a:t>59</a:t>
            </a:r>
            <a:endParaRPr lang="en-US" sz="2100" dirty="0"/>
          </a:p>
        </p:txBody>
      </p:sp>
      <p:sp>
        <p:nvSpPr>
          <p:cNvPr id="30" name="Text 27"/>
          <p:cNvSpPr/>
          <p:nvPr/>
        </p:nvSpPr>
        <p:spPr>
          <a:xfrm>
            <a:off x="8778240" y="3218688"/>
            <a:ext cx="694944" cy="338328"/>
          </a:xfrm>
          <a:prstGeom prst="rect">
            <a:avLst/>
          </a:prstGeom>
          <a:noFill/>
          <a:ln/>
        </p:spPr>
        <p:txBody>
          <a:bodyPr wrap="square" lIns="0" tIns="0" rIns="0" bIns="0" rtlCol="0" anchor="ctr">
            <a:spAutoFit/>
          </a:bodyPr>
          <a:lstStyle/>
          <a:p>
            <a:pPr marL="0" indent="0" algn="ctr">
              <a:buNone/>
            </a:pPr>
            <a:r>
              <a:rPr lang="en-US" sz="2100" dirty="0">
                <a:solidFill>
                  <a:srgbClr val="F1F6FF"/>
                </a:solidFill>
                <a:latin typeface="Inter Display" pitchFamily="34" charset="0"/>
                <a:ea typeface="Inter Display" pitchFamily="34" charset="-122"/>
                <a:cs typeface="Inter Display" pitchFamily="34" charset="-120"/>
              </a:rPr>
              <a:t>69</a:t>
            </a:r>
            <a:endParaRPr lang="en-US" sz="2100" dirty="0"/>
          </a:p>
        </p:txBody>
      </p:sp>
      <p:sp>
        <p:nvSpPr>
          <p:cNvPr id="31" name="Text 28"/>
          <p:cNvSpPr/>
          <p:nvPr/>
        </p:nvSpPr>
        <p:spPr>
          <a:xfrm>
            <a:off x="9665208" y="3218688"/>
            <a:ext cx="694944" cy="338328"/>
          </a:xfrm>
          <a:prstGeom prst="rect">
            <a:avLst/>
          </a:prstGeom>
          <a:noFill/>
          <a:ln/>
        </p:spPr>
        <p:txBody>
          <a:bodyPr wrap="square" lIns="0" tIns="0" rIns="0" bIns="0" rtlCol="0" anchor="ctr">
            <a:spAutoFit/>
          </a:bodyPr>
          <a:lstStyle/>
          <a:p>
            <a:pPr marL="0" indent="0" algn="ctr">
              <a:buNone/>
            </a:pPr>
            <a:r>
              <a:rPr lang="en-US" sz="2100" dirty="0">
                <a:solidFill>
                  <a:srgbClr val="F1F6FF"/>
                </a:solidFill>
                <a:latin typeface="Inter Display" pitchFamily="34" charset="0"/>
                <a:ea typeface="Inter Display" pitchFamily="34" charset="-122"/>
                <a:cs typeface="Inter Display" pitchFamily="34" charset="-120"/>
              </a:rPr>
              <a:t>55</a:t>
            </a:r>
            <a:endParaRPr lang="en-US" sz="2100" dirty="0"/>
          </a:p>
        </p:txBody>
      </p:sp>
      <p:sp>
        <p:nvSpPr>
          <p:cNvPr id="32" name="Text 29"/>
          <p:cNvSpPr/>
          <p:nvPr/>
        </p:nvSpPr>
        <p:spPr>
          <a:xfrm>
            <a:off x="10671048" y="3218688"/>
            <a:ext cx="694944" cy="338328"/>
          </a:xfrm>
          <a:prstGeom prst="rect">
            <a:avLst/>
          </a:prstGeom>
          <a:noFill/>
          <a:ln/>
        </p:spPr>
        <p:txBody>
          <a:bodyPr wrap="square" lIns="0" tIns="0" rIns="0" bIns="0" rtlCol="0" anchor="ctr">
            <a:spAutoFit/>
          </a:bodyPr>
          <a:lstStyle/>
          <a:p>
            <a:pPr marL="0" indent="0" algn="ctr">
              <a:buNone/>
            </a:pPr>
            <a:r>
              <a:rPr lang="en-US" sz="2100" dirty="0">
                <a:solidFill>
                  <a:srgbClr val="F1F6FF"/>
                </a:solidFill>
                <a:latin typeface="Inter Display" pitchFamily="34" charset="0"/>
                <a:ea typeface="Inter Display" pitchFamily="34" charset="-122"/>
                <a:cs typeface="Inter Display" pitchFamily="34" charset="-120"/>
              </a:rPr>
              <a:t>0</a:t>
            </a:r>
            <a:endParaRPr lang="en-US" sz="2100" dirty="0"/>
          </a:p>
        </p:txBody>
      </p:sp>
      <p:sp>
        <p:nvSpPr>
          <p:cNvPr id="33" name="Shape 30"/>
          <p:cNvSpPr/>
          <p:nvPr/>
        </p:nvSpPr>
        <p:spPr>
          <a:xfrm>
            <a:off x="4800600" y="4398264"/>
            <a:ext cx="6684264" cy="0"/>
          </a:xfrm>
          <a:prstGeom prst="line">
            <a:avLst/>
          </a:prstGeom>
          <a:noFill/>
          <a:ln w="8890">
            <a:solidFill>
              <a:srgbClr val="263750"/>
            </a:solidFill>
            <a:prstDash val="solid"/>
          </a:ln>
        </p:spPr>
      </p:sp>
      <p:sp>
        <p:nvSpPr>
          <p:cNvPr id="34" name="Text 31"/>
          <p:cNvSpPr/>
          <p:nvPr/>
        </p:nvSpPr>
        <p:spPr>
          <a:xfrm>
            <a:off x="4946904" y="3961447"/>
            <a:ext cx="2953512" cy="196977"/>
          </a:xfrm>
          <a:prstGeom prst="rect">
            <a:avLst/>
          </a:prstGeom>
          <a:noFill/>
          <a:ln/>
        </p:spPr>
        <p:txBody>
          <a:bodyPr wrap="square" lIns="0" tIns="0" rIns="0" bIns="0" rtlCol="0" anchor="ctr">
            <a:spAutoFit/>
          </a:bodyPr>
          <a:lstStyle/>
          <a:p>
            <a:pPr marL="0" indent="0">
              <a:buNone/>
            </a:pPr>
            <a:r>
              <a:rPr lang="en-US" sz="1280">
                <a:solidFill>
                  <a:srgbClr val="BAC8DD"/>
                </a:solidFill>
                <a:latin typeface="Inter" pitchFamily="34" charset="0"/>
                <a:ea typeface="Inter" pitchFamily="34" charset="-122"/>
                <a:cs typeface="Inter" pitchFamily="34" charset="-120"/>
              </a:rPr>
              <a:t>small.en  /  8dd530f</a:t>
            </a:r>
            <a:endParaRPr lang="en-US" sz="1280" dirty="0"/>
          </a:p>
        </p:txBody>
      </p:sp>
      <p:sp>
        <p:nvSpPr>
          <p:cNvPr id="35" name="Text 32"/>
          <p:cNvSpPr/>
          <p:nvPr/>
        </p:nvSpPr>
        <p:spPr>
          <a:xfrm>
            <a:off x="7964424" y="3902925"/>
            <a:ext cx="694944" cy="323165"/>
          </a:xfrm>
          <a:prstGeom prst="rect">
            <a:avLst/>
          </a:prstGeom>
          <a:noFill/>
          <a:ln/>
        </p:spPr>
        <p:txBody>
          <a:bodyPr wrap="square" lIns="0" tIns="0" rIns="0" bIns="0" rtlCol="0" anchor="ctr">
            <a:spAutoFit/>
          </a:bodyPr>
          <a:lstStyle/>
          <a:p>
            <a:pPr marL="0" indent="0" algn="ctr">
              <a:buNone/>
            </a:pPr>
            <a:r>
              <a:rPr lang="en-US" sz="2100">
                <a:solidFill>
                  <a:srgbClr val="F1F6FF"/>
                </a:solidFill>
                <a:latin typeface="Inter Display" pitchFamily="34" charset="0"/>
                <a:ea typeface="Inter Display" pitchFamily="34" charset="-122"/>
                <a:cs typeface="Inter Display" pitchFamily="34" charset="-120"/>
              </a:rPr>
              <a:t>61</a:t>
            </a:r>
            <a:endParaRPr lang="en-US" sz="2100" dirty="0"/>
          </a:p>
        </p:txBody>
      </p:sp>
      <p:sp>
        <p:nvSpPr>
          <p:cNvPr id="36" name="Text 33"/>
          <p:cNvSpPr/>
          <p:nvPr/>
        </p:nvSpPr>
        <p:spPr>
          <a:xfrm>
            <a:off x="8778240" y="3902925"/>
            <a:ext cx="694944" cy="323165"/>
          </a:xfrm>
          <a:prstGeom prst="rect">
            <a:avLst/>
          </a:prstGeom>
          <a:noFill/>
          <a:ln/>
        </p:spPr>
        <p:txBody>
          <a:bodyPr wrap="square" lIns="0" tIns="0" rIns="0" bIns="0" rtlCol="0" anchor="ctr">
            <a:spAutoFit/>
          </a:bodyPr>
          <a:lstStyle/>
          <a:p>
            <a:pPr marL="0" indent="0" algn="ctr">
              <a:buNone/>
            </a:pPr>
            <a:r>
              <a:rPr lang="en-US" sz="2100">
                <a:solidFill>
                  <a:srgbClr val="F1F6FF"/>
                </a:solidFill>
                <a:latin typeface="Inter Display" pitchFamily="34" charset="0"/>
                <a:ea typeface="Inter Display" pitchFamily="34" charset="-122"/>
                <a:cs typeface="Inter Display" pitchFamily="34" charset="-120"/>
              </a:rPr>
              <a:t>77</a:t>
            </a:r>
            <a:endParaRPr lang="en-US" sz="2100" dirty="0"/>
          </a:p>
        </p:txBody>
      </p:sp>
      <p:sp>
        <p:nvSpPr>
          <p:cNvPr id="37" name="Text 34"/>
          <p:cNvSpPr/>
          <p:nvPr/>
        </p:nvSpPr>
        <p:spPr>
          <a:xfrm>
            <a:off x="9665208" y="3902925"/>
            <a:ext cx="694944" cy="323165"/>
          </a:xfrm>
          <a:prstGeom prst="rect">
            <a:avLst/>
          </a:prstGeom>
          <a:noFill/>
          <a:ln/>
        </p:spPr>
        <p:txBody>
          <a:bodyPr wrap="square" lIns="0" tIns="0" rIns="0" bIns="0" rtlCol="0" anchor="ctr">
            <a:spAutoFit/>
          </a:bodyPr>
          <a:lstStyle/>
          <a:p>
            <a:pPr marL="0" indent="0" algn="ctr">
              <a:buNone/>
            </a:pPr>
            <a:r>
              <a:rPr lang="en-US" sz="2100">
                <a:solidFill>
                  <a:srgbClr val="F1F6FF"/>
                </a:solidFill>
                <a:latin typeface="Inter Display" pitchFamily="34" charset="0"/>
                <a:ea typeface="Inter Display" pitchFamily="34" charset="-122"/>
                <a:cs typeface="Inter Display" pitchFamily="34" charset="-120"/>
              </a:rPr>
              <a:t>59</a:t>
            </a:r>
            <a:endParaRPr lang="en-US" sz="2100" dirty="0"/>
          </a:p>
        </p:txBody>
      </p:sp>
      <p:sp>
        <p:nvSpPr>
          <p:cNvPr id="38" name="Text 35"/>
          <p:cNvSpPr/>
          <p:nvPr/>
        </p:nvSpPr>
        <p:spPr>
          <a:xfrm>
            <a:off x="10671048" y="3902925"/>
            <a:ext cx="694944" cy="323165"/>
          </a:xfrm>
          <a:prstGeom prst="rect">
            <a:avLst/>
          </a:prstGeom>
          <a:noFill/>
          <a:ln/>
        </p:spPr>
        <p:txBody>
          <a:bodyPr wrap="square" lIns="0" tIns="0" rIns="0" bIns="0" rtlCol="0" anchor="ctr">
            <a:spAutoFit/>
          </a:bodyPr>
          <a:lstStyle/>
          <a:p>
            <a:pPr marL="0" indent="0" algn="ctr">
              <a:buNone/>
            </a:pPr>
            <a:r>
              <a:rPr lang="en-US" sz="2100">
                <a:solidFill>
                  <a:srgbClr val="F1F6FF"/>
                </a:solidFill>
                <a:latin typeface="Inter Display" pitchFamily="34" charset="0"/>
                <a:ea typeface="Inter Display" pitchFamily="34" charset="-122"/>
                <a:cs typeface="Inter Display" pitchFamily="34" charset="-120"/>
              </a:rPr>
              <a:t>0</a:t>
            </a:r>
            <a:endParaRPr lang="en-US" sz="2100" dirty="0"/>
          </a:p>
        </p:txBody>
      </p:sp>
      <p:sp>
        <p:nvSpPr>
          <p:cNvPr id="39" name="Shape 36"/>
          <p:cNvSpPr/>
          <p:nvPr/>
        </p:nvSpPr>
        <p:spPr>
          <a:xfrm>
            <a:off x="4800600" y="4398264"/>
            <a:ext cx="6684264" cy="667512"/>
          </a:xfrm>
          <a:prstGeom prst="rect">
            <a:avLst/>
          </a:prstGeom>
          <a:solidFill>
            <a:srgbClr val="112B46"/>
          </a:solidFill>
          <a:ln w="10160">
            <a:solidFill>
              <a:srgbClr val="112B46"/>
            </a:solidFill>
            <a:prstDash val="solid"/>
          </a:ln>
        </p:spPr>
      </p:sp>
      <p:sp>
        <p:nvSpPr>
          <p:cNvPr id="40" name="Shape 37"/>
          <p:cNvSpPr/>
          <p:nvPr/>
        </p:nvSpPr>
        <p:spPr>
          <a:xfrm>
            <a:off x="4800600" y="5074920"/>
            <a:ext cx="6684264" cy="0"/>
          </a:xfrm>
          <a:prstGeom prst="line">
            <a:avLst/>
          </a:prstGeom>
          <a:noFill/>
          <a:ln w="8890">
            <a:solidFill>
              <a:srgbClr val="263750"/>
            </a:solidFill>
            <a:prstDash val="solid"/>
          </a:ln>
        </p:spPr>
      </p:sp>
      <p:sp>
        <p:nvSpPr>
          <p:cNvPr id="41" name="Text 38"/>
          <p:cNvSpPr/>
          <p:nvPr/>
        </p:nvSpPr>
        <p:spPr>
          <a:xfrm>
            <a:off x="4946904" y="4638103"/>
            <a:ext cx="2953512" cy="196977"/>
          </a:xfrm>
          <a:prstGeom prst="rect">
            <a:avLst/>
          </a:prstGeom>
          <a:noFill/>
          <a:ln/>
        </p:spPr>
        <p:txBody>
          <a:bodyPr wrap="square" lIns="0" tIns="0" rIns="0" bIns="0" rtlCol="0" anchor="ctr">
            <a:spAutoFit/>
          </a:bodyPr>
          <a:lstStyle/>
          <a:p>
            <a:pPr marL="0" indent="0">
              <a:buNone/>
            </a:pPr>
            <a:r>
              <a:rPr lang="en-US" sz="1280" b="1">
                <a:solidFill>
                  <a:srgbClr val="F1F6FF"/>
                </a:solidFill>
                <a:latin typeface="Inter" pitchFamily="34" charset="0"/>
                <a:ea typeface="Inter" pitchFamily="34" charset="-122"/>
                <a:cs typeface="Inter" pitchFamily="34" charset="-120"/>
              </a:rPr>
              <a:t>small.en  /  4e88d4b  ·  final</a:t>
            </a:r>
            <a:endParaRPr lang="en-US" sz="1280" dirty="0"/>
          </a:p>
        </p:txBody>
      </p:sp>
      <p:sp>
        <p:nvSpPr>
          <p:cNvPr id="42" name="Text 39"/>
          <p:cNvSpPr/>
          <p:nvPr/>
        </p:nvSpPr>
        <p:spPr>
          <a:xfrm>
            <a:off x="7964424" y="4579581"/>
            <a:ext cx="694944" cy="323165"/>
          </a:xfrm>
          <a:prstGeom prst="rect">
            <a:avLst/>
          </a:prstGeom>
          <a:noFill/>
          <a:ln/>
        </p:spPr>
        <p:txBody>
          <a:bodyPr wrap="square" lIns="0" tIns="0" rIns="0" bIns="0" rtlCol="0" anchor="ctr">
            <a:spAutoFit/>
          </a:bodyPr>
          <a:lstStyle/>
          <a:p>
            <a:pPr marL="0" indent="0" algn="ctr">
              <a:buNone/>
            </a:pPr>
            <a:r>
              <a:rPr lang="en-US" sz="2100">
                <a:solidFill>
                  <a:srgbClr val="87BFFF"/>
                </a:solidFill>
                <a:latin typeface="Inter Display" pitchFamily="34" charset="0"/>
                <a:ea typeface="Inter Display" pitchFamily="34" charset="-122"/>
                <a:cs typeface="Inter Display" pitchFamily="34" charset="-120"/>
              </a:rPr>
              <a:t>63</a:t>
            </a:r>
            <a:endParaRPr lang="en-US" sz="2100" dirty="0"/>
          </a:p>
        </p:txBody>
      </p:sp>
      <p:sp>
        <p:nvSpPr>
          <p:cNvPr id="43" name="Text 40"/>
          <p:cNvSpPr/>
          <p:nvPr/>
        </p:nvSpPr>
        <p:spPr>
          <a:xfrm>
            <a:off x="8778240" y="4579581"/>
            <a:ext cx="694944" cy="323165"/>
          </a:xfrm>
          <a:prstGeom prst="rect">
            <a:avLst/>
          </a:prstGeom>
          <a:noFill/>
          <a:ln/>
        </p:spPr>
        <p:txBody>
          <a:bodyPr wrap="square" lIns="0" tIns="0" rIns="0" bIns="0" rtlCol="0" anchor="ctr">
            <a:spAutoFit/>
          </a:bodyPr>
          <a:lstStyle/>
          <a:p>
            <a:pPr marL="0" indent="0" algn="ctr">
              <a:buNone/>
            </a:pPr>
            <a:r>
              <a:rPr lang="en-US" sz="2100">
                <a:solidFill>
                  <a:srgbClr val="87BFFF"/>
                </a:solidFill>
                <a:latin typeface="Inter Display" pitchFamily="34" charset="0"/>
                <a:ea typeface="Inter Display" pitchFamily="34" charset="-122"/>
                <a:cs typeface="Inter Display" pitchFamily="34" charset="-120"/>
              </a:rPr>
              <a:t>79</a:t>
            </a:r>
            <a:endParaRPr lang="en-US" sz="2100" dirty="0"/>
          </a:p>
        </p:txBody>
      </p:sp>
      <p:sp>
        <p:nvSpPr>
          <p:cNvPr id="44" name="Text 41"/>
          <p:cNvSpPr/>
          <p:nvPr/>
        </p:nvSpPr>
        <p:spPr>
          <a:xfrm>
            <a:off x="9665208" y="4579581"/>
            <a:ext cx="694944" cy="323165"/>
          </a:xfrm>
          <a:prstGeom prst="rect">
            <a:avLst/>
          </a:prstGeom>
          <a:noFill/>
          <a:ln/>
        </p:spPr>
        <p:txBody>
          <a:bodyPr wrap="square" lIns="0" tIns="0" rIns="0" bIns="0" rtlCol="0" anchor="ctr">
            <a:spAutoFit/>
          </a:bodyPr>
          <a:lstStyle/>
          <a:p>
            <a:pPr marL="0" indent="0" algn="ctr">
              <a:buNone/>
            </a:pPr>
            <a:r>
              <a:rPr lang="en-US" sz="2100">
                <a:solidFill>
                  <a:srgbClr val="87BFFF"/>
                </a:solidFill>
                <a:latin typeface="Inter Display" pitchFamily="34" charset="0"/>
                <a:ea typeface="Inter Display" pitchFamily="34" charset="-122"/>
                <a:cs typeface="Inter Display" pitchFamily="34" charset="-120"/>
              </a:rPr>
              <a:t>58</a:t>
            </a:r>
            <a:endParaRPr lang="en-US" sz="2100" dirty="0"/>
          </a:p>
        </p:txBody>
      </p:sp>
      <p:sp>
        <p:nvSpPr>
          <p:cNvPr id="45" name="Text 42"/>
          <p:cNvSpPr/>
          <p:nvPr/>
        </p:nvSpPr>
        <p:spPr>
          <a:xfrm>
            <a:off x="10671048" y="4579581"/>
            <a:ext cx="694944" cy="323165"/>
          </a:xfrm>
          <a:prstGeom prst="rect">
            <a:avLst/>
          </a:prstGeom>
          <a:noFill/>
          <a:ln/>
        </p:spPr>
        <p:txBody>
          <a:bodyPr wrap="square" lIns="0" tIns="0" rIns="0" bIns="0" rtlCol="0" anchor="ctr">
            <a:spAutoFit/>
          </a:bodyPr>
          <a:lstStyle/>
          <a:p>
            <a:pPr marL="0" indent="0" algn="ctr">
              <a:buNone/>
            </a:pPr>
            <a:r>
              <a:rPr lang="en-US" sz="2100">
                <a:solidFill>
                  <a:srgbClr val="87BFFF"/>
                </a:solidFill>
                <a:latin typeface="Inter Display" pitchFamily="34" charset="0"/>
                <a:ea typeface="Inter Display" pitchFamily="34" charset="-122"/>
                <a:cs typeface="Inter Display" pitchFamily="34" charset="-120"/>
              </a:rPr>
              <a:t>0</a:t>
            </a:r>
            <a:endParaRPr lang="en-US" sz="2100" dirty="0"/>
          </a:p>
        </p:txBody>
      </p:sp>
      <p:sp>
        <p:nvSpPr>
          <p:cNvPr id="46" name="Text 43"/>
          <p:cNvSpPr/>
          <p:nvPr/>
        </p:nvSpPr>
        <p:spPr>
          <a:xfrm>
            <a:off x="4800600" y="5266944"/>
            <a:ext cx="6684264" cy="210312"/>
          </a:xfrm>
          <a:prstGeom prst="rect">
            <a:avLst/>
          </a:prstGeom>
          <a:noFill/>
          <a:ln/>
        </p:spPr>
        <p:txBody>
          <a:bodyPr wrap="square" lIns="0" tIns="0" rIns="0" bIns="0" rtlCol="0" anchor="ctr">
            <a:spAutoFit/>
          </a:bodyPr>
          <a:lstStyle/>
          <a:p>
            <a:pPr marL="0" indent="0">
              <a:buNone/>
            </a:pPr>
            <a:r>
              <a:rPr lang="en-US" sz="1130" dirty="0">
                <a:solidFill>
                  <a:srgbClr val="91A2BB"/>
                </a:solidFill>
                <a:latin typeface="Inter" pitchFamily="34" charset="0"/>
                <a:ea typeface="Inter" pitchFamily="34" charset="-122"/>
                <a:cs typeface="Inter" pitchFamily="34" charset="-120"/>
              </a:rPr>
              <a:t>All counts /100. BOTH = tool pass + correct spoken reply.</a:t>
            </a:r>
            <a:endParaRPr lang="en-US" sz="1130" dirty="0"/>
          </a:p>
        </p:txBody>
      </p:sp>
      <p:sp>
        <p:nvSpPr>
          <p:cNvPr id="47" name="Shape 44"/>
          <p:cNvSpPr/>
          <p:nvPr/>
        </p:nvSpPr>
        <p:spPr>
          <a:xfrm>
            <a:off x="676656" y="5623560"/>
            <a:ext cx="10826496" cy="0"/>
          </a:xfrm>
          <a:prstGeom prst="line">
            <a:avLst/>
          </a:prstGeom>
          <a:noFill/>
          <a:ln w="10160">
            <a:solidFill>
              <a:srgbClr val="263750"/>
            </a:solidFill>
            <a:prstDash val="solid"/>
          </a:ln>
        </p:spPr>
      </p:sp>
      <p:sp>
        <p:nvSpPr>
          <p:cNvPr id="48" name="Text 45"/>
          <p:cNvSpPr/>
          <p:nvPr/>
        </p:nvSpPr>
        <p:spPr>
          <a:xfrm>
            <a:off x="685800" y="5797296"/>
            <a:ext cx="10890504" cy="274320"/>
          </a:xfrm>
          <a:prstGeom prst="rect">
            <a:avLst/>
          </a:prstGeom>
          <a:noFill/>
          <a:ln/>
        </p:spPr>
        <p:txBody>
          <a:bodyPr wrap="square" lIns="0" tIns="0" rIns="0" bIns="0" rtlCol="0" anchor="ctr">
            <a:spAutoFit/>
          </a:bodyPr>
          <a:lstStyle/>
          <a:p>
            <a:pPr marL="0" indent="0">
              <a:buNone/>
            </a:pPr>
            <a:r>
              <a:rPr lang="en-US" sz="1460" dirty="0">
                <a:solidFill>
                  <a:srgbClr val="87BFFF"/>
                </a:solidFill>
                <a:latin typeface="Inter" pitchFamily="34" charset="0"/>
                <a:ea typeface="Inter" pitchFamily="34" charset="-122"/>
                <a:cs typeface="Inter" pitchFamily="34" charset="-120"/>
              </a:rPr>
              <a:t>Local Qwen3.5-4B judge — diagnostic results, not Samsung’s score.</a:t>
            </a:r>
            <a:endParaRPr lang="en-US" sz="1460" dirty="0"/>
          </a:p>
        </p:txBody>
      </p:sp>
      <p:sp>
        <p:nvSpPr>
          <p:cNvPr id="49" name="Text 46"/>
          <p:cNvSpPr/>
          <p:nvPr/>
        </p:nvSpPr>
        <p:spPr>
          <a:xfrm>
            <a:off x="685800" y="6163056"/>
            <a:ext cx="10872216" cy="155448"/>
          </a:xfrm>
          <a:prstGeom prst="rect">
            <a:avLst/>
          </a:prstGeom>
          <a:noFill/>
          <a:ln/>
        </p:spPr>
        <p:txBody>
          <a:bodyPr wrap="square" lIns="0" tIns="0" rIns="0" bIns="0" rtlCol="0" anchor="ctr">
            <a:spAutoFit/>
          </a:bodyPr>
          <a:lstStyle/>
          <a:p>
            <a:pPr marL="0" indent="0">
              <a:buNone/>
            </a:pPr>
            <a:r>
              <a:rPr lang="en-US" sz="1010">
                <a:solidFill>
                  <a:srgbClr val="91A2BB"/>
                </a:solidFill>
                <a:latin typeface="Inter" pitchFamily="34" charset="0"/>
                <a:ea typeface="Inter" pitchFamily="34" charset="-122"/>
                <a:cs typeface="Inter" pitchFamily="34" charset="-120"/>
              </a:rPr>
              <a:t>37 misses, each traced: 13 planner · 8 held by the controller · 7 undeclared arguments (6 × pets_allowed) · 5 form only · 4 misheard.</a:t>
            </a:r>
            <a:endParaRPr lang="en-US" sz="1010" dirty="0"/>
          </a:p>
        </p:txBody>
      </p:sp>
      <p:sp>
        <p:nvSpPr>
          <p:cNvPr id="50" name="Text 47">
            <a:hlinkClick r:id="rId4"/>
          </p:cNvPr>
          <p:cNvSpPr/>
          <p:nvPr/>
        </p:nvSpPr>
        <p:spPr>
          <a:xfrm>
            <a:off x="6400800" y="6505956"/>
            <a:ext cx="3703320" cy="146304"/>
          </a:xfrm>
          <a:prstGeom prst="rect">
            <a:avLst/>
          </a:prstGeom>
          <a:noFill/>
          <a:ln/>
        </p:spPr>
        <p:txBody>
          <a:bodyPr wrap="square" lIns="0" tIns="0" rIns="0" bIns="0" rtlCol="0" anchor="ctr">
            <a:spAutoFit/>
          </a:bodyPr>
          <a:lstStyle/>
          <a:p>
            <a:pPr marL="0" indent="0" algn="r">
              <a:buNone/>
            </a:pPr>
            <a:r>
              <a:rPr lang="en-US" sz="820" u="sng" dirty="0">
                <a:solidFill>
                  <a:srgbClr val="91A2BB"/>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Run identities, hashes &amp; limitations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thread_deck_work/assets/plain-bg.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21792" y="393192"/>
            <a:ext cx="1828800" cy="201168"/>
          </a:xfrm>
          <a:prstGeom prst="rect">
            <a:avLst/>
          </a:prstGeom>
          <a:noFill/>
          <a:ln/>
        </p:spPr>
        <p:txBody>
          <a:bodyPr wrap="square" lIns="0" tIns="0" rIns="0" bIns="0" rtlCol="0" anchor="ctr">
            <a:spAutoFit/>
          </a:bodyPr>
          <a:lstStyle/>
          <a:p>
            <a:pPr marL="0" indent="0">
              <a:buNone/>
            </a:pPr>
            <a:r>
              <a:rPr lang="en-US" sz="1100" b="1" kern="0" spc="130" dirty="0">
                <a:solidFill>
                  <a:srgbClr val="F1F6FF"/>
                </a:solidFill>
                <a:latin typeface="Inter" pitchFamily="34" charset="0"/>
                <a:ea typeface="Inter" pitchFamily="34" charset="-122"/>
                <a:cs typeface="Inter" pitchFamily="34" charset="-120"/>
              </a:rPr>
              <a:t>T H R E A D</a:t>
            </a:r>
            <a:endParaRPr lang="en-US" sz="1100" dirty="0"/>
          </a:p>
        </p:txBody>
      </p:sp>
      <p:sp>
        <p:nvSpPr>
          <p:cNvPr id="4" name="Text 1"/>
          <p:cNvSpPr/>
          <p:nvPr/>
        </p:nvSpPr>
        <p:spPr>
          <a:xfrm>
            <a:off x="6400800" y="411480"/>
            <a:ext cx="5148072" cy="182880"/>
          </a:xfrm>
          <a:prstGeom prst="rect">
            <a:avLst/>
          </a:prstGeom>
          <a:noFill/>
          <a:ln/>
        </p:spPr>
        <p:txBody>
          <a:bodyPr wrap="square" lIns="0" tIns="0" rIns="0" bIns="0" rtlCol="0" anchor="ctr">
            <a:spAutoFit/>
          </a:bodyPr>
          <a:lstStyle/>
          <a:p>
            <a:pPr marL="0" indent="0" algn="r">
              <a:buNone/>
            </a:pPr>
            <a:r>
              <a:rPr lang="en-US" sz="1000" kern="0" spc="150" dirty="0">
                <a:solidFill>
                  <a:srgbClr val="91A2BB"/>
                </a:solidFill>
                <a:latin typeface="Inter" pitchFamily="34" charset="0"/>
                <a:ea typeface="Inter" pitchFamily="34" charset="-122"/>
                <a:cs typeface="Inter" pitchFamily="34" charset="-120"/>
              </a:rPr>
              <a:t>VERIFICATION / REPRODUCIBILITY</a:t>
            </a:r>
            <a:endParaRPr lang="en-US" sz="1000" dirty="0"/>
          </a:p>
        </p:txBody>
      </p:sp>
      <p:sp>
        <p:nvSpPr>
          <p:cNvPr id="5" name="Shape 2"/>
          <p:cNvSpPr/>
          <p:nvPr/>
        </p:nvSpPr>
        <p:spPr>
          <a:xfrm>
            <a:off x="621792" y="6382512"/>
            <a:ext cx="10945368" cy="0"/>
          </a:xfrm>
          <a:prstGeom prst="line">
            <a:avLst/>
          </a:prstGeom>
          <a:noFill/>
          <a:ln w="8890">
            <a:solidFill>
              <a:srgbClr val="263750"/>
            </a:solidFill>
            <a:prstDash val="solid"/>
          </a:ln>
        </p:spPr>
      </p:sp>
      <p:sp>
        <p:nvSpPr>
          <p:cNvPr id="6" name="Shape 3"/>
          <p:cNvSpPr/>
          <p:nvPr/>
        </p:nvSpPr>
        <p:spPr>
          <a:xfrm>
            <a:off x="621792" y="6382512"/>
            <a:ext cx="192024" cy="0"/>
          </a:xfrm>
          <a:prstGeom prst="line">
            <a:avLst/>
          </a:prstGeom>
          <a:noFill/>
          <a:ln w="22860">
            <a:solidFill>
              <a:srgbClr val="87BFFF"/>
            </a:solidFill>
            <a:prstDash val="solid"/>
          </a:ln>
        </p:spPr>
      </p:sp>
      <p:sp>
        <p:nvSpPr>
          <p:cNvPr id="7" name="Shape 4"/>
          <p:cNvSpPr/>
          <p:nvPr/>
        </p:nvSpPr>
        <p:spPr>
          <a:xfrm>
            <a:off x="896112" y="6382512"/>
            <a:ext cx="192024" cy="0"/>
          </a:xfrm>
          <a:prstGeom prst="line">
            <a:avLst/>
          </a:prstGeom>
          <a:noFill/>
          <a:ln w="22860">
            <a:solidFill>
              <a:srgbClr val="87BFFF"/>
            </a:solidFill>
            <a:prstDash val="solid"/>
          </a:ln>
        </p:spPr>
      </p:sp>
      <p:sp>
        <p:nvSpPr>
          <p:cNvPr id="8" name="Shape 5"/>
          <p:cNvSpPr/>
          <p:nvPr/>
        </p:nvSpPr>
        <p:spPr>
          <a:xfrm>
            <a:off x="1170432" y="6382512"/>
            <a:ext cx="192024" cy="0"/>
          </a:xfrm>
          <a:prstGeom prst="line">
            <a:avLst/>
          </a:prstGeom>
          <a:noFill/>
          <a:ln w="22860">
            <a:solidFill>
              <a:srgbClr val="87BFFF"/>
            </a:solidFill>
            <a:prstDash val="solid"/>
          </a:ln>
        </p:spPr>
      </p:sp>
      <p:sp>
        <p:nvSpPr>
          <p:cNvPr id="9" name="Shape 6"/>
          <p:cNvSpPr/>
          <p:nvPr/>
        </p:nvSpPr>
        <p:spPr>
          <a:xfrm>
            <a:off x="1444752" y="6382512"/>
            <a:ext cx="192024" cy="0"/>
          </a:xfrm>
          <a:prstGeom prst="line">
            <a:avLst/>
          </a:prstGeom>
          <a:noFill/>
          <a:ln w="22860">
            <a:solidFill>
              <a:srgbClr val="87BFFF"/>
            </a:solidFill>
            <a:prstDash val="solid"/>
          </a:ln>
        </p:spPr>
      </p:sp>
      <p:sp>
        <p:nvSpPr>
          <p:cNvPr id="10" name="Shape 7"/>
          <p:cNvSpPr/>
          <p:nvPr/>
        </p:nvSpPr>
        <p:spPr>
          <a:xfrm>
            <a:off x="1719072" y="6382512"/>
            <a:ext cx="192024" cy="0"/>
          </a:xfrm>
          <a:prstGeom prst="line">
            <a:avLst/>
          </a:prstGeom>
          <a:noFill/>
          <a:ln w="22860">
            <a:solidFill>
              <a:srgbClr val="87BFFF"/>
            </a:solidFill>
            <a:prstDash val="solid"/>
          </a:ln>
        </p:spPr>
      </p:sp>
      <p:sp>
        <p:nvSpPr>
          <p:cNvPr id="11" name="Shape 8"/>
          <p:cNvSpPr/>
          <p:nvPr/>
        </p:nvSpPr>
        <p:spPr>
          <a:xfrm>
            <a:off x="1993392" y="6382512"/>
            <a:ext cx="192024" cy="0"/>
          </a:xfrm>
          <a:prstGeom prst="line">
            <a:avLst/>
          </a:prstGeom>
          <a:noFill/>
          <a:ln w="22860">
            <a:solidFill>
              <a:srgbClr val="87BFFF"/>
            </a:solidFill>
            <a:prstDash val="solid"/>
          </a:ln>
        </p:spPr>
      </p:sp>
      <p:sp>
        <p:nvSpPr>
          <p:cNvPr id="12" name="Text 9"/>
          <p:cNvSpPr/>
          <p:nvPr/>
        </p:nvSpPr>
        <p:spPr>
          <a:xfrm>
            <a:off x="621792" y="6519672"/>
            <a:ext cx="5303520" cy="128016"/>
          </a:xfrm>
          <a:prstGeom prst="rect">
            <a:avLst/>
          </a:prstGeom>
          <a:noFill/>
          <a:ln/>
        </p:spPr>
        <p:txBody>
          <a:bodyPr wrap="square" lIns="0" tIns="0" rIns="0" bIns="0" rtlCol="0" anchor="ctr">
            <a:spAutoFit/>
          </a:bodyPr>
          <a:lstStyle/>
          <a:p>
            <a:pPr marL="0" indent="0">
              <a:buNone/>
            </a:pPr>
            <a:r>
              <a:rPr lang="en-US" sz="850" kern="0" spc="70" dirty="0">
                <a:solidFill>
                  <a:srgbClr val="91A2BB"/>
                </a:solidFill>
                <a:latin typeface="Inter" pitchFamily="34" charset="0"/>
                <a:ea typeface="Inter" pitchFamily="34" charset="-122"/>
                <a:cs typeface="Inter" pitchFamily="34" charset="-120"/>
              </a:rPr>
              <a:t>REFLEXAI  /  SAMSUNG PRISM 2026</a:t>
            </a:r>
            <a:endParaRPr lang="en-US" sz="850" dirty="0"/>
          </a:p>
        </p:txBody>
      </p:sp>
      <p:sp>
        <p:nvSpPr>
          <p:cNvPr id="13" name="Text 10"/>
          <p:cNvSpPr/>
          <p:nvPr/>
        </p:nvSpPr>
        <p:spPr>
          <a:xfrm>
            <a:off x="10332720" y="6492240"/>
            <a:ext cx="1216152" cy="182880"/>
          </a:xfrm>
          <a:prstGeom prst="rect">
            <a:avLst/>
          </a:prstGeom>
          <a:noFill/>
          <a:ln/>
        </p:spPr>
        <p:txBody>
          <a:bodyPr wrap="square" lIns="0" tIns="0" rIns="0" bIns="0" rtlCol="0" anchor="ctr">
            <a:spAutoFit/>
          </a:bodyPr>
          <a:lstStyle/>
          <a:p>
            <a:pPr marL="0" indent="0" algn="r">
              <a:buNone/>
            </a:pPr>
            <a:r>
              <a:rPr lang="en-US" sz="1000" kern="0" spc="100" dirty="0">
                <a:solidFill>
                  <a:srgbClr val="91A2BB"/>
                </a:solidFill>
                <a:latin typeface="Inter" pitchFamily="34" charset="0"/>
                <a:ea typeface="Inter" pitchFamily="34" charset="-122"/>
                <a:cs typeface="Inter" pitchFamily="34" charset="-120"/>
              </a:rPr>
              <a:t>06 / 08</a:t>
            </a:r>
            <a:endParaRPr lang="en-US" sz="1000" dirty="0"/>
          </a:p>
        </p:txBody>
      </p:sp>
      <p:sp>
        <p:nvSpPr>
          <p:cNvPr id="14" name="Text 11"/>
          <p:cNvSpPr/>
          <p:nvPr/>
        </p:nvSpPr>
        <p:spPr>
          <a:xfrm>
            <a:off x="621792" y="914400"/>
            <a:ext cx="10972800" cy="1115568"/>
          </a:xfrm>
          <a:prstGeom prst="rect">
            <a:avLst/>
          </a:prstGeom>
          <a:noFill/>
          <a:ln/>
        </p:spPr>
        <p:txBody>
          <a:bodyPr wrap="square" lIns="0" tIns="0" rIns="0" bIns="0" rtlCol="0" anchor="ctr">
            <a:spAutoFit/>
          </a:bodyPr>
          <a:lstStyle/>
          <a:p>
            <a:pPr marL="0" indent="0">
              <a:buNone/>
            </a:pPr>
            <a:r>
              <a:rPr lang="en-US" sz="4200" dirty="0">
                <a:solidFill>
                  <a:srgbClr val="F1F6FF"/>
                </a:solidFill>
                <a:latin typeface="Inter Display" pitchFamily="34" charset="0"/>
                <a:ea typeface="Inter Display" pitchFamily="34" charset="-122"/>
                <a:cs typeface="Inter Display" pitchFamily="34" charset="-120"/>
              </a:rPr>
              <a:t>A release you can inspect.</a:t>
            </a:r>
            <a:endParaRPr lang="en-US" sz="4200" dirty="0"/>
          </a:p>
        </p:txBody>
      </p:sp>
      <p:sp>
        <p:nvSpPr>
          <p:cNvPr id="15" name="Text 12"/>
          <p:cNvSpPr/>
          <p:nvPr/>
        </p:nvSpPr>
        <p:spPr>
          <a:xfrm>
            <a:off x="676656" y="2132555"/>
            <a:ext cx="3383280" cy="846386"/>
          </a:xfrm>
          <a:prstGeom prst="rect">
            <a:avLst/>
          </a:prstGeom>
          <a:noFill/>
          <a:ln/>
        </p:spPr>
        <p:txBody>
          <a:bodyPr wrap="square" lIns="0" tIns="0" rIns="0" bIns="0" rtlCol="0" anchor="ctr">
            <a:spAutoFit/>
          </a:bodyPr>
          <a:lstStyle/>
          <a:p>
            <a:pPr marL="0" indent="0">
              <a:buNone/>
            </a:pPr>
            <a:r>
              <a:rPr lang="en-US" sz="5500">
                <a:solidFill>
                  <a:srgbClr val="87BFFF"/>
                </a:solidFill>
                <a:latin typeface="Inter Display" pitchFamily="34" charset="0"/>
                <a:ea typeface="Inter Display" pitchFamily="34" charset="-122"/>
                <a:cs typeface="Inter Display" pitchFamily="34" charset="-120"/>
              </a:rPr>
              <a:t>1,965</a:t>
            </a:r>
            <a:endParaRPr lang="en-US" sz="5500" dirty="0"/>
          </a:p>
        </p:txBody>
      </p:sp>
      <p:sp>
        <p:nvSpPr>
          <p:cNvPr id="16" name="Text 13"/>
          <p:cNvSpPr/>
          <p:nvPr/>
        </p:nvSpPr>
        <p:spPr>
          <a:xfrm>
            <a:off x="676656" y="3127248"/>
            <a:ext cx="3474720" cy="301752"/>
          </a:xfrm>
          <a:prstGeom prst="rect">
            <a:avLst/>
          </a:prstGeom>
          <a:noFill/>
          <a:ln/>
        </p:spPr>
        <p:txBody>
          <a:bodyPr wrap="square" lIns="0" tIns="0" rIns="0" bIns="0" rtlCol="0" anchor="ctr">
            <a:spAutoFit/>
          </a:bodyPr>
          <a:lstStyle/>
          <a:p>
            <a:pPr marL="0" indent="0">
              <a:buNone/>
            </a:pPr>
            <a:r>
              <a:rPr lang="en-US" sz="1700" b="1" dirty="0">
                <a:solidFill>
                  <a:srgbClr val="F1F6FF"/>
                </a:solidFill>
                <a:latin typeface="Inter" pitchFamily="34" charset="0"/>
                <a:ea typeface="Inter" pitchFamily="34" charset="-122"/>
                <a:cs typeface="Inter" pitchFamily="34" charset="-120"/>
              </a:rPr>
              <a:t>Provider-free Python tests</a:t>
            </a:r>
            <a:endParaRPr lang="en-US" sz="1700" dirty="0"/>
          </a:p>
        </p:txBody>
      </p:sp>
      <p:sp>
        <p:nvSpPr>
          <p:cNvPr id="17" name="Text 14"/>
          <p:cNvSpPr/>
          <p:nvPr/>
        </p:nvSpPr>
        <p:spPr>
          <a:xfrm>
            <a:off x="676656" y="3630168"/>
            <a:ext cx="3337560" cy="457200"/>
          </a:xfrm>
          <a:prstGeom prst="rect">
            <a:avLst/>
          </a:prstGeom>
          <a:noFill/>
          <a:ln/>
        </p:spPr>
        <p:txBody>
          <a:bodyPr wrap="square" lIns="0" tIns="0" rIns="0" bIns="0" rtlCol="0" anchor="ctr">
            <a:spAutoFit/>
          </a:bodyPr>
          <a:lstStyle/>
          <a:p>
            <a:pPr marL="0" indent="0">
              <a:buNone/>
            </a:pPr>
            <a:r>
              <a:rPr lang="en-US" sz="1260" dirty="0">
                <a:solidFill>
                  <a:srgbClr val="BAC8DD"/>
                </a:solidFill>
                <a:latin typeface="Inter" pitchFamily="34" charset="0"/>
                <a:ea typeface="Inter" pitchFamily="34" charset="-122"/>
                <a:cs typeface="Inter" pitchFamily="34" charset="-120"/>
              </a:rPr>
              <a:t>Controller · protocol · authorization</a:t>
            </a:r>
            <a:endParaRPr lang="en-US" sz="1260" dirty="0"/>
          </a:p>
        </p:txBody>
      </p:sp>
      <p:sp>
        <p:nvSpPr>
          <p:cNvPr id="18" name="Text 15"/>
          <p:cNvSpPr/>
          <p:nvPr/>
        </p:nvSpPr>
        <p:spPr>
          <a:xfrm>
            <a:off x="4389120" y="2132555"/>
            <a:ext cx="3383280" cy="846386"/>
          </a:xfrm>
          <a:prstGeom prst="rect">
            <a:avLst/>
          </a:prstGeom>
          <a:noFill/>
          <a:ln/>
        </p:spPr>
        <p:txBody>
          <a:bodyPr wrap="square" lIns="0" tIns="0" rIns="0" bIns="0" rtlCol="0" anchor="ctr">
            <a:spAutoFit/>
          </a:bodyPr>
          <a:lstStyle/>
          <a:p>
            <a:pPr marL="0" indent="0">
              <a:buNone/>
            </a:pPr>
            <a:r>
              <a:rPr lang="en-US" sz="5500">
                <a:solidFill>
                  <a:srgbClr val="87BFFF"/>
                </a:solidFill>
                <a:latin typeface="Inter Display" pitchFamily="34" charset="0"/>
                <a:ea typeface="Inter Display" pitchFamily="34" charset="-122"/>
                <a:cs typeface="Inter Display" pitchFamily="34" charset="-120"/>
              </a:rPr>
              <a:t>111</a:t>
            </a:r>
            <a:endParaRPr lang="en-US" sz="5500" dirty="0"/>
          </a:p>
        </p:txBody>
      </p:sp>
      <p:sp>
        <p:nvSpPr>
          <p:cNvPr id="19" name="Text 16"/>
          <p:cNvSpPr/>
          <p:nvPr/>
        </p:nvSpPr>
        <p:spPr>
          <a:xfrm>
            <a:off x="4389120" y="3127248"/>
            <a:ext cx="3474720" cy="301752"/>
          </a:xfrm>
          <a:prstGeom prst="rect">
            <a:avLst/>
          </a:prstGeom>
          <a:noFill/>
          <a:ln/>
        </p:spPr>
        <p:txBody>
          <a:bodyPr wrap="square" lIns="0" tIns="0" rIns="0" bIns="0" rtlCol="0" anchor="ctr">
            <a:spAutoFit/>
          </a:bodyPr>
          <a:lstStyle/>
          <a:p>
            <a:pPr marL="0" indent="0">
              <a:buNone/>
            </a:pPr>
            <a:r>
              <a:rPr lang="en-US" sz="1700" b="1" dirty="0">
                <a:solidFill>
                  <a:srgbClr val="F1F6FF"/>
                </a:solidFill>
                <a:latin typeface="Inter" pitchFamily="34" charset="0"/>
                <a:ea typeface="Inter" pitchFamily="34" charset="-122"/>
                <a:cs typeface="Inter" pitchFamily="34" charset="-120"/>
              </a:rPr>
              <a:t>Real LiveKit SDK tests</a:t>
            </a:r>
            <a:endParaRPr lang="en-US" sz="1700" dirty="0"/>
          </a:p>
        </p:txBody>
      </p:sp>
      <p:sp>
        <p:nvSpPr>
          <p:cNvPr id="20" name="Text 17"/>
          <p:cNvSpPr/>
          <p:nvPr/>
        </p:nvSpPr>
        <p:spPr>
          <a:xfrm>
            <a:off x="4389120" y="3630168"/>
            <a:ext cx="3337560" cy="457200"/>
          </a:xfrm>
          <a:prstGeom prst="rect">
            <a:avLst/>
          </a:prstGeom>
          <a:noFill/>
          <a:ln/>
        </p:spPr>
        <p:txBody>
          <a:bodyPr wrap="square" lIns="0" tIns="0" rIns="0" bIns="0" rtlCol="0" anchor="ctr">
            <a:spAutoFit/>
          </a:bodyPr>
          <a:lstStyle/>
          <a:p>
            <a:pPr marL="0" indent="0">
              <a:buNone/>
            </a:pPr>
            <a:r>
              <a:rPr lang="en-US" sz="1260" dirty="0">
                <a:solidFill>
                  <a:srgbClr val="BAC8DD"/>
                </a:solidFill>
                <a:latin typeface="Inter" pitchFamily="34" charset="0"/>
                <a:ea typeface="Inter" pitchFamily="34" charset="-122"/>
                <a:cs typeface="Inter" pitchFamily="34" charset="-120"/>
              </a:rPr>
              <a:t>Checks against the installed SDK</a:t>
            </a:r>
            <a:endParaRPr lang="en-US" sz="1260" dirty="0"/>
          </a:p>
        </p:txBody>
      </p:sp>
      <p:sp>
        <p:nvSpPr>
          <p:cNvPr id="21" name="Text 18"/>
          <p:cNvSpPr/>
          <p:nvPr/>
        </p:nvSpPr>
        <p:spPr>
          <a:xfrm>
            <a:off x="8092440" y="2157984"/>
            <a:ext cx="3383280" cy="795528"/>
          </a:xfrm>
          <a:prstGeom prst="rect">
            <a:avLst/>
          </a:prstGeom>
          <a:noFill/>
          <a:ln/>
        </p:spPr>
        <p:txBody>
          <a:bodyPr wrap="square" lIns="0" tIns="0" rIns="0" bIns="0" rtlCol="0" anchor="ctr">
            <a:spAutoFit/>
          </a:bodyPr>
          <a:lstStyle/>
          <a:p>
            <a:pPr marL="0" indent="0">
              <a:buNone/>
            </a:pPr>
            <a:r>
              <a:rPr lang="en-US" sz="5500" dirty="0">
                <a:solidFill>
                  <a:srgbClr val="87BFFF"/>
                </a:solidFill>
                <a:latin typeface="Inter Display" pitchFamily="34" charset="0"/>
                <a:ea typeface="Inter Display" pitchFamily="34" charset="-122"/>
                <a:cs typeface="Inter Display" pitchFamily="34" charset="-120"/>
              </a:rPr>
              <a:t>22 × 2</a:t>
            </a:r>
            <a:endParaRPr lang="en-US" sz="5500" dirty="0"/>
          </a:p>
        </p:txBody>
      </p:sp>
      <p:sp>
        <p:nvSpPr>
          <p:cNvPr id="22" name="Text 19"/>
          <p:cNvSpPr/>
          <p:nvPr/>
        </p:nvSpPr>
        <p:spPr>
          <a:xfrm>
            <a:off x="8092440" y="3127248"/>
            <a:ext cx="3474720" cy="301752"/>
          </a:xfrm>
          <a:prstGeom prst="rect">
            <a:avLst/>
          </a:prstGeom>
          <a:noFill/>
          <a:ln/>
        </p:spPr>
        <p:txBody>
          <a:bodyPr wrap="square" lIns="0" tIns="0" rIns="0" bIns="0" rtlCol="0" anchor="ctr">
            <a:spAutoFit/>
          </a:bodyPr>
          <a:lstStyle/>
          <a:p>
            <a:pPr marL="0" indent="0">
              <a:buNone/>
            </a:pPr>
            <a:r>
              <a:rPr lang="en-US" sz="1700" b="1" dirty="0">
                <a:solidFill>
                  <a:srgbClr val="F1F6FF"/>
                </a:solidFill>
                <a:latin typeface="Inter" pitchFamily="34" charset="0"/>
                <a:ea typeface="Inter" pitchFamily="34" charset="-122"/>
                <a:cs typeface="Inter" pitchFamily="34" charset="-120"/>
              </a:rPr>
              <a:t>Reproduction guards</a:t>
            </a:r>
            <a:endParaRPr lang="en-US" sz="1700" dirty="0"/>
          </a:p>
        </p:txBody>
      </p:sp>
      <p:sp>
        <p:nvSpPr>
          <p:cNvPr id="23" name="Text 20"/>
          <p:cNvSpPr/>
          <p:nvPr/>
        </p:nvSpPr>
        <p:spPr>
          <a:xfrm>
            <a:off x="8092440" y="3630168"/>
            <a:ext cx="3337560" cy="457200"/>
          </a:xfrm>
          <a:prstGeom prst="rect">
            <a:avLst/>
          </a:prstGeom>
          <a:noFill/>
          <a:ln/>
        </p:spPr>
        <p:txBody>
          <a:bodyPr wrap="square" lIns="0" tIns="0" rIns="0" bIns="0" rtlCol="0" anchor="ctr">
            <a:spAutoFit/>
          </a:bodyPr>
          <a:lstStyle/>
          <a:p>
            <a:pPr marL="0" indent="0">
              <a:buNone/>
            </a:pPr>
            <a:r>
              <a:rPr lang="en-US" sz="1260" dirty="0">
                <a:solidFill>
                  <a:srgbClr val="BAC8DD"/>
                </a:solidFill>
                <a:latin typeface="Inter" pitchFamily="34" charset="0"/>
                <a:ea typeface="Inter" pitchFamily="34" charset="-122"/>
                <a:cs typeface="Inter" pitchFamily="34" charset="-120"/>
              </a:rPr>
              <a:t>22 on Windows/Git Bash + 22 on Ubuntu</a:t>
            </a:r>
            <a:endParaRPr lang="en-US" sz="1260" dirty="0"/>
          </a:p>
        </p:txBody>
      </p:sp>
      <p:sp>
        <p:nvSpPr>
          <p:cNvPr id="24" name="Shape 21"/>
          <p:cNvSpPr/>
          <p:nvPr/>
        </p:nvSpPr>
        <p:spPr>
          <a:xfrm>
            <a:off x="685800" y="4352544"/>
            <a:ext cx="10817352" cy="667512"/>
          </a:xfrm>
          <a:prstGeom prst="roundRect">
            <a:avLst>
              <a:gd name="adj" fmla="val 16438"/>
            </a:avLst>
          </a:prstGeom>
          <a:solidFill>
            <a:srgbClr val="10243E"/>
          </a:solidFill>
          <a:ln w="10160">
            <a:solidFill>
              <a:srgbClr val="263750"/>
            </a:solidFill>
            <a:prstDash val="solid"/>
          </a:ln>
        </p:spPr>
      </p:sp>
      <p:sp>
        <p:nvSpPr>
          <p:cNvPr id="25" name="Text 22"/>
          <p:cNvSpPr/>
          <p:nvPr/>
        </p:nvSpPr>
        <p:spPr>
          <a:xfrm>
            <a:off x="914400" y="4553712"/>
            <a:ext cx="10369296" cy="265176"/>
          </a:xfrm>
          <a:prstGeom prst="rect">
            <a:avLst/>
          </a:prstGeom>
          <a:noFill/>
          <a:ln/>
        </p:spPr>
        <p:txBody>
          <a:bodyPr wrap="square" lIns="0" tIns="0" rIns="0" bIns="0" rtlCol="0" anchor="ctr">
            <a:spAutoFit/>
          </a:bodyPr>
          <a:lstStyle/>
          <a:p>
            <a:pPr marL="0" indent="0">
              <a:buNone/>
            </a:pPr>
            <a:r>
              <a:rPr lang="en-US" sz="1610" dirty="0">
                <a:solidFill>
                  <a:srgbClr val="F1F6FF"/>
                </a:solidFill>
                <a:latin typeface="DejaVu Sans Mono" pitchFamily="34" charset="0"/>
                <a:ea typeface="DejaVu Sans Mono" pitchFamily="34" charset="-122"/>
                <a:cs typeface="DejaVu Sans Mono" pitchFamily="34" charset="-120"/>
              </a:rPr>
              <a:t>bash scripts/reproduce_fdb3_linux.sh</a:t>
            </a:r>
            <a:endParaRPr lang="en-US" sz="1610" dirty="0"/>
          </a:p>
        </p:txBody>
      </p:sp>
      <p:sp>
        <p:nvSpPr>
          <p:cNvPr id="26" name="Text 23"/>
          <p:cNvSpPr/>
          <p:nvPr/>
        </p:nvSpPr>
        <p:spPr>
          <a:xfrm>
            <a:off x="713232" y="5202936"/>
            <a:ext cx="10698480" cy="219456"/>
          </a:xfrm>
          <a:prstGeom prst="rect">
            <a:avLst/>
          </a:prstGeom>
          <a:noFill/>
          <a:ln/>
        </p:spPr>
        <p:txBody>
          <a:bodyPr wrap="square" lIns="0" tIns="0" rIns="0" bIns="0" rtlCol="0" anchor="ctr">
            <a:spAutoFit/>
          </a:bodyPr>
          <a:lstStyle/>
          <a:p>
            <a:pPr marL="0" indent="0">
              <a:buNone/>
            </a:pPr>
            <a:r>
              <a:rPr lang="en-US" sz="1270" dirty="0">
                <a:solidFill>
                  <a:srgbClr val="BAC8DD"/>
                </a:solidFill>
                <a:latin typeface="Inter" pitchFamily="34" charset="0"/>
                <a:ea typeface="Inter" pitchFamily="34" charset="-122"/>
                <a:cs typeface="Inter" pitchFamily="34" charset="-120"/>
              </a:rPr>
              <a:t>Declared Linux / CUDA / speech / LiveKit prerequisites and dataset required.</a:t>
            </a:r>
            <a:endParaRPr lang="en-US" sz="1270" dirty="0"/>
          </a:p>
        </p:txBody>
      </p:sp>
      <p:sp>
        <p:nvSpPr>
          <p:cNvPr id="27" name="Text 24"/>
          <p:cNvSpPr/>
          <p:nvPr/>
        </p:nvSpPr>
        <p:spPr>
          <a:xfrm>
            <a:off x="713232" y="5596128"/>
            <a:ext cx="10625328" cy="237744"/>
          </a:xfrm>
          <a:prstGeom prst="rect">
            <a:avLst/>
          </a:prstGeom>
          <a:noFill/>
          <a:ln/>
        </p:spPr>
        <p:txBody>
          <a:bodyPr wrap="square" lIns="0" tIns="0" rIns="0" bIns="0" rtlCol="0" anchor="ctr">
            <a:spAutoFit/>
          </a:bodyPr>
          <a:lstStyle/>
          <a:p>
            <a:pPr marL="0" indent="0">
              <a:buNone/>
            </a:pPr>
            <a:r>
              <a:rPr lang="en-US" sz="1600" dirty="0">
                <a:solidFill>
                  <a:srgbClr val="F1F6FF"/>
                </a:solidFill>
                <a:latin typeface="Inter" pitchFamily="34" charset="0"/>
                <a:ea typeface="Inter" pitchFamily="34" charset="-122"/>
                <a:cs typeface="Inter" pitchFamily="34" charset="-120"/>
              </a:rPr>
              <a:t>Source + APK + browser + evidence + presentation + two videos</a:t>
            </a:r>
            <a:endParaRPr lang="en-US" sz="1600" dirty="0"/>
          </a:p>
        </p:txBody>
      </p:sp>
      <p:sp>
        <p:nvSpPr>
          <p:cNvPr id="28" name="Text 25"/>
          <p:cNvSpPr/>
          <p:nvPr/>
        </p:nvSpPr>
        <p:spPr>
          <a:xfrm>
            <a:off x="713232" y="6034961"/>
            <a:ext cx="10625328" cy="173894"/>
          </a:xfrm>
          <a:prstGeom prst="rect">
            <a:avLst/>
          </a:prstGeom>
          <a:noFill/>
          <a:ln/>
        </p:spPr>
        <p:txBody>
          <a:bodyPr wrap="square" lIns="0" tIns="0" rIns="0" bIns="0" rtlCol="0" anchor="ctr">
            <a:spAutoFit/>
          </a:bodyPr>
          <a:lstStyle/>
          <a:p>
            <a:pPr marL="0" indent="0">
              <a:buNone/>
            </a:pPr>
            <a:r>
              <a:rPr lang="en-US" sz="1130">
                <a:solidFill>
                  <a:srgbClr val="91A2BB"/>
                </a:solidFill>
                <a:latin typeface="Inter" pitchFamily="34" charset="0"/>
                <a:ea typeface="Inter" pitchFamily="34" charset="-122"/>
                <a:cs typeface="Inter" pitchFamily="34" charset="-120"/>
              </a:rPr>
              <a:t>Linux one-command run: 100/100 recordings, 0 infrastructure errors (8ef5b59, 61/100). Final source 4e88d4b measured on Windows.</a:t>
            </a:r>
            <a:endParaRPr lang="en-US" sz="1130" dirty="0"/>
          </a:p>
        </p:txBody>
      </p:sp>
      <p:sp>
        <p:nvSpPr>
          <p:cNvPr id="29" name="Text 26">
            <a:hlinkClick r:id="rId4"/>
          </p:cNvPr>
          <p:cNvSpPr/>
          <p:nvPr/>
        </p:nvSpPr>
        <p:spPr>
          <a:xfrm>
            <a:off x="6400800" y="6505956"/>
            <a:ext cx="3703320" cy="146304"/>
          </a:xfrm>
          <a:prstGeom prst="rect">
            <a:avLst/>
          </a:prstGeom>
          <a:noFill/>
          <a:ln/>
        </p:spPr>
        <p:txBody>
          <a:bodyPr wrap="square" lIns="0" tIns="0" rIns="0" bIns="0" rtlCol="0" anchor="ctr">
            <a:spAutoFit/>
          </a:bodyPr>
          <a:lstStyle/>
          <a:p>
            <a:pPr marL="0" indent="0" algn="r">
              <a:buNone/>
            </a:pPr>
            <a:r>
              <a:rPr lang="en-US" sz="820" u="sng" dirty="0">
                <a:solidFill>
                  <a:srgbClr val="91A2BB"/>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Verification scopes &amp; commands</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thread_deck_work/assets/plain-bg.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21792" y="393192"/>
            <a:ext cx="1828800" cy="201168"/>
          </a:xfrm>
          <a:prstGeom prst="rect">
            <a:avLst/>
          </a:prstGeom>
          <a:noFill/>
          <a:ln/>
        </p:spPr>
        <p:txBody>
          <a:bodyPr wrap="square" lIns="0" tIns="0" rIns="0" bIns="0" rtlCol="0" anchor="ctr">
            <a:spAutoFit/>
          </a:bodyPr>
          <a:lstStyle/>
          <a:p>
            <a:pPr marL="0" indent="0">
              <a:buNone/>
            </a:pPr>
            <a:r>
              <a:rPr lang="en-US" sz="1100" b="1" kern="0" spc="130" dirty="0">
                <a:solidFill>
                  <a:srgbClr val="F1F6FF"/>
                </a:solidFill>
                <a:latin typeface="Inter" pitchFamily="34" charset="0"/>
                <a:ea typeface="Inter" pitchFamily="34" charset="-122"/>
                <a:cs typeface="Inter" pitchFamily="34" charset="-120"/>
              </a:rPr>
              <a:t>T H R E A D</a:t>
            </a:r>
            <a:endParaRPr lang="en-US" sz="1100" dirty="0"/>
          </a:p>
        </p:txBody>
      </p:sp>
      <p:sp>
        <p:nvSpPr>
          <p:cNvPr id="4" name="Text 1"/>
          <p:cNvSpPr/>
          <p:nvPr/>
        </p:nvSpPr>
        <p:spPr>
          <a:xfrm>
            <a:off x="6400800" y="425976"/>
            <a:ext cx="5148072" cy="153888"/>
          </a:xfrm>
          <a:prstGeom prst="rect">
            <a:avLst/>
          </a:prstGeom>
          <a:noFill/>
          <a:ln/>
        </p:spPr>
        <p:txBody>
          <a:bodyPr wrap="square" lIns="0" tIns="0" rIns="0" bIns="0" rtlCol="0" anchor="ctr">
            <a:spAutoFit/>
          </a:bodyPr>
          <a:lstStyle/>
          <a:p>
            <a:pPr marL="0" indent="0" algn="r">
              <a:buNone/>
            </a:pPr>
            <a:r>
              <a:rPr lang="en-US" sz="1000" kern="0" spc="150">
                <a:solidFill>
                  <a:srgbClr val="91A2BB"/>
                </a:solidFill>
                <a:latin typeface="Inter" pitchFamily="34" charset="0"/>
                <a:ea typeface="Inter" pitchFamily="34" charset="-122"/>
                <a:cs typeface="Inter" pitchFamily="34" charset="-120"/>
              </a:rPr>
              <a:t>COMPANION / BEYOND THE BENCHMARK</a:t>
            </a:r>
            <a:endParaRPr lang="en-US" sz="1000" dirty="0"/>
          </a:p>
        </p:txBody>
      </p:sp>
      <p:sp>
        <p:nvSpPr>
          <p:cNvPr id="5" name="Shape 2"/>
          <p:cNvSpPr/>
          <p:nvPr/>
        </p:nvSpPr>
        <p:spPr>
          <a:xfrm>
            <a:off x="621792" y="6382512"/>
            <a:ext cx="10945368" cy="0"/>
          </a:xfrm>
          <a:prstGeom prst="line">
            <a:avLst/>
          </a:prstGeom>
          <a:noFill/>
          <a:ln w="8890">
            <a:solidFill>
              <a:srgbClr val="263750"/>
            </a:solidFill>
            <a:prstDash val="solid"/>
          </a:ln>
        </p:spPr>
      </p:sp>
      <p:sp>
        <p:nvSpPr>
          <p:cNvPr id="6" name="Shape 3"/>
          <p:cNvSpPr/>
          <p:nvPr/>
        </p:nvSpPr>
        <p:spPr>
          <a:xfrm>
            <a:off x="621792" y="6382512"/>
            <a:ext cx="192024" cy="0"/>
          </a:xfrm>
          <a:prstGeom prst="line">
            <a:avLst/>
          </a:prstGeom>
          <a:noFill/>
          <a:ln w="22860">
            <a:solidFill>
              <a:srgbClr val="87BFFF"/>
            </a:solidFill>
            <a:prstDash val="solid"/>
          </a:ln>
        </p:spPr>
      </p:sp>
      <p:sp>
        <p:nvSpPr>
          <p:cNvPr id="7" name="Shape 4"/>
          <p:cNvSpPr/>
          <p:nvPr/>
        </p:nvSpPr>
        <p:spPr>
          <a:xfrm>
            <a:off x="896112" y="6382512"/>
            <a:ext cx="192024" cy="0"/>
          </a:xfrm>
          <a:prstGeom prst="line">
            <a:avLst/>
          </a:prstGeom>
          <a:noFill/>
          <a:ln w="22860">
            <a:solidFill>
              <a:srgbClr val="87BFFF"/>
            </a:solidFill>
            <a:prstDash val="solid"/>
          </a:ln>
        </p:spPr>
      </p:sp>
      <p:sp>
        <p:nvSpPr>
          <p:cNvPr id="8" name="Shape 5"/>
          <p:cNvSpPr/>
          <p:nvPr/>
        </p:nvSpPr>
        <p:spPr>
          <a:xfrm>
            <a:off x="1170432" y="6382512"/>
            <a:ext cx="192024" cy="0"/>
          </a:xfrm>
          <a:prstGeom prst="line">
            <a:avLst/>
          </a:prstGeom>
          <a:noFill/>
          <a:ln w="22860">
            <a:solidFill>
              <a:srgbClr val="87BFFF"/>
            </a:solidFill>
            <a:prstDash val="solid"/>
          </a:ln>
        </p:spPr>
      </p:sp>
      <p:sp>
        <p:nvSpPr>
          <p:cNvPr id="9" name="Shape 6"/>
          <p:cNvSpPr/>
          <p:nvPr/>
        </p:nvSpPr>
        <p:spPr>
          <a:xfrm>
            <a:off x="1444752" y="6382512"/>
            <a:ext cx="192024" cy="0"/>
          </a:xfrm>
          <a:prstGeom prst="line">
            <a:avLst/>
          </a:prstGeom>
          <a:noFill/>
          <a:ln w="22860">
            <a:solidFill>
              <a:srgbClr val="87BFFF"/>
            </a:solidFill>
            <a:prstDash val="solid"/>
          </a:ln>
        </p:spPr>
      </p:sp>
      <p:sp>
        <p:nvSpPr>
          <p:cNvPr id="10" name="Shape 7"/>
          <p:cNvSpPr/>
          <p:nvPr/>
        </p:nvSpPr>
        <p:spPr>
          <a:xfrm>
            <a:off x="1719072" y="6382512"/>
            <a:ext cx="192024" cy="0"/>
          </a:xfrm>
          <a:prstGeom prst="line">
            <a:avLst/>
          </a:prstGeom>
          <a:noFill/>
          <a:ln w="22860">
            <a:solidFill>
              <a:srgbClr val="87BFFF"/>
            </a:solidFill>
            <a:prstDash val="solid"/>
          </a:ln>
        </p:spPr>
      </p:sp>
      <p:sp>
        <p:nvSpPr>
          <p:cNvPr id="11" name="Shape 8"/>
          <p:cNvSpPr/>
          <p:nvPr/>
        </p:nvSpPr>
        <p:spPr>
          <a:xfrm>
            <a:off x="1993392" y="6382512"/>
            <a:ext cx="192024" cy="0"/>
          </a:xfrm>
          <a:prstGeom prst="line">
            <a:avLst/>
          </a:prstGeom>
          <a:noFill/>
          <a:ln w="22860">
            <a:solidFill>
              <a:srgbClr val="87BFFF"/>
            </a:solidFill>
            <a:prstDash val="solid"/>
          </a:ln>
        </p:spPr>
      </p:sp>
      <p:sp>
        <p:nvSpPr>
          <p:cNvPr id="12" name="Shape 9"/>
          <p:cNvSpPr/>
          <p:nvPr/>
        </p:nvSpPr>
        <p:spPr>
          <a:xfrm>
            <a:off x="2267712" y="6382512"/>
            <a:ext cx="192024" cy="0"/>
          </a:xfrm>
          <a:prstGeom prst="line">
            <a:avLst/>
          </a:prstGeom>
          <a:noFill/>
          <a:ln w="22860">
            <a:solidFill>
              <a:srgbClr val="87BFFF"/>
            </a:solidFill>
            <a:prstDash val="solid"/>
          </a:ln>
        </p:spPr>
      </p:sp>
      <p:sp>
        <p:nvSpPr>
          <p:cNvPr id="13" name="Text 10"/>
          <p:cNvSpPr/>
          <p:nvPr/>
        </p:nvSpPr>
        <p:spPr>
          <a:xfrm>
            <a:off x="621792" y="6519672"/>
            <a:ext cx="5303520" cy="128016"/>
          </a:xfrm>
          <a:prstGeom prst="rect">
            <a:avLst/>
          </a:prstGeom>
          <a:noFill/>
          <a:ln/>
        </p:spPr>
        <p:txBody>
          <a:bodyPr wrap="square" lIns="0" tIns="0" rIns="0" bIns="0" rtlCol="0" anchor="ctr">
            <a:spAutoFit/>
          </a:bodyPr>
          <a:lstStyle/>
          <a:p>
            <a:pPr marL="0" indent="0">
              <a:buNone/>
            </a:pPr>
            <a:r>
              <a:rPr lang="en-US" sz="850" kern="0" spc="70" dirty="0">
                <a:solidFill>
                  <a:srgbClr val="91A2BB"/>
                </a:solidFill>
                <a:latin typeface="Inter" pitchFamily="34" charset="0"/>
                <a:ea typeface="Inter" pitchFamily="34" charset="-122"/>
                <a:cs typeface="Inter" pitchFamily="34" charset="-120"/>
              </a:rPr>
              <a:t>REFLEXAI  /  SAMSUNG PRISM 2026</a:t>
            </a:r>
            <a:endParaRPr lang="en-US" sz="850" dirty="0"/>
          </a:p>
        </p:txBody>
      </p:sp>
      <p:sp>
        <p:nvSpPr>
          <p:cNvPr id="14" name="Text 11"/>
          <p:cNvSpPr/>
          <p:nvPr/>
        </p:nvSpPr>
        <p:spPr>
          <a:xfrm>
            <a:off x="10332720" y="6492240"/>
            <a:ext cx="1216152" cy="182880"/>
          </a:xfrm>
          <a:prstGeom prst="rect">
            <a:avLst/>
          </a:prstGeom>
          <a:noFill/>
          <a:ln/>
        </p:spPr>
        <p:txBody>
          <a:bodyPr wrap="square" lIns="0" tIns="0" rIns="0" bIns="0" rtlCol="0" anchor="ctr">
            <a:spAutoFit/>
          </a:bodyPr>
          <a:lstStyle/>
          <a:p>
            <a:pPr marL="0" indent="0" algn="r">
              <a:buNone/>
            </a:pPr>
            <a:r>
              <a:rPr lang="en-US" sz="1000" kern="0" spc="100" dirty="0">
                <a:solidFill>
                  <a:srgbClr val="91A2BB"/>
                </a:solidFill>
                <a:latin typeface="Inter" pitchFamily="34" charset="0"/>
                <a:ea typeface="Inter" pitchFamily="34" charset="-122"/>
                <a:cs typeface="Inter" pitchFamily="34" charset="-120"/>
              </a:rPr>
              <a:t>07 / 08</a:t>
            </a:r>
            <a:endParaRPr lang="en-US" sz="1000" dirty="0"/>
          </a:p>
        </p:txBody>
      </p:sp>
      <p:sp>
        <p:nvSpPr>
          <p:cNvPr id="15" name="Text 12"/>
          <p:cNvSpPr/>
          <p:nvPr/>
        </p:nvSpPr>
        <p:spPr>
          <a:xfrm>
            <a:off x="621792" y="949523"/>
            <a:ext cx="10972800" cy="615553"/>
          </a:xfrm>
          <a:prstGeom prst="rect">
            <a:avLst/>
          </a:prstGeom>
          <a:noFill/>
          <a:ln/>
        </p:spPr>
        <p:txBody>
          <a:bodyPr wrap="square" lIns="0" tIns="0" rIns="0" bIns="0" rtlCol="0" anchor="ctr">
            <a:spAutoFit/>
          </a:bodyPr>
          <a:lstStyle/>
          <a:p>
            <a:pPr marL="0" indent="0">
              <a:buNone/>
            </a:pPr>
            <a:r>
              <a:rPr lang="en-US" sz="4000">
                <a:solidFill>
                  <a:srgbClr val="F1F6FF"/>
                </a:solidFill>
                <a:latin typeface="Inter Display" pitchFamily="34" charset="0"/>
                <a:ea typeface="Inter Display" pitchFamily="34" charset="-122"/>
                <a:cs typeface="Inter Display" pitchFamily="34" charset="-120"/>
              </a:rPr>
              <a:t>It keeps working.</a:t>
            </a:r>
            <a:endParaRPr lang="en-US" sz="4000" dirty="0"/>
          </a:p>
        </p:txBody>
      </p:sp>
      <p:sp>
        <p:nvSpPr>
          <p:cNvPr id="32" name="Text 29">
            <a:hlinkClick r:id="rId4"/>
          </p:cNvPr>
          <p:cNvSpPr/>
          <p:nvPr/>
        </p:nvSpPr>
        <p:spPr>
          <a:xfrm>
            <a:off x="6400800" y="6516014"/>
            <a:ext cx="3703320" cy="126188"/>
          </a:xfrm>
          <a:prstGeom prst="rect">
            <a:avLst/>
          </a:prstGeom>
          <a:noFill/>
          <a:ln/>
        </p:spPr>
        <p:txBody>
          <a:bodyPr wrap="square" lIns="0" tIns="0" rIns="0" bIns="0" rtlCol="0" anchor="ctr">
            <a:spAutoFit/>
          </a:bodyPr>
          <a:lstStyle/>
          <a:p>
            <a:pPr marL="0" indent="0" algn="r">
              <a:buNone/>
            </a:pPr>
            <a:r>
              <a:rPr lang="en-US" sz="820" u="sng">
                <a:solidFill>
                  <a:srgbClr val="91A2BB"/>
                </a:solidFill>
                <a:latin typeface="Inter" pitchFamily="34" charset="0"/>
                <a:ea typeface="Inter" pitchFamily="34" charset="-122"/>
                <a:cs typeface="Inter" pitchFamily="34" charset="-120"/>
                <a:hlinkClick r:id="rId5"/>
              </a:rPr>
              <a:t>Watches, app actions &amp; floating bubble</a:t>
            </a:r>
            <a:endParaRPr lang="en-US" sz="820" dirty="0"/>
          </a:p>
        </p:txBody>
      </p:sp>
      <p:sp>
        <p:nvSpPr>
          <p:cNvPr id="33" name="TextBox 32">
            <a:extLst>
              <a:ext uri="{FF2B5EF4-FFF2-40B4-BE49-F238E27FC236}">
                <a16:creationId xmlns:a16="http://schemas.microsoft.com/office/drawing/2014/main" id="{9877F0E3-31EC-646F-B8BA-E04A2322E36B}"/>
              </a:ext>
            </a:extLst>
          </p:cNvPr>
          <p:cNvSpPr txBox="1"/>
          <p:nvPr/>
        </p:nvSpPr>
        <p:spPr>
          <a:xfrm>
            <a:off x="668020" y="1651000"/>
            <a:ext cx="10414000" cy="369332"/>
          </a:xfrm>
          <a:prstGeom prst="rect">
            <a:avLst/>
          </a:prstGeom>
          <a:noFill/>
        </p:spPr>
        <p:txBody>
          <a:bodyPr vert="horz" wrap="square" lIns="0" tIns="0" rIns="0" bIns="0" rtlCol="0">
            <a:noAutofit/>
          </a:bodyPr>
          <a:lstStyle/>
          <a:p>
            <a:r>
              <a:rPr lang="en-US" sz="1750">
                <a:solidFill>
                  <a:srgbClr val="BAC8DD"/>
                </a:solidFill>
                <a:latin typeface="Inter"/>
              </a:rPr>
              <a:t>One living orb. Real app handoffs. Watches that keep checking.</a:t>
            </a:r>
            <a:endParaRPr lang="en-IN" sz="1750">
              <a:solidFill>
                <a:srgbClr val="BAC8DD"/>
              </a:solidFill>
              <a:latin typeface="Inter"/>
            </a:endParaRPr>
          </a:p>
        </p:txBody>
      </p:sp>
      <p:pic>
        <p:nvPicPr>
          <p:cNvPr id="35" name="Orb states">
            <a:extLst>
              <a:ext uri="{FF2B5EF4-FFF2-40B4-BE49-F238E27FC236}">
                <a16:creationId xmlns:a16="http://schemas.microsoft.com/office/drawing/2014/main" id="{45208F48-14DC-7E75-919B-0DD86BEC8E08}"/>
              </a:ext>
            </a:extLst>
          </p:cNvPr>
          <p:cNvPicPr>
            <a:picLocks/>
          </p:cNvPicPr>
          <p:nvPr/>
        </p:nvPicPr>
        <p:blipFill>
          <a:blip r:embed="rId6"/>
          <a:stretch>
            <a:fillRect/>
          </a:stretch>
        </p:blipFill>
        <p:spPr>
          <a:xfrm>
            <a:off x="622300" y="2082800"/>
            <a:ext cx="10947400" cy="1945343"/>
          </a:xfrm>
          <a:prstGeom prst="rect">
            <a:avLst/>
          </a:prstGeom>
        </p:spPr>
      </p:pic>
      <p:pic>
        <p:nvPicPr>
          <p:cNvPr id="37" name="Watch capture">
            <a:extLst>
              <a:ext uri="{FF2B5EF4-FFF2-40B4-BE49-F238E27FC236}">
                <a16:creationId xmlns:a16="http://schemas.microsoft.com/office/drawing/2014/main" id="{BBB50FA1-B408-23C7-BA15-346DEAB2B052}"/>
              </a:ext>
            </a:extLst>
          </p:cNvPr>
          <p:cNvPicPr>
            <a:picLocks/>
          </p:cNvPicPr>
          <p:nvPr/>
        </p:nvPicPr>
        <p:blipFill>
          <a:blip r:embed="rId7"/>
          <a:stretch>
            <a:fillRect/>
          </a:stretch>
        </p:blipFill>
        <p:spPr>
          <a:xfrm>
            <a:off x="673100" y="4292600"/>
            <a:ext cx="4826000" cy="1558488"/>
          </a:xfrm>
          <a:prstGeom prst="rect">
            <a:avLst/>
          </a:prstGeom>
        </p:spPr>
      </p:pic>
      <p:sp>
        <p:nvSpPr>
          <p:cNvPr id="38" name="TextBox 37">
            <a:extLst>
              <a:ext uri="{FF2B5EF4-FFF2-40B4-BE49-F238E27FC236}">
                <a16:creationId xmlns:a16="http://schemas.microsoft.com/office/drawing/2014/main" id="{F1FF7C5B-4A53-74E9-5BCF-1A752C179827}"/>
              </a:ext>
            </a:extLst>
          </p:cNvPr>
          <p:cNvSpPr txBox="1"/>
          <p:nvPr/>
        </p:nvSpPr>
        <p:spPr>
          <a:xfrm>
            <a:off x="676910" y="5981700"/>
            <a:ext cx="4826000" cy="369332"/>
          </a:xfrm>
          <a:prstGeom prst="rect">
            <a:avLst/>
          </a:prstGeom>
          <a:noFill/>
        </p:spPr>
        <p:txBody>
          <a:bodyPr vert="horz" wrap="square" lIns="0" tIns="0" rIns="0" bIns="0" rtlCol="0">
            <a:noAutofit/>
          </a:bodyPr>
          <a:lstStyle/>
          <a:p>
            <a:r>
              <a:rPr lang="en-US" sz="860">
                <a:solidFill>
                  <a:srgbClr val="91A2BB"/>
                </a:solidFill>
                <a:latin typeface="Inter"/>
              </a:rPr>
              <a:t>REAL CAPTURE · 3 OCT 2026 · GOOGLE NEWS, EVERY 2 H, NEW REPORTS ONLY</a:t>
            </a:r>
            <a:endParaRPr lang="en-IN" sz="860">
              <a:solidFill>
                <a:srgbClr val="91A2BB"/>
              </a:solidFill>
              <a:latin typeface="Inter"/>
            </a:endParaRPr>
          </a:p>
        </p:txBody>
      </p:sp>
      <p:sp>
        <p:nvSpPr>
          <p:cNvPr id="39" name="TextBox 38">
            <a:extLst>
              <a:ext uri="{FF2B5EF4-FFF2-40B4-BE49-F238E27FC236}">
                <a16:creationId xmlns:a16="http://schemas.microsoft.com/office/drawing/2014/main" id="{A2764358-2888-73B4-C5EB-9DF3EE1A39CF}"/>
              </a:ext>
            </a:extLst>
          </p:cNvPr>
          <p:cNvSpPr txBox="1"/>
          <p:nvPr/>
        </p:nvSpPr>
        <p:spPr>
          <a:xfrm>
            <a:off x="5969000" y="4267200"/>
            <a:ext cx="5588000" cy="369332"/>
          </a:xfrm>
          <a:prstGeom prst="rect">
            <a:avLst/>
          </a:prstGeom>
          <a:noFill/>
        </p:spPr>
        <p:txBody>
          <a:bodyPr vert="horz" wrap="square" lIns="0" tIns="0" rIns="0" bIns="0" rtlCol="0">
            <a:noAutofit/>
          </a:bodyPr>
          <a:lstStyle/>
          <a:p>
            <a:r>
              <a:rPr lang="en-US">
                <a:solidFill>
                  <a:srgbClr val="87BFFF"/>
                </a:solidFill>
                <a:latin typeface="Inter"/>
              </a:rPr>
              <a:t>“Open YouTube and search for Manchester City 115 charges.”</a:t>
            </a:r>
            <a:endParaRPr lang="en-IN">
              <a:solidFill>
                <a:srgbClr val="87BFFF"/>
              </a:solidFill>
              <a:latin typeface="Inter"/>
            </a:endParaRPr>
          </a:p>
        </p:txBody>
      </p:sp>
      <p:sp>
        <p:nvSpPr>
          <p:cNvPr id="40" name="TextBox 39">
            <a:extLst>
              <a:ext uri="{FF2B5EF4-FFF2-40B4-BE49-F238E27FC236}">
                <a16:creationId xmlns:a16="http://schemas.microsoft.com/office/drawing/2014/main" id="{E8A4A1C1-B121-2EC2-F9BD-29DE7E8143A6}"/>
              </a:ext>
            </a:extLst>
          </p:cNvPr>
          <p:cNvSpPr txBox="1"/>
          <p:nvPr/>
        </p:nvSpPr>
        <p:spPr>
          <a:xfrm>
            <a:off x="5969000" y="5029200"/>
            <a:ext cx="5588000" cy="369332"/>
          </a:xfrm>
          <a:prstGeom prst="rect">
            <a:avLst/>
          </a:prstGeom>
          <a:noFill/>
        </p:spPr>
        <p:txBody>
          <a:bodyPr vert="horz" wrap="square" lIns="0" tIns="0" rIns="0" bIns="0" rtlCol="0">
            <a:noAutofit/>
          </a:bodyPr>
          <a:lstStyle/>
          <a:p>
            <a:pPr>
              <a:spcAft>
                <a:spcPts val="300"/>
              </a:spcAft>
            </a:pPr>
            <a:r>
              <a:rPr lang="en-US" sz="1250">
                <a:solidFill>
                  <a:srgbClr val="BAC8DD"/>
                </a:solidFill>
                <a:latin typeface="Inter"/>
              </a:rPr>
              <a:t>One request becomes a bounded Android app handoff.</a:t>
            </a:r>
          </a:p>
          <a:p>
            <a:pPr>
              <a:spcAft>
                <a:spcPts val="300"/>
              </a:spcAft>
            </a:pPr>
            <a:r>
              <a:rPr lang="en-US" sz="1250">
                <a:solidFill>
                  <a:srgbClr val="BAC8DD"/>
                </a:solidFill>
                <a:latin typeface="Inter"/>
              </a:rPr>
              <a:t>“Every 2 hours, give me updates…” starts a Watch.</a:t>
            </a:r>
          </a:p>
          <a:p>
            <a:pPr>
              <a:spcAft>
                <a:spcPts val="300"/>
              </a:spcAft>
            </a:pPr>
            <a:r>
              <a:rPr lang="en-US" sz="1250">
                <a:solidFill>
                  <a:srgbClr val="BAC8DD"/>
                </a:solidFill>
                <a:latin typeface="Inter"/>
              </a:rPr>
              <a:t>Drafts stay drafts; you press send.</a:t>
            </a:r>
            <a:endParaRPr lang="en-IN" sz="1250">
              <a:solidFill>
                <a:srgbClr val="BAC8DD"/>
              </a:solidFill>
              <a:latin typeface="Inter"/>
            </a:endParaRPr>
          </a:p>
        </p:txBody>
      </p:sp>
      <p:sp>
        <p:nvSpPr>
          <p:cNvPr id="41" name="TextBox 40">
            <a:extLst>
              <a:ext uri="{FF2B5EF4-FFF2-40B4-BE49-F238E27FC236}">
                <a16:creationId xmlns:a16="http://schemas.microsoft.com/office/drawing/2014/main" id="{EA9DE9AD-D266-5863-23F9-2339CE3A3AD2}"/>
              </a:ext>
            </a:extLst>
          </p:cNvPr>
          <p:cNvSpPr txBox="1"/>
          <p:nvPr/>
        </p:nvSpPr>
        <p:spPr>
          <a:xfrm>
            <a:off x="5969000" y="5981700"/>
            <a:ext cx="5588000" cy="369332"/>
          </a:xfrm>
          <a:prstGeom prst="rect">
            <a:avLst/>
          </a:prstGeom>
          <a:noFill/>
        </p:spPr>
        <p:txBody>
          <a:bodyPr vert="horz" wrap="square" lIns="0" tIns="0" rIns="0" bIns="0" rtlCol="0">
            <a:noAutofit/>
          </a:bodyPr>
          <a:lstStyle/>
          <a:p>
            <a:r>
              <a:rPr lang="en-US" sz="860">
                <a:solidFill>
                  <a:srgbClr val="91A2BB"/>
                </a:solidFill>
                <a:latin typeface="Inter"/>
              </a:rPr>
              <a:t>Floating bubble running on a Galaxy S24. The planner stays on the paired PC.</a:t>
            </a:r>
            <a:endParaRPr lang="en-IN" sz="860">
              <a:solidFill>
                <a:srgbClr val="91A2BB"/>
              </a:solidFill>
              <a:latin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thread_deck_work/assets/close-bg.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676656" y="502920"/>
            <a:ext cx="5486400" cy="201168"/>
          </a:xfrm>
          <a:prstGeom prst="rect">
            <a:avLst/>
          </a:prstGeom>
          <a:noFill/>
          <a:ln/>
        </p:spPr>
        <p:txBody>
          <a:bodyPr wrap="square" lIns="0" tIns="0" rIns="0" bIns="0" rtlCol="0" anchor="ctr">
            <a:spAutoFit/>
          </a:bodyPr>
          <a:lstStyle/>
          <a:p>
            <a:pPr marL="0" indent="0">
              <a:buNone/>
            </a:pPr>
            <a:r>
              <a:rPr lang="en-US" sz="1050" b="1" kern="0" spc="140" dirty="0">
                <a:solidFill>
                  <a:srgbClr val="BAC8DD"/>
                </a:solidFill>
                <a:latin typeface="Inter" pitchFamily="34" charset="0"/>
                <a:ea typeface="Inter" pitchFamily="34" charset="-122"/>
                <a:cs typeface="Inter" pitchFamily="34" charset="-120"/>
              </a:rPr>
              <a:t>THREAD 1.0.0 · REFLEXAI</a:t>
            </a:r>
            <a:endParaRPr lang="en-US" sz="1050" dirty="0"/>
          </a:p>
        </p:txBody>
      </p:sp>
      <p:sp>
        <p:nvSpPr>
          <p:cNvPr id="4" name="Text 1"/>
          <p:cNvSpPr/>
          <p:nvPr/>
        </p:nvSpPr>
        <p:spPr>
          <a:xfrm>
            <a:off x="621792" y="1115568"/>
            <a:ext cx="6144768" cy="1078992"/>
          </a:xfrm>
          <a:prstGeom prst="rect">
            <a:avLst/>
          </a:prstGeom>
          <a:noFill/>
          <a:ln/>
        </p:spPr>
        <p:txBody>
          <a:bodyPr wrap="square" lIns="0" tIns="0" rIns="0" bIns="0" rtlCol="0" anchor="ctr">
            <a:spAutoFit/>
          </a:bodyPr>
          <a:lstStyle/>
          <a:p>
            <a:pPr marL="0" indent="0">
              <a:buNone/>
            </a:pPr>
            <a:r>
              <a:rPr lang="en-US" sz="7000" dirty="0">
                <a:solidFill>
                  <a:srgbClr val="F1F6FF"/>
                </a:solidFill>
                <a:latin typeface="Inter Display" pitchFamily="34" charset="0"/>
                <a:ea typeface="Inter Display" pitchFamily="34" charset="-122"/>
                <a:cs typeface="Inter Display" pitchFamily="34" charset="-120"/>
              </a:rPr>
              <a:t>Go on.</a:t>
            </a:r>
            <a:endParaRPr lang="en-US" sz="7000" dirty="0"/>
          </a:p>
        </p:txBody>
      </p:sp>
      <p:sp>
        <p:nvSpPr>
          <p:cNvPr id="5" name="Text 2"/>
          <p:cNvSpPr/>
          <p:nvPr/>
        </p:nvSpPr>
        <p:spPr>
          <a:xfrm>
            <a:off x="704088" y="2478024"/>
            <a:ext cx="5989320" cy="502920"/>
          </a:xfrm>
          <a:prstGeom prst="rect">
            <a:avLst/>
          </a:prstGeom>
          <a:noFill/>
          <a:ln/>
        </p:spPr>
        <p:txBody>
          <a:bodyPr wrap="square" lIns="0" tIns="0" rIns="0" bIns="0" rtlCol="0" anchor="ctr">
            <a:spAutoFit/>
          </a:bodyPr>
          <a:lstStyle/>
          <a:p>
            <a:pPr marL="0" indent="0">
              <a:buNone/>
            </a:pPr>
            <a:r>
              <a:rPr lang="en-US" sz="2100" dirty="0">
                <a:solidFill>
                  <a:srgbClr val="87BFFF"/>
                </a:solidFill>
                <a:latin typeface="Inter" pitchFamily="34" charset="0"/>
                <a:ea typeface="Inter" pitchFamily="34" charset="-122"/>
                <a:cs typeface="Inter" pitchFamily="34" charset="-120"/>
              </a:rPr>
              <a:t>Correct the instruction. Keep the task.</a:t>
            </a:r>
            <a:endParaRPr lang="en-US" sz="2100" dirty="0"/>
          </a:p>
        </p:txBody>
      </p:sp>
      <p:sp>
        <p:nvSpPr>
          <p:cNvPr id="6" name="Shape 3"/>
          <p:cNvSpPr/>
          <p:nvPr/>
        </p:nvSpPr>
        <p:spPr>
          <a:xfrm>
            <a:off x="713232" y="3264408"/>
            <a:ext cx="2688336" cy="466344"/>
          </a:xfrm>
          <a:prstGeom prst="roundRect">
            <a:avLst>
              <a:gd name="adj" fmla="val 23529"/>
            </a:avLst>
          </a:prstGeom>
          <a:solidFill>
            <a:srgbClr val="10243E"/>
          </a:solidFill>
          <a:ln w="10160">
            <a:solidFill>
              <a:srgbClr val="263750"/>
            </a:solidFill>
            <a:prstDash val="solid"/>
          </a:ln>
        </p:spPr>
      </p:sp>
      <p:sp>
        <p:nvSpPr>
          <p:cNvPr id="7" name="Text 4">
            <a:hlinkClick r:id="rId4"/>
          </p:cNvPr>
          <p:cNvSpPr/>
          <p:nvPr/>
        </p:nvSpPr>
        <p:spPr>
          <a:xfrm>
            <a:off x="896112" y="3401568"/>
            <a:ext cx="2185416" cy="192024"/>
          </a:xfrm>
          <a:prstGeom prst="rect">
            <a:avLst/>
          </a:prstGeom>
          <a:noFill/>
          <a:ln/>
        </p:spPr>
        <p:txBody>
          <a:bodyPr wrap="square" lIns="0" tIns="0" rIns="0" bIns="0" rtlCol="0" anchor="ctr">
            <a:spAutoFit/>
          </a:bodyPr>
          <a:lstStyle/>
          <a:p>
            <a:pPr marL="0" indent="0">
              <a:buNone/>
            </a:pPr>
            <a:r>
              <a:rPr lang="en-US" sz="1280" b="1" u="sng" dirty="0">
                <a:solidFill>
                  <a:srgbClr val="F1F6FF"/>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Get the release</a:t>
            </a:r>
            <a:endParaRPr lang="en-US" sz="1280" dirty="0"/>
          </a:p>
        </p:txBody>
      </p:sp>
      <p:sp>
        <p:nvSpPr>
          <p:cNvPr id="8" name="Shape 5"/>
          <p:cNvSpPr/>
          <p:nvPr/>
        </p:nvSpPr>
        <p:spPr>
          <a:xfrm>
            <a:off x="3118104" y="3387852"/>
            <a:ext cx="109728" cy="109728"/>
          </a:xfrm>
          <a:prstGeom prst="line">
            <a:avLst/>
          </a:prstGeom>
          <a:noFill/>
          <a:ln w="17780">
            <a:solidFill>
              <a:srgbClr val="87BFFF"/>
            </a:solidFill>
            <a:prstDash val="solid"/>
          </a:ln>
        </p:spPr>
      </p:sp>
      <p:sp>
        <p:nvSpPr>
          <p:cNvPr id="9" name="Shape 6"/>
          <p:cNvSpPr/>
          <p:nvPr/>
        </p:nvSpPr>
        <p:spPr>
          <a:xfrm>
            <a:off x="3227832" y="3497580"/>
            <a:ext cx="0" cy="109728"/>
          </a:xfrm>
          <a:prstGeom prst="line">
            <a:avLst/>
          </a:prstGeom>
          <a:noFill/>
          <a:ln w="17780">
            <a:solidFill>
              <a:srgbClr val="87BFFF"/>
            </a:solidFill>
            <a:prstDash val="solid"/>
          </a:ln>
        </p:spPr>
      </p:sp>
      <p:sp>
        <p:nvSpPr>
          <p:cNvPr id="10" name="Shape 7"/>
          <p:cNvSpPr/>
          <p:nvPr/>
        </p:nvSpPr>
        <p:spPr>
          <a:xfrm>
            <a:off x="3630168" y="3264408"/>
            <a:ext cx="2688336" cy="466344"/>
          </a:xfrm>
          <a:prstGeom prst="roundRect">
            <a:avLst>
              <a:gd name="adj" fmla="val 23529"/>
            </a:avLst>
          </a:prstGeom>
          <a:solidFill>
            <a:srgbClr val="10243E"/>
          </a:solidFill>
          <a:ln w="10160">
            <a:solidFill>
              <a:srgbClr val="263750"/>
            </a:solidFill>
            <a:prstDash val="solid"/>
          </a:ln>
        </p:spPr>
      </p:sp>
      <p:sp>
        <p:nvSpPr>
          <p:cNvPr id="11" name="Text 8">
            <a:hlinkClick r:id="rId5"/>
          </p:cNvPr>
          <p:cNvSpPr/>
          <p:nvPr/>
        </p:nvSpPr>
        <p:spPr>
          <a:xfrm>
            <a:off x="3813048" y="3401568"/>
            <a:ext cx="2185416" cy="192024"/>
          </a:xfrm>
          <a:prstGeom prst="rect">
            <a:avLst/>
          </a:prstGeom>
          <a:noFill/>
          <a:ln/>
        </p:spPr>
        <p:txBody>
          <a:bodyPr wrap="square" lIns="0" tIns="0" rIns="0" bIns="0" rtlCol="0" anchor="ctr">
            <a:spAutoFit/>
          </a:bodyPr>
          <a:lstStyle/>
          <a:p>
            <a:pPr marL="0" indent="0">
              <a:buNone/>
            </a:pPr>
            <a:r>
              <a:rPr lang="en-US" sz="1280" b="1" u="sng" dirty="0">
                <a:solidFill>
                  <a:srgbClr val="F1F6FF"/>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Recorded demo</a:t>
            </a:r>
            <a:endParaRPr lang="en-US" sz="1280" dirty="0"/>
          </a:p>
        </p:txBody>
      </p:sp>
      <p:sp>
        <p:nvSpPr>
          <p:cNvPr id="12" name="Shape 9"/>
          <p:cNvSpPr/>
          <p:nvPr/>
        </p:nvSpPr>
        <p:spPr>
          <a:xfrm>
            <a:off x="6035040" y="3387852"/>
            <a:ext cx="109728" cy="109728"/>
          </a:xfrm>
          <a:prstGeom prst="line">
            <a:avLst/>
          </a:prstGeom>
          <a:noFill/>
          <a:ln w="17780">
            <a:solidFill>
              <a:srgbClr val="87BFFF"/>
            </a:solidFill>
            <a:prstDash val="solid"/>
          </a:ln>
        </p:spPr>
      </p:sp>
      <p:sp>
        <p:nvSpPr>
          <p:cNvPr id="13" name="Shape 10"/>
          <p:cNvSpPr/>
          <p:nvPr/>
        </p:nvSpPr>
        <p:spPr>
          <a:xfrm>
            <a:off x="6144768" y="3497580"/>
            <a:ext cx="0" cy="109728"/>
          </a:xfrm>
          <a:prstGeom prst="line">
            <a:avLst/>
          </a:prstGeom>
          <a:noFill/>
          <a:ln w="17780">
            <a:solidFill>
              <a:srgbClr val="87BFFF"/>
            </a:solidFill>
            <a:prstDash val="solid"/>
          </a:ln>
        </p:spPr>
      </p:sp>
      <p:sp>
        <p:nvSpPr>
          <p:cNvPr id="14" name="Shape 11"/>
          <p:cNvSpPr/>
          <p:nvPr/>
        </p:nvSpPr>
        <p:spPr>
          <a:xfrm>
            <a:off x="713232" y="3986784"/>
            <a:ext cx="5605272" cy="466344"/>
          </a:xfrm>
          <a:prstGeom prst="roundRect">
            <a:avLst>
              <a:gd name="adj" fmla="val 23529"/>
            </a:avLst>
          </a:prstGeom>
          <a:solidFill>
            <a:srgbClr val="10243E"/>
          </a:solidFill>
          <a:ln w="10160">
            <a:solidFill>
              <a:srgbClr val="263750"/>
            </a:solidFill>
            <a:prstDash val="solid"/>
          </a:ln>
        </p:spPr>
      </p:sp>
      <p:sp>
        <p:nvSpPr>
          <p:cNvPr id="15" name="Text 12">
            <a:hlinkClick r:id="rId6"/>
          </p:cNvPr>
          <p:cNvSpPr/>
          <p:nvPr/>
        </p:nvSpPr>
        <p:spPr>
          <a:xfrm>
            <a:off x="896112" y="4123944"/>
            <a:ext cx="5102352" cy="192024"/>
          </a:xfrm>
          <a:prstGeom prst="rect">
            <a:avLst/>
          </a:prstGeom>
          <a:noFill/>
          <a:ln/>
        </p:spPr>
        <p:txBody>
          <a:bodyPr wrap="square" lIns="0" tIns="0" rIns="0" bIns="0" rtlCol="0" anchor="ctr">
            <a:spAutoFit/>
          </a:bodyPr>
          <a:lstStyle/>
          <a:p>
            <a:pPr marL="0" indent="0">
              <a:buNone/>
            </a:pPr>
            <a:r>
              <a:rPr lang="en-US" sz="1280" b="1" u="sng" dirty="0">
                <a:solidFill>
                  <a:srgbClr val="F1F6FF"/>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Watch the launch film</a:t>
            </a:r>
            <a:endParaRPr lang="en-US" sz="1280" dirty="0"/>
          </a:p>
        </p:txBody>
      </p:sp>
      <p:sp>
        <p:nvSpPr>
          <p:cNvPr id="16" name="Shape 13"/>
          <p:cNvSpPr/>
          <p:nvPr/>
        </p:nvSpPr>
        <p:spPr>
          <a:xfrm>
            <a:off x="6035040" y="4110228"/>
            <a:ext cx="109728" cy="109728"/>
          </a:xfrm>
          <a:prstGeom prst="line">
            <a:avLst/>
          </a:prstGeom>
          <a:noFill/>
          <a:ln w="17780">
            <a:solidFill>
              <a:srgbClr val="87BFFF"/>
            </a:solidFill>
            <a:prstDash val="solid"/>
          </a:ln>
        </p:spPr>
      </p:sp>
      <p:sp>
        <p:nvSpPr>
          <p:cNvPr id="17" name="Shape 14"/>
          <p:cNvSpPr/>
          <p:nvPr/>
        </p:nvSpPr>
        <p:spPr>
          <a:xfrm>
            <a:off x="6144768" y="4219956"/>
            <a:ext cx="0" cy="109728"/>
          </a:xfrm>
          <a:prstGeom prst="line">
            <a:avLst/>
          </a:prstGeom>
          <a:noFill/>
          <a:ln w="17780">
            <a:solidFill>
              <a:srgbClr val="87BFFF"/>
            </a:solidFill>
            <a:prstDash val="solid"/>
          </a:ln>
        </p:spPr>
      </p:sp>
      <p:pic>
        <p:nvPicPr>
          <p:cNvPr id="18" name="Image 1" descr="/mnt/data/thread_deck_work/assets/release-qr.png"/>
          <p:cNvPicPr>
            <a:picLocks noChangeAspect="1"/>
          </p:cNvPicPr>
          <p:nvPr/>
        </p:nvPicPr>
        <p:blipFill>
          <a:blip r:embed="rId7"/>
          <a:stretch>
            <a:fillRect/>
          </a:stretch>
        </p:blipFill>
        <p:spPr>
          <a:xfrm>
            <a:off x="704088" y="4882896"/>
            <a:ext cx="1197864" cy="1197864"/>
          </a:xfrm>
          <a:prstGeom prst="rect">
            <a:avLst/>
          </a:prstGeom>
        </p:spPr>
      </p:pic>
      <p:sp>
        <p:nvSpPr>
          <p:cNvPr id="19" name="Text 15"/>
          <p:cNvSpPr/>
          <p:nvPr/>
        </p:nvSpPr>
        <p:spPr>
          <a:xfrm>
            <a:off x="2139696" y="5093208"/>
            <a:ext cx="4197096" cy="274320"/>
          </a:xfrm>
          <a:prstGeom prst="rect">
            <a:avLst/>
          </a:prstGeom>
          <a:noFill/>
          <a:ln/>
        </p:spPr>
        <p:txBody>
          <a:bodyPr wrap="square" lIns="0" tIns="0" rIns="0" bIns="0" rtlCol="0" anchor="ctr">
            <a:spAutoFit/>
          </a:bodyPr>
          <a:lstStyle/>
          <a:p>
            <a:pPr marL="0" indent="0">
              <a:buNone/>
            </a:pPr>
            <a:r>
              <a:rPr lang="en-US" sz="1750" b="1" dirty="0">
                <a:solidFill>
                  <a:srgbClr val="F1F6FF"/>
                </a:solidFill>
                <a:latin typeface="Inter" pitchFamily="34" charset="0"/>
                <a:ea typeface="Inter" pitchFamily="34" charset="-122"/>
                <a:cs typeface="Inter" pitchFamily="34" charset="-120"/>
              </a:rPr>
              <a:t>Source. App. Evidence.</a:t>
            </a:r>
            <a:endParaRPr lang="en-US" sz="1750" dirty="0"/>
          </a:p>
        </p:txBody>
      </p:sp>
      <p:sp>
        <p:nvSpPr>
          <p:cNvPr id="20" name="Text 16">
            <a:hlinkClick r:id="rId8"/>
          </p:cNvPr>
          <p:cNvSpPr/>
          <p:nvPr/>
        </p:nvSpPr>
        <p:spPr>
          <a:xfrm>
            <a:off x="2139696" y="5513832"/>
            <a:ext cx="4206240" cy="457200"/>
          </a:xfrm>
          <a:prstGeom prst="rect">
            <a:avLst/>
          </a:prstGeom>
          <a:noFill/>
          <a:ln/>
        </p:spPr>
        <p:txBody>
          <a:bodyPr wrap="square" lIns="0" tIns="0" rIns="0" bIns="0" rtlCol="0" anchor="ctr">
            <a:spAutoFit/>
          </a:bodyPr>
          <a:lstStyle/>
          <a:p>
            <a:pPr marL="0" indent="0">
              <a:buNone/>
            </a:pPr>
            <a:r>
              <a:rPr lang="en-US" sz="1300" u="sng" dirty="0">
                <a:solidFill>
                  <a:srgbClr val="BAC8DD"/>
                </a:solidFill>
                <a:latin typeface="Inter" pitchFamily="34" charset="0"/>
                <a:ea typeface="Inter" pitchFamily="34" charset="-122"/>
                <a:cs typeface="Inter" pitchFamily="34" charset="-120"/>
                <a:hlinkClick r:id="rId8">
                  <a:extLst>
                    <a:ext uri="{A12FA001-AC4F-418D-AE19-62706E023703}">
                      <ahyp:hlinkClr xmlns:ahyp="http://schemas.microsoft.com/office/drawing/2018/hyperlinkcolor" val="tx"/>
                    </a:ext>
                  </a:extLst>
                </a:hlinkClick>
              </a:rPr>
              <a:t>github.com/anshcantcode/</a:t>
            </a:r>
            <a:endParaRPr lang="en-US" sz="1300" dirty="0"/>
          </a:p>
          <a:p>
            <a:pPr marL="0" indent="0">
              <a:buNone/>
            </a:pPr>
            <a:r>
              <a:rPr lang="en-US" sz="1300" u="sng" dirty="0">
                <a:solidFill>
                  <a:srgbClr val="BAC8DD"/>
                </a:solidFill>
                <a:latin typeface="Inter" pitchFamily="34" charset="0"/>
                <a:ea typeface="Inter" pitchFamily="34" charset="-122"/>
                <a:cs typeface="Inter" pitchFamily="34" charset="-120"/>
                <a:hlinkClick r:id="rId8">
                  <a:extLst>
                    <a:ext uri="{A12FA001-AC4F-418D-AE19-62706E023703}">
                      <ahyp:hlinkClr xmlns:ahyp="http://schemas.microsoft.com/office/drawing/2018/hyperlinkcolor" val="tx"/>
                    </a:ext>
                  </a:extLst>
                </a:hlinkClick>
              </a:rPr>
              <a:t>thread-team-guide</a:t>
            </a:r>
            <a:endParaRPr lang="en-US" sz="1300" dirty="0"/>
          </a:p>
        </p:txBody>
      </p:sp>
      <p:sp>
        <p:nvSpPr>
          <p:cNvPr id="21" name="Shape 17"/>
          <p:cNvSpPr/>
          <p:nvPr/>
        </p:nvSpPr>
        <p:spPr>
          <a:xfrm>
            <a:off x="6784848" y="1143000"/>
            <a:ext cx="0" cy="4910328"/>
          </a:xfrm>
          <a:prstGeom prst="line">
            <a:avLst/>
          </a:prstGeom>
          <a:noFill/>
          <a:ln w="12700">
            <a:solidFill>
              <a:srgbClr val="263750"/>
            </a:solidFill>
            <a:prstDash val="solid"/>
          </a:ln>
        </p:spPr>
      </p:sp>
      <p:sp>
        <p:nvSpPr>
          <p:cNvPr id="22" name="Text 18"/>
          <p:cNvSpPr/>
          <p:nvPr/>
        </p:nvSpPr>
        <p:spPr>
          <a:xfrm>
            <a:off x="7223760" y="1179576"/>
            <a:ext cx="4224528" cy="201168"/>
          </a:xfrm>
          <a:prstGeom prst="rect">
            <a:avLst/>
          </a:prstGeom>
          <a:noFill/>
          <a:ln/>
        </p:spPr>
        <p:txBody>
          <a:bodyPr wrap="square" lIns="0" tIns="0" rIns="0" bIns="0" rtlCol="0" anchor="ctr">
            <a:spAutoFit/>
          </a:bodyPr>
          <a:lstStyle/>
          <a:p>
            <a:pPr marL="0" indent="0">
              <a:buNone/>
            </a:pPr>
            <a:r>
              <a:rPr lang="en-US" sz="1050" b="1" kern="0" spc="140" dirty="0">
                <a:solidFill>
                  <a:srgbClr val="87BFFF"/>
                </a:solidFill>
                <a:latin typeface="Inter" pitchFamily="34" charset="0"/>
                <a:ea typeface="Inter" pitchFamily="34" charset="-122"/>
                <a:cs typeface="Inter" pitchFamily="34" charset="-120"/>
              </a:rPr>
              <a:t>THE TEAM</a:t>
            </a:r>
            <a:endParaRPr lang="en-US" sz="1050" dirty="0"/>
          </a:p>
        </p:txBody>
      </p:sp>
      <p:sp>
        <p:nvSpPr>
          <p:cNvPr id="23" name="Text 19"/>
          <p:cNvSpPr/>
          <p:nvPr/>
        </p:nvSpPr>
        <p:spPr>
          <a:xfrm>
            <a:off x="7223760" y="1746504"/>
            <a:ext cx="4261104" cy="301752"/>
          </a:xfrm>
          <a:prstGeom prst="rect">
            <a:avLst/>
          </a:prstGeom>
          <a:noFill/>
          <a:ln/>
        </p:spPr>
        <p:txBody>
          <a:bodyPr wrap="square" lIns="0" tIns="0" rIns="0" bIns="0" rtlCol="0" anchor="ctr">
            <a:spAutoFit/>
          </a:bodyPr>
          <a:lstStyle/>
          <a:p>
            <a:pPr marL="0" indent="0">
              <a:buNone/>
            </a:pPr>
            <a:r>
              <a:rPr lang="en-US" sz="1720" b="1" dirty="0">
                <a:solidFill>
                  <a:srgbClr val="F1F6FF"/>
                </a:solidFill>
                <a:latin typeface="Inter" pitchFamily="34" charset="0"/>
                <a:ea typeface="Inter" pitchFamily="34" charset="-122"/>
                <a:cs typeface="Inter" pitchFamily="34" charset="-120"/>
              </a:rPr>
              <a:t>Nidhee Kunal Chandan</a:t>
            </a:r>
            <a:endParaRPr lang="en-US" sz="1720" dirty="0"/>
          </a:p>
        </p:txBody>
      </p:sp>
      <p:sp>
        <p:nvSpPr>
          <p:cNvPr id="24" name="Text 20">
            <a:hlinkClick r:id="rId9"/>
          </p:cNvPr>
          <p:cNvSpPr/>
          <p:nvPr/>
        </p:nvSpPr>
        <p:spPr>
          <a:xfrm>
            <a:off x="7223760" y="2130552"/>
            <a:ext cx="4261104" cy="192024"/>
          </a:xfrm>
          <a:prstGeom prst="rect">
            <a:avLst/>
          </a:prstGeom>
          <a:noFill/>
          <a:ln/>
        </p:spPr>
        <p:txBody>
          <a:bodyPr wrap="square" lIns="0" tIns="0" rIns="0" bIns="0" rtlCol="0" anchor="ctr">
            <a:spAutoFit/>
          </a:bodyPr>
          <a:lstStyle/>
          <a:p>
            <a:pPr marL="0" indent="0">
              <a:buNone/>
            </a:pPr>
            <a:r>
              <a:rPr lang="en-US" sz="1220" u="sng" dirty="0">
                <a:solidFill>
                  <a:srgbClr val="BAC8DD"/>
                </a:solidFill>
                <a:latin typeface="Inter" pitchFamily="34" charset="0"/>
                <a:ea typeface="Inter" pitchFamily="34" charset="-122"/>
                <a:cs typeface="Inter" pitchFamily="34" charset="-120"/>
                <a:hlinkClick r:id="rId9">
                  <a:extLst>
                    <a:ext uri="{A12FA001-AC4F-418D-AE19-62706E023703}">
                      <ahyp:hlinkClr xmlns:ahyp="http://schemas.microsoft.com/office/drawing/2018/hyperlinkcolor" val="tx"/>
                    </a:ext>
                  </a:extLst>
                </a:hlinkClick>
              </a:rPr>
              <a:t>nc0399@srmist.edu.in</a:t>
            </a:r>
            <a:endParaRPr lang="en-US" sz="1220" dirty="0"/>
          </a:p>
        </p:txBody>
      </p:sp>
      <p:sp>
        <p:nvSpPr>
          <p:cNvPr id="25" name="Text 21"/>
          <p:cNvSpPr/>
          <p:nvPr/>
        </p:nvSpPr>
        <p:spPr>
          <a:xfrm>
            <a:off x="7223760" y="2587752"/>
            <a:ext cx="4261104" cy="301752"/>
          </a:xfrm>
          <a:prstGeom prst="rect">
            <a:avLst/>
          </a:prstGeom>
          <a:noFill/>
          <a:ln/>
        </p:spPr>
        <p:txBody>
          <a:bodyPr wrap="square" lIns="0" tIns="0" rIns="0" bIns="0" rtlCol="0" anchor="ctr">
            <a:spAutoFit/>
          </a:bodyPr>
          <a:lstStyle/>
          <a:p>
            <a:pPr marL="0" indent="0">
              <a:buNone/>
            </a:pPr>
            <a:r>
              <a:rPr lang="en-US" sz="1720" b="1" dirty="0">
                <a:solidFill>
                  <a:srgbClr val="F1F6FF"/>
                </a:solidFill>
                <a:latin typeface="Inter" pitchFamily="34" charset="0"/>
                <a:ea typeface="Inter" pitchFamily="34" charset="-122"/>
                <a:cs typeface="Inter" pitchFamily="34" charset="-120"/>
              </a:rPr>
              <a:t>Ansh Golcha</a:t>
            </a:r>
            <a:endParaRPr lang="en-US" sz="1720" dirty="0"/>
          </a:p>
        </p:txBody>
      </p:sp>
      <p:sp>
        <p:nvSpPr>
          <p:cNvPr id="26" name="Text 22">
            <a:hlinkClick r:id="rId10"/>
          </p:cNvPr>
          <p:cNvSpPr/>
          <p:nvPr/>
        </p:nvSpPr>
        <p:spPr>
          <a:xfrm>
            <a:off x="7223760" y="2971800"/>
            <a:ext cx="4261104" cy="192024"/>
          </a:xfrm>
          <a:prstGeom prst="rect">
            <a:avLst/>
          </a:prstGeom>
          <a:noFill/>
          <a:ln/>
        </p:spPr>
        <p:txBody>
          <a:bodyPr wrap="square" lIns="0" tIns="0" rIns="0" bIns="0" rtlCol="0" anchor="ctr">
            <a:spAutoFit/>
          </a:bodyPr>
          <a:lstStyle/>
          <a:p>
            <a:pPr marL="0" indent="0">
              <a:buNone/>
            </a:pPr>
            <a:r>
              <a:rPr lang="en-US" sz="1220" u="sng" dirty="0">
                <a:solidFill>
                  <a:srgbClr val="BAC8DD"/>
                </a:solidFill>
                <a:latin typeface="Inter" pitchFamily="34" charset="0"/>
                <a:ea typeface="Inter" pitchFamily="34" charset="-122"/>
                <a:cs typeface="Inter" pitchFamily="34" charset="-120"/>
                <a:hlinkClick r:id="rId10">
                  <a:extLst>
                    <a:ext uri="{A12FA001-AC4F-418D-AE19-62706E023703}">
                      <ahyp:hlinkClr xmlns:ahyp="http://schemas.microsoft.com/office/drawing/2018/hyperlinkcolor" val="tx"/>
                    </a:ext>
                  </a:extLst>
                </a:hlinkClick>
              </a:rPr>
              <a:t>ag6536@srmist.edu.in</a:t>
            </a:r>
            <a:endParaRPr lang="en-US" sz="1220" dirty="0"/>
          </a:p>
        </p:txBody>
      </p:sp>
      <p:sp>
        <p:nvSpPr>
          <p:cNvPr id="27" name="Text 23"/>
          <p:cNvSpPr/>
          <p:nvPr/>
        </p:nvSpPr>
        <p:spPr>
          <a:xfrm>
            <a:off x="7223760" y="3429000"/>
            <a:ext cx="4261104" cy="301752"/>
          </a:xfrm>
          <a:prstGeom prst="rect">
            <a:avLst/>
          </a:prstGeom>
          <a:noFill/>
          <a:ln/>
        </p:spPr>
        <p:txBody>
          <a:bodyPr wrap="square" lIns="0" tIns="0" rIns="0" bIns="0" rtlCol="0" anchor="ctr">
            <a:spAutoFit/>
          </a:bodyPr>
          <a:lstStyle/>
          <a:p>
            <a:pPr marL="0" indent="0">
              <a:buNone/>
            </a:pPr>
            <a:r>
              <a:rPr lang="en-US" sz="1720" b="1" dirty="0">
                <a:solidFill>
                  <a:srgbClr val="F1F6FF"/>
                </a:solidFill>
                <a:latin typeface="Inter" pitchFamily="34" charset="0"/>
                <a:ea typeface="Inter" pitchFamily="34" charset="-122"/>
                <a:cs typeface="Inter" pitchFamily="34" charset="-120"/>
              </a:rPr>
              <a:t>Raiyan Kamal</a:t>
            </a:r>
            <a:endParaRPr lang="en-US" sz="1720" dirty="0"/>
          </a:p>
        </p:txBody>
      </p:sp>
      <p:sp>
        <p:nvSpPr>
          <p:cNvPr id="28" name="Text 24">
            <a:hlinkClick r:id="rId11"/>
          </p:cNvPr>
          <p:cNvSpPr/>
          <p:nvPr/>
        </p:nvSpPr>
        <p:spPr>
          <a:xfrm>
            <a:off x="7223760" y="3813048"/>
            <a:ext cx="4261104" cy="192024"/>
          </a:xfrm>
          <a:prstGeom prst="rect">
            <a:avLst/>
          </a:prstGeom>
          <a:noFill/>
          <a:ln/>
        </p:spPr>
        <p:txBody>
          <a:bodyPr wrap="square" lIns="0" tIns="0" rIns="0" bIns="0" rtlCol="0" anchor="ctr">
            <a:spAutoFit/>
          </a:bodyPr>
          <a:lstStyle/>
          <a:p>
            <a:pPr marL="0" indent="0">
              <a:buNone/>
            </a:pPr>
            <a:r>
              <a:rPr lang="en-US" sz="1220" u="sng" dirty="0">
                <a:solidFill>
                  <a:srgbClr val="BAC8DD"/>
                </a:solidFill>
                <a:latin typeface="Inter" pitchFamily="34" charset="0"/>
                <a:ea typeface="Inter" pitchFamily="34" charset="-122"/>
                <a:cs typeface="Inter" pitchFamily="34" charset="-120"/>
                <a:hlinkClick r:id="rId11">
                  <a:extLst>
                    <a:ext uri="{A12FA001-AC4F-418D-AE19-62706E023703}">
                      <ahyp:hlinkClr xmlns:ahyp="http://schemas.microsoft.com/office/drawing/2018/hyperlinkcolor" val="tx"/>
                    </a:ext>
                  </a:extLst>
                </a:hlinkClick>
              </a:rPr>
              <a:t>Rk0288@srmist.edu.in</a:t>
            </a:r>
            <a:endParaRPr lang="en-US" sz="1220" dirty="0"/>
          </a:p>
        </p:txBody>
      </p:sp>
      <p:sp>
        <p:nvSpPr>
          <p:cNvPr id="29" name="Text 25"/>
          <p:cNvSpPr/>
          <p:nvPr/>
        </p:nvSpPr>
        <p:spPr>
          <a:xfrm>
            <a:off x="7223760" y="4270248"/>
            <a:ext cx="4261104" cy="301752"/>
          </a:xfrm>
          <a:prstGeom prst="rect">
            <a:avLst/>
          </a:prstGeom>
          <a:noFill/>
          <a:ln/>
        </p:spPr>
        <p:txBody>
          <a:bodyPr wrap="square" lIns="0" tIns="0" rIns="0" bIns="0" rtlCol="0" anchor="ctr">
            <a:spAutoFit/>
          </a:bodyPr>
          <a:lstStyle/>
          <a:p>
            <a:pPr marL="0" indent="0">
              <a:buNone/>
            </a:pPr>
            <a:r>
              <a:rPr lang="en-US" sz="1720" b="1" dirty="0">
                <a:solidFill>
                  <a:srgbClr val="F1F6FF"/>
                </a:solidFill>
                <a:latin typeface="Inter" pitchFamily="34" charset="0"/>
                <a:ea typeface="Inter" pitchFamily="34" charset="-122"/>
                <a:cs typeface="Inter" pitchFamily="34" charset="-120"/>
              </a:rPr>
              <a:t>Nargis Sultana</a:t>
            </a:r>
            <a:endParaRPr lang="en-US" sz="1720" dirty="0"/>
          </a:p>
        </p:txBody>
      </p:sp>
      <p:sp>
        <p:nvSpPr>
          <p:cNvPr id="30" name="Text 26">
            <a:hlinkClick r:id="rId12"/>
          </p:cNvPr>
          <p:cNvSpPr/>
          <p:nvPr/>
        </p:nvSpPr>
        <p:spPr>
          <a:xfrm>
            <a:off x="7223760" y="4654296"/>
            <a:ext cx="4261104" cy="192024"/>
          </a:xfrm>
          <a:prstGeom prst="rect">
            <a:avLst/>
          </a:prstGeom>
          <a:noFill/>
          <a:ln/>
        </p:spPr>
        <p:txBody>
          <a:bodyPr wrap="square" lIns="0" tIns="0" rIns="0" bIns="0" rtlCol="0" anchor="ctr">
            <a:spAutoFit/>
          </a:bodyPr>
          <a:lstStyle/>
          <a:p>
            <a:pPr marL="0" indent="0">
              <a:buNone/>
            </a:pPr>
            <a:r>
              <a:rPr lang="en-US" sz="1220" u="sng" dirty="0">
                <a:solidFill>
                  <a:srgbClr val="BAC8DD"/>
                </a:solidFill>
                <a:latin typeface="Inter" pitchFamily="34" charset="0"/>
                <a:ea typeface="Inter" pitchFamily="34" charset="-122"/>
                <a:cs typeface="Inter" pitchFamily="34" charset="-120"/>
                <a:hlinkClick r:id="rId12">
                  <a:extLst>
                    <a:ext uri="{A12FA001-AC4F-418D-AE19-62706E023703}">
                      <ahyp:hlinkClr xmlns:ahyp="http://schemas.microsoft.com/office/drawing/2018/hyperlinkcolor" val="tx"/>
                    </a:ext>
                  </a:extLst>
                </a:hlinkClick>
              </a:rPr>
              <a:t>ns7824002@srmist.edu.in</a:t>
            </a:r>
            <a:endParaRPr lang="en-US" sz="1220" dirty="0"/>
          </a:p>
        </p:txBody>
      </p:sp>
      <p:sp>
        <p:nvSpPr>
          <p:cNvPr id="31" name="Text 27"/>
          <p:cNvSpPr/>
          <p:nvPr/>
        </p:nvSpPr>
        <p:spPr>
          <a:xfrm>
            <a:off x="7223760" y="5285232"/>
            <a:ext cx="4270248" cy="557784"/>
          </a:xfrm>
          <a:prstGeom prst="rect">
            <a:avLst/>
          </a:prstGeom>
          <a:noFill/>
          <a:ln/>
        </p:spPr>
        <p:txBody>
          <a:bodyPr wrap="square" lIns="0" tIns="0" rIns="0" bIns="0" rtlCol="0" anchor="ctr">
            <a:spAutoFit/>
          </a:bodyPr>
          <a:lstStyle/>
          <a:p>
            <a:pPr marL="0" indent="0">
              <a:buNone/>
            </a:pPr>
            <a:r>
              <a:rPr lang="en-US" sz="1320" dirty="0">
                <a:solidFill>
                  <a:srgbClr val="BAC8DD"/>
                </a:solidFill>
                <a:latin typeface="Inter" pitchFamily="34" charset="0"/>
                <a:ea typeface="Inter" pitchFamily="34" charset="-122"/>
                <a:cs typeface="Inter" pitchFamily="34" charset="-120"/>
              </a:rPr>
              <a:t>SRM Institute of Science and Technology</a:t>
            </a:r>
            <a:endParaRPr lang="en-US" sz="1320" dirty="0"/>
          </a:p>
          <a:p>
            <a:pPr marL="0" indent="0">
              <a:buNone/>
            </a:pPr>
            <a:r>
              <a:rPr lang="en-US" sz="1320" dirty="0">
                <a:solidFill>
                  <a:srgbClr val="BAC8DD"/>
                </a:solidFill>
                <a:latin typeface="Inter" pitchFamily="34" charset="0"/>
                <a:ea typeface="Inter" pitchFamily="34" charset="-122"/>
                <a:cs typeface="Inter" pitchFamily="34" charset="-120"/>
              </a:rPr>
              <a:t>Kattankulathur</a:t>
            </a:r>
            <a:endParaRPr lang="en-US" sz="1320" dirty="0"/>
          </a:p>
        </p:txBody>
      </p:sp>
      <p:sp>
        <p:nvSpPr>
          <p:cNvPr id="32" name="Shape 28"/>
          <p:cNvSpPr/>
          <p:nvPr/>
        </p:nvSpPr>
        <p:spPr>
          <a:xfrm>
            <a:off x="676656" y="6400800"/>
            <a:ext cx="10844784" cy="0"/>
          </a:xfrm>
          <a:prstGeom prst="line">
            <a:avLst/>
          </a:prstGeom>
          <a:noFill/>
          <a:ln w="10160">
            <a:solidFill>
              <a:srgbClr val="263750"/>
            </a:solidFill>
            <a:prstDash val="solid"/>
          </a:ln>
        </p:spPr>
      </p:sp>
      <p:sp>
        <p:nvSpPr>
          <p:cNvPr id="33" name="Text 29">
            <a:hlinkClick r:id="rId13"/>
          </p:cNvPr>
          <p:cNvSpPr/>
          <p:nvPr/>
        </p:nvSpPr>
        <p:spPr>
          <a:xfrm>
            <a:off x="694944" y="6519672"/>
            <a:ext cx="10881360" cy="164592"/>
          </a:xfrm>
          <a:prstGeom prst="rect">
            <a:avLst/>
          </a:prstGeom>
          <a:noFill/>
          <a:ln/>
        </p:spPr>
        <p:txBody>
          <a:bodyPr wrap="square" lIns="0" tIns="0" rIns="0" bIns="0" rtlCol="0" anchor="ctr">
            <a:spAutoFit/>
          </a:bodyPr>
          <a:lstStyle/>
          <a:p>
            <a:pPr marL="0" indent="0">
              <a:buNone/>
            </a:pPr>
            <a:r>
              <a:rPr lang="en-US" sz="860" u="sng" dirty="0">
                <a:solidFill>
                  <a:srgbClr val="91A2BB"/>
                </a:solidFill>
                <a:latin typeface="Inter" pitchFamily="34" charset="0"/>
                <a:ea typeface="Inter" pitchFamily="34" charset="-122"/>
                <a:cs typeface="Inter" pitchFamily="34" charset="-120"/>
                <a:hlinkClick r:id="rId13">
                  <a:extLst>
                    <a:ext uri="{A12FA001-AC4F-418D-AE19-62706E023703}">
                      <ahyp:hlinkClr xmlns:ahyp="http://schemas.microsoft.com/office/drawing/2018/hyperlinkcolor" val="tx"/>
                    </a:ext>
                  </a:extLst>
                </a:hlinkClick>
              </a:rPr>
              <a:t>AI-assisted engineering and media are disclosed. Film includes labelled synthetic / re-voiced speech.</a:t>
            </a:r>
            <a:endParaRPr lang="en-US" sz="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2262</Words>
  <Application>Microsoft Office PowerPoint</Application>
  <PresentationFormat>Widescreen</PresentationFormat>
  <Paragraphs>188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DejaVu Sans Mono</vt:lpstr>
      <vt:lpstr>Inter</vt:lpstr>
      <vt:lpstr>Inter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SRM Institute of Science and Technology, Kattankulathur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 — Go on. | ReflexAi</dc:title>
  <dc:subject>Samsung PRISM Theme 05 — THREAD 1.0.0</dc:subject>
  <dc:creator>ReflexAi</dc:creator>
  <cp:lastModifiedBy>Ansh Jain</cp:lastModifiedBy>
  <cp:revision>3</cp:revision>
  <dcterms:created xsi:type="dcterms:W3CDTF">2026-09-30T13:07:50Z</dcterms:created>
  <dcterms:modified xsi:type="dcterms:W3CDTF">2026-10-04T05:30:28Z</dcterms:modified>
</cp:coreProperties>
</file>